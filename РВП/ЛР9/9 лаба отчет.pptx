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61" r:id="rId9"/>
    <p:sldId id="266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F45A4-B4BB-46B0-FABA-582E93A9B8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C54835-1E34-518F-32EF-0FA9D9938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410ED3-3517-3537-FA63-9E691C7E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FF3A0-B851-1ED7-386E-B8691DD9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E1C10A-4A7A-1D0B-310C-94053103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564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A2F4F-69C6-AB40-3D54-E0CC5FE9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0613A7-6114-B3FA-27F3-A8B90DDEA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5E9C7D-BC06-D06A-DEE3-41C87B9A5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153C2-A9DE-2A9B-5E0D-DBD5C1489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6F61CF-5781-F920-7EB3-61B6BC20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875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68B68-B302-AD56-1832-36D7DD027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651F72-6203-ECC6-CC06-C5522302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9CAED3-B8D4-2444-87D4-BA3C93B05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FA18D9-B189-2530-F923-9A4A528AB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1ABBA8-7C52-104D-8B6C-437F4BAD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154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EC4DB2-7AE8-F06D-114C-DDB6674B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3F1A6D-48B3-2096-06C7-BC3FD337D1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2B73EE-8FB8-7E5A-E790-B84AD59DA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B2F304D-D53B-D4EE-F7CC-389396B9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DCDA419-AF74-FDCE-FB3B-E83B9FBC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7CDC84-D6EB-F402-D411-38F2E558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26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E154D-1424-5BD4-90F3-E96EBB07B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7EDC29-BB8C-79ED-E86A-0744F2BA9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7669C6-651D-BAD2-E564-4BD0CA4EE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86BF168-FD35-182A-81D4-BD4124926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B9CC39E-524B-5266-DEBB-111B27186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2A64734-FF55-5096-09DF-7C69C763A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53D5D6-77DF-6506-6A38-5D69CE0A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BCDE411-4FA5-AB2B-BE2F-407BFB03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6103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183FD1-D510-7A83-F3D3-4D187E83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85602C4-B17A-C353-BF8E-58B2FE523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44B7036-E34F-DBF4-3102-95FC2C389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874BC5-1F16-AE4F-3A32-543A185CD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716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9F9C2B0-40DB-ED47-DAEE-26F2145FA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7D8111-AD56-6428-7348-129FC04E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3053E2-6C3A-B337-EE76-5C8EF3C2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666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331806-66BB-6173-B5FB-C941EE77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0E0B4D-B01C-85BB-F421-24A634D23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A7F596-9C39-FE6A-9B3F-27816C7C0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FF3B7C-522B-5274-2916-557FC9AB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C87EBA-144D-4A90-5616-10A837A9C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EBF730-0FC9-F3BC-D3B6-DE21B313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79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FBC527-DAE5-0AC9-0536-B685AF7F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03D0E34-A3CB-C770-1346-F510B1331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4C901A-DEA1-555D-6CEE-DDECB335F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13A18C3-044B-4592-3706-113796D8A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4F0D02-20EB-A469-072D-F6FCDD94B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894385-EB9F-310F-2091-857E32CC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66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7609F7-BF4B-775C-65A0-542BCD3C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BE0882-684C-5733-D759-477EF40F9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894FA08-5B40-8EAE-1A3B-4DD17194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287406-B36E-7165-9D4D-B7C66328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D0D8DB-E130-D353-5F97-072729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85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8AC8D59-AB1C-9EDE-3F3B-2587E92AD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DB09BD-5AB1-D66C-3507-D80A44331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3E889-7123-B800-D2E1-60B2428A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84A596-607B-602A-A029-4F86992E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5EA37D-C538-E0FA-9238-44DFFAB3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08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BC3B9-DC5B-3343-0D0F-8BDFEC942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0BDA258-3E1E-3620-F147-0CD6CC104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A65DF0-9458-BA9C-48B3-0119FAA09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E4AC7E-5279-E5EB-D6F4-089698551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7752FF-E838-025D-6CD4-E87D44AD6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39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B358B5E-2BFB-DBDE-D00F-7117B346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500514"/>
            <a:ext cx="10782300" cy="308970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ФГБОУ ВО «Кубанский государственный технологический университет»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(ФГБОУ ВО «</a:t>
            </a:r>
            <a:r>
              <a:rPr kumimoji="0" lang="ru-RU" sz="2800" b="1" i="0" u="none" strike="noStrike" kern="1200" cap="none" spc="-1" normalizeH="0" baseline="0" noProof="0" dirty="0" err="1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КубГТУ</a:t>
            </a: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»)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Факультет: Информационных технологий и кибербезопасности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Кафедра: Информационных систем и программирования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lang="ru-RU" sz="2800" b="1" spc="-1" dirty="0">
                <a:ea typeface="DejaVu Sans"/>
              </a:rPr>
              <a:t>РАЗРАБОТКА ВЕБ-ПРИЛОЖЕНИЙ</a:t>
            </a:r>
            <a:br>
              <a:rPr kumimoji="0" lang="en-US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ЛАБОРАТОРНАЯ РАБОТА №</a:t>
            </a:r>
            <a:r>
              <a:rPr lang="ru-RU" sz="2800" b="1" spc="-1" dirty="0">
                <a:ea typeface="DejaVu Sans"/>
              </a:rPr>
              <a:t>9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Фреймы</a:t>
            </a:r>
            <a:r>
              <a:rPr lang="en-US" sz="2800" b="1" spc="-1" dirty="0">
                <a:ea typeface="DejaVu Sans"/>
              </a:rPr>
              <a:t>.</a:t>
            </a:r>
            <a:endParaRPr lang="ru-RU" sz="115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D05EC2-26A9-7905-4B24-EED6B5648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2939" y="4659264"/>
            <a:ext cx="9228201" cy="16459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Выполнил студент 23-КБ-ПР3</a:t>
            </a:r>
          </a:p>
          <a:p>
            <a:pPr algn="r"/>
            <a:r>
              <a:rPr lang="ru-RU" dirty="0"/>
              <a:t>Давков Ярослав</a:t>
            </a:r>
          </a:p>
          <a:p>
            <a:pPr algn="r"/>
            <a:r>
              <a:rPr lang="ru-RU" dirty="0"/>
              <a:t>Проверил </a:t>
            </a:r>
            <a:r>
              <a:rPr lang="ru-RU" spc="-1" dirty="0" err="1">
                <a:ea typeface="DejaVu Sans"/>
              </a:rPr>
              <a:t>ст</a:t>
            </a:r>
            <a:r>
              <a:rPr lang="en-US" spc="-1" dirty="0">
                <a:ea typeface="DejaVu Sans"/>
              </a:rPr>
              <a:t>.</a:t>
            </a:r>
            <a:r>
              <a:rPr lang="ru-RU" spc="-1" dirty="0">
                <a:ea typeface="DejaVu Sans"/>
              </a:rPr>
              <a:t> преподаватель </a:t>
            </a:r>
          </a:p>
          <a:p>
            <a:pPr algn="r"/>
            <a:r>
              <a:rPr lang="ru-RU" spc="-1" dirty="0">
                <a:ea typeface="DejaVu Sans"/>
              </a:rPr>
              <a:t>Кушнир Надежда Владимировна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25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57" y="-233144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C9885-6667-6B03-04C5-B8F6DD4E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57" y="1118586"/>
            <a:ext cx="11756910" cy="541538"/>
          </a:xfrm>
        </p:spPr>
        <p:txBody>
          <a:bodyPr>
            <a:normAutofit/>
          </a:bodyPr>
          <a:lstStyle/>
          <a:p>
            <a:r>
              <a:rPr lang="ru-RU" sz="2000" dirty="0"/>
              <a:t>Цель работы</a:t>
            </a:r>
            <a:r>
              <a:rPr lang="en-US" sz="2000" dirty="0"/>
              <a:t>:</a:t>
            </a:r>
            <a:r>
              <a:rPr lang="ru-RU" sz="2000" dirty="0"/>
              <a:t> Познакомится с основными приемами работы с фреймами в HTML- документах. </a:t>
            </a: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288566" y="1695634"/>
            <a:ext cx="11756910" cy="5007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1. Практическая работа с фреймами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1.	На базе приведенных примеров задайте структуру гипертекста с кадрами, закрасив фон различными цветами. Разделите вертикальный кадр на горизонтальные полосы.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2.	В один из кадров вставьте графическое изображение или текстовый файл.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3.	Разработайте оглавление к курсовой работе по информатике.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4.	Изучите примеры и создайте WEB-страницу следующего вида: в трех фреймах должно быть по одной бегущей строке (на картинке - бегущая строка 1, бегущая строка 2, бегущая строка 3); должны быть использованы 3 варианта движения, т.е. каждая из строк должна иметь свой вариант)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5.	Изучите примеры и создайте WEB-страницу следующего вида: в трех фреймах должно быть по одной бегущей строке (на картинке - бегущая строка 1, бегущая строка 2, бегущая строка 3); должны быть использованы 3 варианта движения, т.е. каждая из строк должна иметь свой вариант)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6.	Изучите примеры и создайте WEB-страницу следующего вида: в трех фреймах должно быть по одной бегущей строке (на картинке - бегущая строка 1, бегущая строка 2, бегущая строка 3); должны быть использованы 3 варианта движения, т.е. каждая из строк должна иметь свой вариант)</a:t>
            </a:r>
          </a:p>
        </p:txBody>
      </p:sp>
    </p:spTree>
    <p:extLst>
      <p:ext uri="{BB962C8B-B14F-4D97-AF65-F5344CB8AC3E}">
        <p14:creationId xmlns:p14="http://schemas.microsoft.com/office/powerpoint/2010/main" val="41712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>
            <a:normAutofit/>
          </a:bodyPr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 (</a:t>
            </a:r>
            <a:r>
              <a:rPr lang="en-US" dirty="0"/>
              <a:t>base-index</a:t>
            </a:r>
            <a:r>
              <a:rPr lang="ru-RU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8E4F9-3C94-4A31-9377-0B4E46FF8456}"/>
              </a:ext>
            </a:extLst>
          </p:cNvPr>
          <p:cNvSpPr txBox="1"/>
          <p:nvPr/>
        </p:nvSpPr>
        <p:spPr>
          <a:xfrm>
            <a:off x="8060924" y="1333452"/>
            <a:ext cx="40081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</a:pPr>
            <a:r>
              <a:rPr lang="en-US" sz="14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&lt;title&gt;</a:t>
            </a:r>
            <a:r>
              <a:rPr lang="ru-RU" sz="1400" dirty="0"/>
              <a:t>Лабораторная 9 — База&lt;/</a:t>
            </a:r>
            <a:r>
              <a:rPr lang="en-US" sz="140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&lt;frameset cols="220,*" frameborder="1" border="2"&gt;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 </a:t>
            </a:r>
            <a:r>
              <a:rPr lang="en-US" sz="1400" dirty="0" err="1"/>
              <a:t>src</a:t>
            </a:r>
            <a:r>
              <a:rPr lang="en-US" sz="1400" dirty="0"/>
              <a:t>="base-left.html" name="left" scrolling="auto"&gt;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&lt;frameset rows="33%,34%,33%"&gt;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="base-top.txt" name="</a:t>
            </a:r>
            <a:r>
              <a:rPr lang="en-US" sz="1400" dirty="0" err="1"/>
              <a:t>toptext</a:t>
            </a:r>
            <a:r>
              <a:rPr lang="en-US" sz="140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="base-mid.html" name="mid"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="base-img.html" name="</a:t>
            </a:r>
            <a:r>
              <a:rPr lang="en-US" sz="1400" dirty="0" err="1"/>
              <a:t>img</a:t>
            </a:r>
            <a:r>
              <a:rPr lang="en-US" sz="1400" dirty="0"/>
              <a:t>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</a:t>
            </a:r>
            <a:r>
              <a:rPr lang="ru-RU" sz="1400" dirty="0"/>
              <a:t>Ваш браузер не поддерживает </a:t>
            </a:r>
            <a:r>
              <a:rPr lang="en-US" sz="1400" dirty="0"/>
              <a:t>frameset.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&lt;/html&gt;</a:t>
            </a:r>
          </a:p>
        </p:txBody>
      </p:sp>
      <p:pic>
        <p:nvPicPr>
          <p:cNvPr id="4" name="Рисунок 3" descr="Изображение выглядит как текст, снимок экрана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B02553D-551A-C3A0-BBC0-9A66AE5B9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4" y="1855434"/>
            <a:ext cx="7521186" cy="314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9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700">
                <a:solidFill>
                  <a:srgbClr val="FFFFFF"/>
                </a:solidFill>
              </a:rPr>
              <a:t>Ход работы. Задание 1 (example1-index)</a:t>
            </a:r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544893A-EE11-C016-48F6-76F56EB87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668294"/>
            <a:ext cx="6278529" cy="3531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EDDFFE-8450-45A7-B31F-83FAC56229F5}"/>
              </a:ext>
            </a:extLst>
          </p:cNvPr>
          <p:cNvSpPr txBox="1"/>
          <p:nvPr/>
        </p:nvSpPr>
        <p:spPr>
          <a:xfrm>
            <a:off x="8173212" y="2419773"/>
            <a:ext cx="3401568" cy="3358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&lt;!DOCTYPE html&gt;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&lt;html&gt;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&lt;head&gt;&lt;meta charset="utf-8"&gt;&lt;title&gt;Пример 1 — три бегущих строки&lt;/title&gt;&lt;/head&gt;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&lt;frameset rows="120,*" frameborder="1" border="3"&gt;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&lt;frame src="ex-head.html" name="head" scrolling="no"&gt;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&lt;frameset cols="180,140,*"&gt;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&lt;frame src="ex-left.html" name="menu"&gt;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&lt;frame src="marquee1.html" name="m1" scrolling="no"&gt;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&lt;frameset rows="50%,50%"&gt;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  &lt;frame src="marquee2.html" name="m2" scrolling="no"&gt;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  &lt;frame src="marquee3.html" name="m3" scrolling="no"&gt;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  &lt;/frameset&gt;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  &lt;/frameset&gt;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&lt;/frameset&gt;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&lt;noframes&gt;Нужна поддержка frameset.&lt;/noframes&gt;</a:t>
            </a:r>
          </a:p>
          <a:p>
            <a:pPr marL="0" defTabSz="914400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</a:pPr>
            <a:r>
              <a:rPr lang="en-US" sz="900">
                <a:solidFill>
                  <a:schemeClr val="tx1">
                    <a:lumMod val="85000"/>
                    <a:lumOff val="1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46037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10865567" cy="1113763"/>
          </a:xfrm>
        </p:spPr>
        <p:txBody>
          <a:bodyPr>
            <a:normAutofit/>
          </a:bodyPr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 (</a:t>
            </a:r>
            <a:r>
              <a:rPr lang="en-US" dirty="0"/>
              <a:t>example</a:t>
            </a:r>
            <a:r>
              <a:rPr lang="ru-RU" dirty="0"/>
              <a:t>2</a:t>
            </a:r>
            <a:r>
              <a:rPr lang="en-US" dirty="0"/>
              <a:t>-index</a:t>
            </a:r>
            <a:r>
              <a:rPr lang="ru-RU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DDFFE-8450-45A7-B31F-83FAC56229F5}"/>
              </a:ext>
            </a:extLst>
          </p:cNvPr>
          <p:cNvSpPr txBox="1"/>
          <p:nvPr/>
        </p:nvSpPr>
        <p:spPr>
          <a:xfrm>
            <a:off x="8345009" y="1634870"/>
            <a:ext cx="375747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</a:pPr>
            <a:r>
              <a:rPr lang="en-US" sz="14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&lt;head&gt;&lt;meta charset="utf-8"&gt;&lt;title&gt;</a:t>
            </a:r>
            <a:r>
              <a:rPr lang="ru-RU" sz="1400" dirty="0"/>
              <a:t>Пример 2 — три бегущих строки&lt;/</a:t>
            </a:r>
            <a:r>
              <a:rPr lang="en-US" sz="1400" dirty="0"/>
              <a:t>title&gt;&lt;/head&gt;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&lt;frameset cols="260,*" frameborder="1" border="3"&gt;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&lt;frameset rows="120,*"&gt;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="ex-head-left.html"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="ex-left.html"&gt;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&lt;frameset rows="33%,34%,33%"&gt;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="marquee1.html"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="marquee2.html"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="marquee3.html"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  <a:r>
              <a:rPr lang="ru-RU" sz="1400" dirty="0"/>
              <a:t>Нужна поддержка </a:t>
            </a:r>
            <a:r>
              <a:rPr lang="en-US" sz="1400" dirty="0"/>
              <a:t>frameset.&lt;/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&lt;/html&gt;</a:t>
            </a:r>
            <a:endParaRPr lang="ru-RU" sz="1400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6D83E4-C5EB-8E72-3F69-82C236BE7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4" y="1207363"/>
            <a:ext cx="7734000" cy="434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56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10865567" cy="1113763"/>
          </a:xfrm>
        </p:spPr>
        <p:txBody>
          <a:bodyPr>
            <a:normAutofit/>
          </a:bodyPr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 (</a:t>
            </a:r>
            <a:r>
              <a:rPr lang="en-US" dirty="0"/>
              <a:t>example</a:t>
            </a:r>
            <a:r>
              <a:rPr lang="ru-RU" dirty="0"/>
              <a:t>3</a:t>
            </a:r>
            <a:r>
              <a:rPr lang="en-US" dirty="0"/>
              <a:t>-index</a:t>
            </a:r>
            <a:r>
              <a:rPr lang="ru-RU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DDFFE-8450-45A7-B31F-83FAC56229F5}"/>
              </a:ext>
            </a:extLst>
          </p:cNvPr>
          <p:cNvSpPr txBox="1"/>
          <p:nvPr/>
        </p:nvSpPr>
        <p:spPr>
          <a:xfrm>
            <a:off x="8256975" y="1288640"/>
            <a:ext cx="375747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</a:pPr>
            <a:r>
              <a:rPr lang="en-US" sz="14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&lt;html&gt;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&lt;head&gt;&lt;meta charset="utf-8"&gt;&lt;title&gt;</a:t>
            </a:r>
            <a:r>
              <a:rPr lang="ru-RU" sz="1400" dirty="0"/>
              <a:t>Пример 3 — три бегущих строки&lt;/</a:t>
            </a:r>
            <a:r>
              <a:rPr lang="en-US" sz="1400" dirty="0"/>
              <a:t>title&gt;&lt;/head&gt;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&lt;frameset rows="120,*" frameborder="1" border="3"&gt;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 </a:t>
            </a:r>
            <a:r>
              <a:rPr lang="en-US" sz="1400" dirty="0" err="1"/>
              <a:t>src</a:t>
            </a:r>
            <a:r>
              <a:rPr lang="en-US" sz="1400" dirty="0"/>
              <a:t>="ex-head.html"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&lt;frameset cols="180,*"&gt;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 </a:t>
            </a:r>
            <a:r>
              <a:rPr lang="en-US" sz="1400" dirty="0" err="1"/>
              <a:t>src</a:t>
            </a:r>
            <a:r>
              <a:rPr lang="en-US" sz="1400" dirty="0"/>
              <a:t>="ex-left.html"&gt;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&lt;frameset rows="60%,40%"&gt;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  &lt;frame </a:t>
            </a:r>
            <a:r>
              <a:rPr lang="en-US" sz="1400" dirty="0" err="1"/>
              <a:t>src</a:t>
            </a:r>
            <a:r>
              <a:rPr lang="en-US" sz="1400" dirty="0"/>
              <a:t>="marquee1.html"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  &lt;frameset cols="50%,50%"&gt;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    &lt;frame </a:t>
            </a:r>
            <a:r>
              <a:rPr lang="en-US" sz="1400" dirty="0" err="1"/>
              <a:t>src</a:t>
            </a:r>
            <a:r>
              <a:rPr lang="en-US" sz="1400" dirty="0"/>
              <a:t>="marquee2.html"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    &lt;frame </a:t>
            </a:r>
            <a:r>
              <a:rPr lang="en-US" sz="1400" dirty="0" err="1"/>
              <a:t>src</a:t>
            </a:r>
            <a:r>
              <a:rPr lang="en-US" sz="1400" dirty="0"/>
              <a:t>="marquee3.html" scrolling="no"&gt;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  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&lt;/frameset&gt;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  <a:r>
              <a:rPr lang="ru-RU" sz="1400" dirty="0"/>
              <a:t>Нужна поддержка </a:t>
            </a:r>
            <a:r>
              <a:rPr lang="en-US" sz="1400" dirty="0"/>
              <a:t>frameset.&lt;/</a:t>
            </a:r>
            <a:r>
              <a:rPr lang="en-US" sz="1400" dirty="0" err="1"/>
              <a:t>noframes</a:t>
            </a:r>
            <a:r>
              <a:rPr lang="en-US" sz="14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1400" dirty="0"/>
              <a:t>&lt;/html&gt;</a:t>
            </a:r>
            <a:endParaRPr lang="ru-RU" sz="1400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E60D9D-9B32-8F22-9BA1-7235EC22B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5" y="1207363"/>
            <a:ext cx="7711196" cy="433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3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10865567" cy="1113763"/>
          </a:xfrm>
        </p:spPr>
        <p:txBody>
          <a:bodyPr>
            <a:normAutofit/>
          </a:bodyPr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 (</a:t>
            </a:r>
            <a:r>
              <a:rPr lang="en-US" dirty="0"/>
              <a:t>toc</a:t>
            </a:r>
            <a:r>
              <a:rPr lang="ru-RU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DDFFE-8450-45A7-B31F-83FAC56229F5}"/>
              </a:ext>
            </a:extLst>
          </p:cNvPr>
          <p:cNvSpPr txBox="1"/>
          <p:nvPr/>
        </p:nvSpPr>
        <p:spPr>
          <a:xfrm>
            <a:off x="6424474" y="877568"/>
            <a:ext cx="4850167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</a:pPr>
            <a:r>
              <a:rPr lang="en-US" sz="900" dirty="0"/>
              <a:t>&lt;!DOCTYPE html&gt;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&lt;html lang="</a:t>
            </a:r>
            <a:r>
              <a:rPr lang="en-US" sz="900" dirty="0" err="1"/>
              <a:t>ru</a:t>
            </a:r>
            <a:r>
              <a:rPr lang="en-US" sz="900" dirty="0"/>
              <a:t>"&gt;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&lt;head&gt;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&lt;meta charset="utf-8"&gt;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&lt;title&gt;</a:t>
            </a:r>
            <a:r>
              <a:rPr lang="ru-RU" sz="900" dirty="0"/>
              <a:t>Оглавление курсовой по информатике&lt;/</a:t>
            </a:r>
            <a:r>
              <a:rPr lang="en-US" sz="900" dirty="0"/>
              <a:t>title&gt;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&lt;style&gt;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body{font:16px/1.5 "Segoe UI",Arial;margin:24px;background:#fffbe9}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h1{letter-spacing:1px;margin-bottom:8px}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</a:t>
            </a:r>
            <a:r>
              <a:rPr lang="en-US" sz="900" dirty="0" err="1"/>
              <a:t>ol</a:t>
            </a:r>
            <a:r>
              <a:rPr lang="en-US" sz="900" dirty="0"/>
              <a:t>{margin-left:18px}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.dot{color:#999}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&lt;/style&gt;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&lt;/head&gt;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&lt;body&gt;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&lt;h1&gt;</a:t>
            </a:r>
            <a:r>
              <a:rPr lang="ru-RU" sz="900" dirty="0"/>
              <a:t>Оглавление&lt;/</a:t>
            </a:r>
            <a:r>
              <a:rPr lang="en-US" sz="900" dirty="0"/>
              <a:t>h1&gt;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Введение&lt;/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Обзор предметной области&lt;/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Постановка задачи&lt;/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Теоретические основы решения</a:t>
            </a:r>
          </a:p>
          <a:p>
            <a:pPr marL="0">
              <a:spcBef>
                <a:spcPts val="0"/>
              </a:spcBef>
            </a:pPr>
            <a:r>
              <a:rPr lang="ru-RU" sz="900" dirty="0"/>
              <a:t>    &lt;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Модель данных / архитектура&lt;/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Алгоритмы и структуры данных&lt;/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Средства и технологии&lt;/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&lt;/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&lt;/li&gt;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Проектирование и реализация</a:t>
            </a:r>
          </a:p>
          <a:p>
            <a:pPr marL="0">
              <a:spcBef>
                <a:spcPts val="0"/>
              </a:spcBef>
            </a:pPr>
            <a:r>
              <a:rPr lang="ru-RU" sz="900" dirty="0"/>
              <a:t>    &lt;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Требования&lt;/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Схема БД и интерфейсы&lt;/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Алгоритмы модулей&lt;/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Средства разработки&lt;/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  &lt;li&gt;</a:t>
            </a:r>
            <a:r>
              <a:rPr lang="ru-RU" sz="900" dirty="0"/>
              <a:t>Тестирование&lt;/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  &lt;/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&lt;/li&gt;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Экспериментальная часть и результаты&lt;/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Экономическая часть &lt;</a:t>
            </a:r>
            <a:r>
              <a:rPr lang="en-US" sz="900" dirty="0"/>
              <a:t>span class="dot"&gt;(</a:t>
            </a:r>
            <a:r>
              <a:rPr lang="ru-RU" sz="900" dirty="0"/>
              <a:t>при необходимости)&lt;/</a:t>
            </a:r>
            <a:r>
              <a:rPr lang="en-US" sz="900" dirty="0"/>
              <a:t>span&gt;&lt;/li&gt;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Охрана труда и безопасность &lt;</a:t>
            </a:r>
            <a:r>
              <a:rPr lang="en-US" sz="900" dirty="0"/>
              <a:t>span class="dot"&gt;(</a:t>
            </a:r>
            <a:r>
              <a:rPr lang="ru-RU" sz="900" dirty="0"/>
              <a:t>при необходимости)&lt;/</a:t>
            </a:r>
            <a:r>
              <a:rPr lang="en-US" sz="900" dirty="0"/>
              <a:t>span&gt;&lt;/li&gt;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Заключение&lt;/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Список использованных источников&lt;/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  &lt;li&gt;</a:t>
            </a:r>
            <a:r>
              <a:rPr lang="ru-RU" sz="900" dirty="0"/>
              <a:t>Приложения&lt;/</a:t>
            </a:r>
            <a:r>
              <a:rPr lang="en-US" sz="900" dirty="0"/>
              <a:t>li&gt;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&lt;/</a:t>
            </a:r>
            <a:r>
              <a:rPr lang="en-US" sz="900" dirty="0" err="1"/>
              <a:t>ol</a:t>
            </a:r>
            <a:r>
              <a:rPr lang="en-US" sz="900" dirty="0"/>
              <a:t>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&lt;/body&gt;</a:t>
            </a:r>
          </a:p>
          <a:p>
            <a:pPr marL="0">
              <a:spcBef>
                <a:spcPts val="0"/>
              </a:spcBef>
            </a:pPr>
            <a:r>
              <a:rPr lang="en-US" sz="900" dirty="0"/>
              <a:t>&lt;/html&gt;</a:t>
            </a:r>
            <a:endParaRPr lang="ru-RU" sz="900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329AD70-E836-6FFB-A99E-102870DFF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4" y="1715195"/>
            <a:ext cx="6096000" cy="342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16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23" y="1203158"/>
            <a:ext cx="11754754" cy="5654842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Создание фреймов в HTML-документах: для создания фрейма используется тег &lt;</a:t>
            </a:r>
            <a:r>
              <a:rPr lang="ru-RU" dirty="0" err="1">
                <a:cs typeface="Times New Roman" panose="02020603050405020304" pitchFamily="18" charset="0"/>
              </a:rPr>
              <a:t>frameset</a:t>
            </a:r>
            <a:r>
              <a:rPr lang="ru-RU" dirty="0">
                <a:cs typeface="Times New Roman" panose="02020603050405020304" pitchFamily="18" charset="0"/>
              </a:rPr>
              <a:t>&gt;, который заменяет тег &lt;</a:t>
            </a:r>
            <a:r>
              <a:rPr lang="ru-RU" dirty="0" err="1">
                <a:cs typeface="Times New Roman" panose="02020603050405020304" pitchFamily="18" charset="0"/>
              </a:rPr>
              <a:t>body</a:t>
            </a:r>
            <a:r>
              <a:rPr lang="ru-RU" dirty="0">
                <a:cs typeface="Times New Roman" panose="02020603050405020304" pitchFamily="18" charset="0"/>
              </a:rPr>
              <a:t>&gt; в документе и применяется для разделения экрана на области. Внутри данного тега находятся теги &lt;</a:t>
            </a:r>
            <a:r>
              <a:rPr lang="ru-RU" dirty="0" err="1">
                <a:cs typeface="Times New Roman" panose="02020603050405020304" pitchFamily="18" charset="0"/>
              </a:rPr>
              <a:t>frame</a:t>
            </a:r>
            <a:r>
              <a:rPr lang="ru-RU" dirty="0">
                <a:cs typeface="Times New Roman" panose="02020603050405020304" pitchFamily="18" charset="0"/>
              </a:rPr>
              <a:t>&gt;, которые указывают на HTML-документ, предназначенный для загрузки в область. При использовании фреймов необходимо как минимум три HTML-файла: первый определяет фреймовую структуру и делит окно браузера на две части, а оставшиеся два документа загружаются в заданные окна. Количество фреймов не обязательно равно двум, может быть и больше, но никак не меньше двух, иначе вообще теряется смысл применения фреймов.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Синтаксис фреймов. Перечислите и охарактеризуйте атрибуты тега &lt;FRAMESET&gt;: определяет структуру фреймов на веб-странице. Фреймы разделяют окно браузера на отдельные области, расположенные вплотную друг к другу. В каждую из таких областей загружается самостоятельная веб-страница определяемая с помощью тега &lt;</a:t>
            </a:r>
            <a:r>
              <a:rPr lang="ru-RU" dirty="0" err="1">
                <a:cs typeface="Times New Roman" panose="02020603050405020304" pitchFamily="18" charset="0"/>
              </a:rPr>
              <a:t>frame</a:t>
            </a:r>
            <a:r>
              <a:rPr lang="ru-RU" dirty="0">
                <a:cs typeface="Times New Roman" panose="02020603050405020304" pitchFamily="18" charset="0"/>
              </a:rPr>
              <a:t>&gt;. С помощью фреймов веб-страница делится на два или более документа, которые обычно содержат навигацию по сайту и его контент. Механизм фреймов позволяет открывать документ в одном фрейме, по ссылке, нажатой в совершенно другом фрейме. Тег &lt;</a:t>
            </a:r>
            <a:r>
              <a:rPr lang="ru-RU" dirty="0" err="1">
                <a:cs typeface="Times New Roman" panose="02020603050405020304" pitchFamily="18" charset="0"/>
              </a:rPr>
              <a:t>frameset</a:t>
            </a:r>
            <a:r>
              <a:rPr lang="ru-RU" dirty="0">
                <a:cs typeface="Times New Roman" panose="02020603050405020304" pitchFamily="18" charset="0"/>
              </a:rPr>
              <a:t>&gt; заменяет собой элемент &lt;</a:t>
            </a:r>
            <a:r>
              <a:rPr lang="ru-RU" dirty="0" err="1">
                <a:cs typeface="Times New Roman" panose="02020603050405020304" pitchFamily="18" charset="0"/>
              </a:rPr>
              <a:t>body</a:t>
            </a:r>
            <a:r>
              <a:rPr lang="ru-RU" dirty="0">
                <a:cs typeface="Times New Roman" panose="02020603050405020304" pitchFamily="18" charset="0"/>
              </a:rPr>
              <a:t>&gt; на веб-странице. Допустимо использовать вложенную структуру элементов, это позволяет разбить один фрейм на две и более области.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Тег &lt;FRAME&gt;. Его основные атрибуты. Дайте их характеристику: тег &lt;</a:t>
            </a:r>
            <a:r>
              <a:rPr lang="ru-RU" dirty="0" err="1">
                <a:cs typeface="Times New Roman" panose="02020603050405020304" pitchFamily="18" charset="0"/>
              </a:rPr>
              <a:t>frame</a:t>
            </a:r>
            <a:r>
              <a:rPr lang="ru-RU" dirty="0">
                <a:cs typeface="Times New Roman" panose="02020603050405020304" pitchFamily="18" charset="0"/>
              </a:rPr>
              <a:t>&gt; определяет свойства отдельного фрейма, на которые делится окно браузера. Этот элемент должен располагаться в контейнере &lt;</a:t>
            </a:r>
            <a:r>
              <a:rPr lang="ru-RU" dirty="0" err="1">
                <a:cs typeface="Times New Roman" panose="02020603050405020304" pitchFamily="18" charset="0"/>
              </a:rPr>
              <a:t>frameset</a:t>
            </a:r>
            <a:r>
              <a:rPr lang="ru-RU" dirty="0">
                <a:cs typeface="Times New Roman" panose="02020603050405020304" pitchFamily="18" charset="0"/>
              </a:rPr>
              <a:t>&gt;, который к тому же задает способ разметки страницы на отдельные области. В каждую из таких областей загружается самостоятельная веб-страница определяемая с помощью атрибута </a:t>
            </a:r>
            <a:r>
              <a:rPr lang="ru-RU" dirty="0" err="1">
                <a:cs typeface="Times New Roman" panose="02020603050405020304" pitchFamily="18" charset="0"/>
              </a:rPr>
              <a:t>src</a:t>
            </a:r>
            <a:r>
              <a:rPr lang="ru-RU" dirty="0">
                <a:cs typeface="Times New Roman" panose="02020603050405020304" pitchFamily="18" charset="0"/>
              </a:rPr>
              <a:t>. Хотя обязательных атрибутов у тега &lt;</a:t>
            </a:r>
            <a:r>
              <a:rPr lang="ru-RU" dirty="0" err="1">
                <a:cs typeface="Times New Roman" panose="02020603050405020304" pitchFamily="18" charset="0"/>
              </a:rPr>
              <a:t>frame</a:t>
            </a:r>
            <a:r>
              <a:rPr lang="ru-RU" dirty="0">
                <a:cs typeface="Times New Roman" panose="02020603050405020304" pitchFamily="18" charset="0"/>
              </a:rPr>
              <a:t>&gt; и нет, рекомендуется задавать каждому фрейму его имя через атрибут </a:t>
            </a:r>
            <a:r>
              <a:rPr lang="ru-RU" dirty="0" err="1">
                <a:cs typeface="Times New Roman" panose="02020603050405020304" pitchFamily="18" charset="0"/>
              </a:rPr>
              <a:t>name</a:t>
            </a:r>
            <a:r>
              <a:rPr lang="ru-RU" dirty="0">
                <a:cs typeface="Times New Roman" panose="02020603050405020304" pitchFamily="18" charset="0"/>
              </a:rPr>
              <a:t>. Это особенно важно, если требуется по ссылке из одного фрейма загружать документ в другой.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Планирование фреймов и взаимодействия между фреймами: каждый </a:t>
            </a:r>
            <a:r>
              <a:rPr lang="ru-RU" dirty="0" err="1">
                <a:cs typeface="Times New Roman" panose="02020603050405020304" pitchFamily="18" charset="0"/>
              </a:rPr>
              <a:t>фрэйм</a:t>
            </a:r>
            <a:r>
              <a:rPr lang="ru-RU" dirty="0">
                <a:cs typeface="Times New Roman" panose="02020603050405020304" pitchFamily="18" charset="0"/>
              </a:rPr>
              <a:t> может иметь собственное имя, определяемое параметром NAME при описании данного </a:t>
            </a:r>
            <a:r>
              <a:rPr lang="ru-RU" dirty="0" err="1">
                <a:cs typeface="Times New Roman" panose="02020603050405020304" pitchFamily="18" charset="0"/>
              </a:rPr>
              <a:t>фрэйма</a:t>
            </a:r>
            <a:r>
              <a:rPr lang="ru-RU" dirty="0">
                <a:cs typeface="Times New Roman" panose="02020603050405020304" pitchFamily="18" charset="0"/>
              </a:rPr>
              <a:t>. Существует, также, специальный атрибут - TARGET, позволяющий определять, к какому </a:t>
            </a:r>
            <a:r>
              <a:rPr lang="ru-RU" dirty="0" err="1">
                <a:cs typeface="Times New Roman" panose="02020603050405020304" pitchFamily="18" charset="0"/>
              </a:rPr>
              <a:t>фрэйму</a:t>
            </a:r>
            <a:r>
              <a:rPr lang="ru-RU" dirty="0">
                <a:cs typeface="Times New Roman" panose="02020603050405020304" pitchFamily="18" charset="0"/>
              </a:rPr>
              <a:t> относится та или иная операция. Зарезервированные имена </a:t>
            </a:r>
            <a:r>
              <a:rPr lang="ru-RU" dirty="0" err="1">
                <a:cs typeface="Times New Roman" panose="02020603050405020304" pitchFamily="18" charset="0"/>
              </a:rPr>
              <a:t>фрэймов</a:t>
            </a:r>
            <a:r>
              <a:rPr lang="ru-RU" dirty="0">
                <a:cs typeface="Times New Roman" panose="02020603050405020304" pitchFamily="18" charset="0"/>
              </a:rPr>
              <a:t> служат для разрешения специальных ситуаций. Все они начинаются со знака подчеркивания. Любые другие имена </a:t>
            </a:r>
            <a:r>
              <a:rPr lang="ru-RU" dirty="0" err="1">
                <a:cs typeface="Times New Roman" panose="02020603050405020304" pitchFamily="18" charset="0"/>
              </a:rPr>
              <a:t>фрэймов</a:t>
            </a:r>
            <a:r>
              <a:rPr lang="ru-RU" dirty="0">
                <a:cs typeface="Times New Roman" panose="02020603050405020304" pitchFamily="18" charset="0"/>
              </a:rPr>
              <a:t>, начинающиеся с подчеркивания будут игнорироваться броузером.</a:t>
            </a:r>
          </a:p>
        </p:txBody>
      </p:sp>
    </p:spTree>
    <p:extLst>
      <p:ext uri="{BB962C8B-B14F-4D97-AF65-F5344CB8AC3E}">
        <p14:creationId xmlns:p14="http://schemas.microsoft.com/office/powerpoint/2010/main" val="786660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23" y="1203158"/>
            <a:ext cx="11754754" cy="56548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ru-RU" dirty="0">
                <a:cs typeface="Times New Roman" panose="02020603050405020304" pitchFamily="18" charset="0"/>
              </a:rPr>
              <a:t>Создание оглавлений в HTML – документах: HTML-элементы &lt;h1&gt;–&lt;h6&gt; представляют собой 6 уровней заголовков секций. &lt;h1&gt; это наибольший заголовок и &lt;h6&gt; - наименьший.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ru-RU" dirty="0">
                <a:cs typeface="Times New Roman" panose="02020603050405020304" pitchFamily="18" charset="0"/>
              </a:rPr>
              <a:t>Создание бегущей строки: тег &lt;</a:t>
            </a:r>
            <a:r>
              <a:rPr lang="ru-RU" dirty="0" err="1">
                <a:cs typeface="Times New Roman" panose="02020603050405020304" pitchFamily="18" charset="0"/>
              </a:rPr>
              <a:t>marquee</a:t>
            </a:r>
            <a:r>
              <a:rPr lang="ru-RU" dirty="0">
                <a:cs typeface="Times New Roman" panose="02020603050405020304" pitchFamily="18" charset="0"/>
              </a:rPr>
              <a:t>&gt; используется для создания бегущей строки на сайте. При помощи этого тега можно перемещать текст или изображения по горизонтали и вертикали. Тег &lt;</a:t>
            </a:r>
            <a:r>
              <a:rPr lang="ru-RU" dirty="0" err="1">
                <a:cs typeface="Times New Roman" panose="02020603050405020304" pitchFamily="18" charset="0"/>
              </a:rPr>
              <a:t>marquee</a:t>
            </a:r>
            <a:r>
              <a:rPr lang="ru-RU" dirty="0">
                <a:cs typeface="Times New Roman" panose="02020603050405020304" pitchFamily="18" charset="0"/>
              </a:rPr>
              <a:t>&gt; - парный тег, состоящий из двух частей: открывающий тег (&lt;</a:t>
            </a:r>
            <a:r>
              <a:rPr lang="ru-RU" dirty="0" err="1">
                <a:cs typeface="Times New Roman" panose="02020603050405020304" pitchFamily="18" charset="0"/>
              </a:rPr>
              <a:t>marquee</a:t>
            </a:r>
            <a:r>
              <a:rPr lang="ru-RU" dirty="0">
                <a:cs typeface="Times New Roman" panose="02020603050405020304" pitchFamily="18" charset="0"/>
              </a:rPr>
              <a:t>&gt;) и закрывающий (&lt;/</a:t>
            </a:r>
            <a:r>
              <a:rPr lang="ru-RU" dirty="0" err="1">
                <a:cs typeface="Times New Roman" panose="02020603050405020304" pitchFamily="18" charset="0"/>
              </a:rPr>
              <a:t>marquee</a:t>
            </a:r>
            <a:r>
              <a:rPr lang="ru-RU" dirty="0">
                <a:cs typeface="Times New Roman" panose="02020603050405020304" pitchFamily="18" charset="0"/>
              </a:rPr>
              <a:t>&gt; ).</a:t>
            </a:r>
          </a:p>
        </p:txBody>
      </p:sp>
    </p:spTree>
    <p:extLst>
      <p:ext uri="{BB962C8B-B14F-4D97-AF65-F5344CB8AC3E}">
        <p14:creationId xmlns:p14="http://schemas.microsoft.com/office/powerpoint/2010/main" val="31911145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1748</Words>
  <Application>Microsoft Office PowerPoint</Application>
  <PresentationFormat>Широкоэкранный</PresentationFormat>
  <Paragraphs>138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DejaVu Sans</vt:lpstr>
      <vt:lpstr>Times New Roman</vt:lpstr>
      <vt:lpstr>Тема Office</vt:lpstr>
      <vt:lpstr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№9 Фреймы.</vt:lpstr>
      <vt:lpstr>Цель работы и задания</vt:lpstr>
      <vt:lpstr>Ход работы. Задание 1 (base-index)</vt:lpstr>
      <vt:lpstr>Ход работы. Задание 1 (example1-index)</vt:lpstr>
      <vt:lpstr>Ход работы. Задание 1 (example2-index)</vt:lpstr>
      <vt:lpstr>Ход работы. Задание 1 (example3-index)</vt:lpstr>
      <vt:lpstr>Ход работы. Задание 1 (toc)</vt:lpstr>
      <vt:lpstr>Контрольные вопросы</vt:lpstr>
      <vt:lpstr>Контрольные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№2 Форматирование текста.</dc:title>
  <dc:creator>Артём Лыков</dc:creator>
  <cp:lastModifiedBy>Ярослав Давков</cp:lastModifiedBy>
  <cp:revision>59</cp:revision>
  <dcterms:created xsi:type="dcterms:W3CDTF">2025-09-05T14:29:14Z</dcterms:created>
  <dcterms:modified xsi:type="dcterms:W3CDTF">2025-12-11T17:54:38Z</dcterms:modified>
</cp:coreProperties>
</file>