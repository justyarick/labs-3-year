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sldIdLst>
    <p:sldId id="256" r:id="rId2"/>
    <p:sldId id="257" r:id="rId3"/>
    <p:sldId id="272" r:id="rId4"/>
    <p:sldId id="266" r:id="rId5"/>
    <p:sldId id="258" r:id="rId6"/>
    <p:sldId id="264" r:id="rId7"/>
    <p:sldId id="265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774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6C14F5-4FD4-C240-DE5C-E572A6EAF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56DA9D-76EB-10C7-DFF8-28212F9ED5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55C3B2-BDF5-1BFA-F3BC-E686D2254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2FABAE2-5603-94B7-382A-55C176357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A0C53E-8365-0581-2AAB-39D8EE104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43062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07435D-9A20-06EC-AFBD-D09A79DE7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4B7160-663B-09AC-8F9C-F4F6FEA82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2A6C18C-18AE-F148-DFA7-2852B34BC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0E5362-6BE5-C569-57CA-46A96FCE5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698183-9A72-0A5E-525D-F46DEB020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2057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5E22A9-700A-CEAA-5A7F-A22D8F08DB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74CEBF5-CC7C-FCFC-AE4E-76865635F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D246F7-98F1-CCFD-E5FA-B177EB5C4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5613F05-3273-953D-9D7F-F3286615E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C40530-67C2-12E7-F4EB-B3903917D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5905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B0BE0C-2583-59CB-D29E-21D68755D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94FA8F-BBDC-9CB1-F559-1C94A3633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52AB7F8-E88B-D46E-59E8-2D86B2811A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45D04BD-9ECD-67C5-7CA7-2EB972105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65B6354-B790-2F12-59F2-CDD0FF1C4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ADADDD-9C62-F298-976B-E4808CA0A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08555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35DA9A-9EA9-0ED2-6CFC-6E76DFAEA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BE8CA9-18FB-1560-FB5D-2F336E6720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77C9ABC-4192-4CC8-1820-1F7CC89F1C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02D9288-1ABE-F8BD-BD3A-A65173F97A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5C14037-6913-604A-139A-3C20928259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8E4BB33-60F3-7715-AB66-0D234DF68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44E27F97-4747-5AED-6940-108D51F57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05BE495A-7543-B942-6E2C-38183AE62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781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609202-2574-F644-5482-1ADD1B795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5D6C40A-01F0-238B-7648-EFE17248E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6ED3B9F-8DC7-FF1B-D303-64ECD5AF0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7A54B20-8C3C-2896-A245-FBB8C7F1C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3706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A7EBCB52-A57F-6A48-40E8-D888E6C5F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7E1CBB09-2A68-2165-0F36-8D08F91ED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61A2DB0-2462-AB93-B531-14FE3A0AF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9110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4F54AA-0B21-D971-5437-943256A3B5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7080223-B2E8-985E-A8E9-DB5E327F7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4CA6A8B-FCF2-6C26-B2B8-5CD3BC03CC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95652BA-EE2D-733C-24DC-2F1CD887A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9041C8-38F0-1422-361F-7C00EFBAB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78F040-7196-BFD6-006C-AC36E286F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0222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302715-2462-3E2D-F33E-E6B6745DE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0B9CBFA-0E76-CE0B-47FA-38806566E6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025D5A58-F9A5-DEB5-E2F4-0AE2A6755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C0ED872-EE0D-0A13-AE6B-DFAB93F91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9B29BF3-4A68-8F0D-A7F0-751071A57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919481F-EEA4-DDD1-FDF7-A57CA2DAA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5727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C5E8C0-5444-D942-1A43-5102ED110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F455076-EF13-756D-3356-DCE4549D05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1F25072-3D0F-784C-0A7E-F981E834D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4F470B6-E905-8C70-D87A-9CC6083BB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B6FF97-24CE-3E3A-171F-2F7EFF576E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42685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543FD04-171E-D985-CC0B-58A9C6790C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EE7CF26-5CC9-9F35-C215-63FD24D9EA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232BF35-0A9E-56DA-413B-CD36CEEBD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720E4F9-DFB2-915B-00A1-CAD03FD9A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854917-D8A2-EAA2-7439-EAFBD38BF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0463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C1761F-6882-B0FF-AE3A-772494DA0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1AD4693-7CAF-E6BF-0777-4237618F8E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E7BAFD-CED9-FD21-C8F0-FD8E8AD05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D606F0-41E0-4792-8AF0-C438DCB05F4D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443AD0D-D6AE-13EE-0F54-C19E1EF440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A18139E-FAC5-B616-0540-5C57580BD3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173B1-EC1E-423B-8025-08A795D3FA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0844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9B358B5E-2BFB-DBDE-D00F-7117B34624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4850" y="500514"/>
            <a:ext cx="10782300" cy="3089709"/>
          </a:xfrm>
        </p:spPr>
        <p:txBody>
          <a:bodyPr>
            <a:normAutofit fontScale="90000"/>
          </a:bodyPr>
          <a:lstStyle/>
          <a:p>
            <a:pPr algn="ctr"/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ФГБОУ ВО «Кубанский государственный технологический университет»</a:t>
            </a:r>
            <a:br>
              <a:rPr kumimoji="0" lang="ru-RU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</a:b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(ФГБОУ ВО «</a:t>
            </a:r>
            <a:r>
              <a:rPr kumimoji="0" lang="ru-RU" sz="2800" b="1" i="0" u="none" strike="noStrike" kern="1200" cap="none" spc="-1" normalizeH="0" baseline="0" noProof="0" dirty="0" err="1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КубГТУ</a:t>
            </a: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»)</a:t>
            </a:r>
            <a:br>
              <a:rPr kumimoji="0" lang="ru-RU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</a:b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Факультет: Информационных технологий и кибербезопасности</a:t>
            </a:r>
            <a:br>
              <a:rPr kumimoji="0" lang="ru-RU" sz="28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ea typeface="+mj-ea"/>
                <a:cs typeface="+mj-cs"/>
              </a:rPr>
            </a:b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Кафедра: Информационных систем и программирования</a:t>
            </a:r>
            <a:b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</a:br>
            <a:b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</a:br>
            <a:r>
              <a:rPr lang="ru-RU" sz="2800" b="1" spc="-1" dirty="0">
                <a:ea typeface="DejaVu Sans"/>
              </a:rPr>
              <a:t>РАЗРАБОТКА ВЕБ-ПРИЛОЖЕНИЙ</a:t>
            </a:r>
            <a:br>
              <a:rPr kumimoji="0" lang="en-US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</a:br>
            <a:b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</a:b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ЛАБОРАТОРНАЯ РАБОТА №</a:t>
            </a: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6</a:t>
            </a:r>
            <a:b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</a:br>
            <a:r>
              <a:rPr kumimoji="0" lang="ru-RU" sz="2800" b="1" i="0" u="none" strike="noStrike" kern="1200" cap="none" spc="-1" normalizeH="0" baseline="0" noProof="0" dirty="0">
                <a:ln>
                  <a:noFill/>
                </a:ln>
                <a:effectLst/>
                <a:uLnTx/>
                <a:uFillTx/>
                <a:ea typeface="DejaVu Sans"/>
                <a:cs typeface="+mj-cs"/>
              </a:rPr>
              <a:t>Вставка графических изображений</a:t>
            </a:r>
            <a:r>
              <a:rPr lang="en-US" sz="2800" b="1" spc="-1" dirty="0">
                <a:ea typeface="DejaVu Sans"/>
              </a:rPr>
              <a:t>.</a:t>
            </a:r>
            <a:endParaRPr lang="ru-RU" sz="11500" b="1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9D05EC2-26A9-7905-4B24-EED6B56480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82939" y="4659264"/>
            <a:ext cx="9228201" cy="1645920"/>
          </a:xfrm>
        </p:spPr>
        <p:txBody>
          <a:bodyPr>
            <a:normAutofit fontScale="92500" lnSpcReduction="10000"/>
          </a:bodyPr>
          <a:lstStyle/>
          <a:p>
            <a:pPr algn="r"/>
            <a:r>
              <a:rPr lang="ru-RU" dirty="0"/>
              <a:t>Выполнил студент 23-КБ-ПР3</a:t>
            </a:r>
          </a:p>
          <a:p>
            <a:pPr algn="r"/>
            <a:r>
              <a:rPr lang="ru-RU" dirty="0"/>
              <a:t>Давков Ярослав</a:t>
            </a:r>
          </a:p>
          <a:p>
            <a:pPr algn="r"/>
            <a:r>
              <a:rPr lang="ru-RU" dirty="0"/>
              <a:t>Проверил </a:t>
            </a:r>
            <a:r>
              <a:rPr lang="ru-RU" spc="-1" dirty="0" err="1">
                <a:ea typeface="DejaVu Sans"/>
              </a:rPr>
              <a:t>ст</a:t>
            </a:r>
            <a:r>
              <a:rPr lang="en-US" spc="-1" dirty="0">
                <a:ea typeface="DejaVu Sans"/>
              </a:rPr>
              <a:t>.</a:t>
            </a:r>
            <a:r>
              <a:rPr lang="ru-RU" spc="-1" dirty="0">
                <a:ea typeface="DejaVu Sans"/>
              </a:rPr>
              <a:t> преподаватель </a:t>
            </a:r>
          </a:p>
          <a:p>
            <a:pPr algn="r"/>
            <a:r>
              <a:rPr lang="ru-RU" spc="-1" dirty="0">
                <a:ea typeface="DejaVu Sans"/>
              </a:rPr>
              <a:t>Кушнир Надежда Владимировна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42597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91EDE4-BCF3-95EA-4CB8-49B1DC9B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81" y="-250900"/>
            <a:ext cx="10772775" cy="1658198"/>
          </a:xfrm>
        </p:spPr>
        <p:txBody>
          <a:bodyPr/>
          <a:lstStyle/>
          <a:p>
            <a:r>
              <a:rPr lang="ru-RU" dirty="0"/>
              <a:t>Цель работы и 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1C9885-6667-6B03-04C5-B8F6DD4EB9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3157" y="1020932"/>
            <a:ext cx="11756910" cy="639192"/>
          </a:xfrm>
        </p:spPr>
        <p:txBody>
          <a:bodyPr>
            <a:normAutofit lnSpcReduction="10000"/>
          </a:bodyPr>
          <a:lstStyle/>
          <a:p>
            <a:r>
              <a:rPr lang="ru-RU" sz="2000" dirty="0"/>
              <a:t>Цель работы</a:t>
            </a:r>
            <a:r>
              <a:rPr lang="en-US" sz="2000" dirty="0"/>
              <a:t>:</a:t>
            </a:r>
            <a:r>
              <a:rPr lang="ru-RU" sz="2000" dirty="0"/>
              <a:t> научиться размещать графические изображения на Web-странице, и изменять их размер и размещать горизонтальные линии на странице. Использовать карты-изображения. </a:t>
            </a:r>
            <a:endParaRPr lang="en-US" sz="2000" dirty="0"/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59766D13-22DE-4951-8B9C-AF6ECFACB0D8}"/>
              </a:ext>
            </a:extLst>
          </p:cNvPr>
          <p:cNvSpPr txBox="1">
            <a:spLocks/>
          </p:cNvSpPr>
          <p:nvPr/>
        </p:nvSpPr>
        <p:spPr>
          <a:xfrm>
            <a:off x="288566" y="1695634"/>
            <a:ext cx="11756910" cy="50070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Задание 1. Вставка графических изображений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Создайте новую Web-страницу в редакторе Блокнот.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В элементе &lt;TITLE&gt; укажите название странички «Задание 1. Размещение графики на Web-странице».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Если в тэге &lt;BODY&gt; не указывать цвет странички, то по умолчанию фон будет белым. Сделайте цвет фона странички оранжевым.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Разместите на страничке любой рисунок. Для размещения изображения вам требуется указать путь к файлу в элементе &lt;IMG&gt;. Чтобы упростить описание пути к этому графическому файлу, скопируйте этот файл в ту же папку, в которой будет сохранена Web-страничка.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Если файл находится не в одной папке с Web-страничкой, то необходимо указать относительный путь к этому файлу.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Сделайте подпись к рисунку с помощью атрибута </a:t>
            </a:r>
            <a:r>
              <a:rPr lang="ru-RU" sz="1700" dirty="0" err="1">
                <a:cs typeface="Times New Roman" panose="02020603050405020304" pitchFamily="18" charset="0"/>
              </a:rPr>
              <a:t>alt</a:t>
            </a:r>
            <a:r>
              <a:rPr lang="ru-RU" sz="1700" dirty="0">
                <a:cs typeface="Times New Roman" panose="02020603050405020304" pitchFamily="18" charset="0"/>
              </a:rPr>
              <a:t>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Создайте рамку вокруг рисунка шириной 2 пиксела.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Над рисунком поместите заголовок самого большого размера и выровняйте его по центру страницы.</a:t>
            </a:r>
            <a:endParaRPr lang="en-US" sz="1700" dirty="0">
              <a:cs typeface="Times New Roman" panose="02020603050405020304" pitchFamily="18" charset="0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Задание 2. Изменение размеров изображения на Web-странице.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Создайте новую Web-страницу в редакторе Блокнот.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В элементе &lt;TITLE&gt; укажите название странички «Задание 2. Изменение размеров изображения на Web-странице».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Пусть фон странички будет зеленого цвета.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Определите размер выбранного вами изображения.</a:t>
            </a:r>
          </a:p>
          <a:p>
            <a:pPr marL="0" indent="0">
              <a:spcBef>
                <a:spcPts val="200"/>
              </a:spcBef>
              <a:buNone/>
            </a:pPr>
            <a:endParaRPr lang="ru-RU" sz="17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1249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91EDE4-BCF3-95EA-4CB8-49B1DC9B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81" y="-250900"/>
            <a:ext cx="10772775" cy="1658198"/>
          </a:xfrm>
        </p:spPr>
        <p:txBody>
          <a:bodyPr/>
          <a:lstStyle/>
          <a:p>
            <a:r>
              <a:rPr lang="ru-RU" dirty="0"/>
              <a:t>Цель работы и задания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59766D13-22DE-4951-8B9C-AF6ECFACB0D8}"/>
              </a:ext>
            </a:extLst>
          </p:cNvPr>
          <p:cNvSpPr txBox="1">
            <a:spLocks/>
          </p:cNvSpPr>
          <p:nvPr/>
        </p:nvSpPr>
        <p:spPr>
          <a:xfrm>
            <a:off x="350709" y="1116367"/>
            <a:ext cx="11756910" cy="54619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Задание 3. Использование рисунка в качестве гиперссылки (карты)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Создайте страницу Map.htm, на которой разместите две карты.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Карта, имеющая имя </a:t>
            </a:r>
            <a:r>
              <a:rPr lang="ru-RU" sz="1700" dirty="0" err="1">
                <a:cs typeface="Times New Roman" panose="02020603050405020304" pitchFamily="18" charset="0"/>
              </a:rPr>
              <a:t>kartal</a:t>
            </a:r>
            <a:r>
              <a:rPr lang="ru-RU" sz="1700" dirty="0">
                <a:cs typeface="Times New Roman" panose="02020603050405020304" pitchFamily="18" charset="0"/>
              </a:rPr>
              <a:t>, содержит область в виде круга и область произвольной формы.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Изображение karta2 содержит область прямоугольной формы.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Между картами должен располагаться текст, объясняющий действие ссылок (щелчков).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Ваш HTML-документ должен выглядеть следующим образом: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Карта 1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На этой странице представлены две карты, которые позволяют выполнять различные переходы. Для правильного функционирования страницы необходимо проверить все ссылки на файлы, заданные с помощью атрибутов </a:t>
            </a:r>
            <a:r>
              <a:rPr lang="ru-RU" sz="1700" dirty="0" err="1">
                <a:cs typeface="Times New Roman" panose="02020603050405020304" pitchFamily="18" charset="0"/>
              </a:rPr>
              <a:t>src</a:t>
            </a:r>
            <a:r>
              <a:rPr lang="ru-RU" sz="1700" dirty="0">
                <a:cs typeface="Times New Roman" panose="02020603050405020304" pitchFamily="18" charset="0"/>
              </a:rPr>
              <a:t> и </a:t>
            </a:r>
            <a:r>
              <a:rPr lang="ru-RU" sz="1700" dirty="0" err="1">
                <a:cs typeface="Times New Roman" panose="02020603050405020304" pitchFamily="18" charset="0"/>
              </a:rPr>
              <a:t>href</a:t>
            </a:r>
            <a:r>
              <a:rPr lang="ru-RU" sz="1700" dirty="0">
                <a:cs typeface="Times New Roman" panose="02020603050405020304" pitchFamily="18" charset="0"/>
              </a:rPr>
              <a:t>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Щелчок по зеленому кругу должен обеспечить переход к вашей Web-странице. Желтый многоугольник вернет вас на страницу Color.htm (название и коды цветов). Красный прямоугольник (см. ниже) обеспечивает переход в начало этой страницы.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Вставьте это изображение на страничку, задав его размеры: ширина 100, высота 100 пикселов.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Просмотрите в браузере полученную страничку. Обратите внимание на следующие вещи: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–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В связи с тем, что вы непропорционально изменили размеры изображения, произошло искажение рисунка;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–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Так как вы увеличили размер изображения, произошла потеря качества рисунка (обратите внимание на края изображения);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–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Для размещения изображений на Web-страничке, лучше использовать прозрачный фон рисунка.</a:t>
            </a:r>
          </a:p>
        </p:txBody>
      </p:sp>
    </p:spTree>
    <p:extLst>
      <p:ext uri="{BB962C8B-B14F-4D97-AF65-F5344CB8AC3E}">
        <p14:creationId xmlns:p14="http://schemas.microsoft.com/office/powerpoint/2010/main" val="2511522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91EDE4-BCF3-95EA-4CB8-49B1DC9B3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381" y="-250900"/>
            <a:ext cx="10772775" cy="1658198"/>
          </a:xfrm>
        </p:spPr>
        <p:txBody>
          <a:bodyPr/>
          <a:lstStyle/>
          <a:p>
            <a:r>
              <a:rPr lang="ru-RU" dirty="0"/>
              <a:t>Цель работы и задания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59766D13-22DE-4951-8B9C-AF6ECFACB0D8}"/>
              </a:ext>
            </a:extLst>
          </p:cNvPr>
          <p:cNvSpPr txBox="1">
            <a:spLocks/>
          </p:cNvSpPr>
          <p:nvPr/>
        </p:nvSpPr>
        <p:spPr>
          <a:xfrm>
            <a:off x="350709" y="1116367"/>
            <a:ext cx="11756910" cy="54619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Задание </a:t>
            </a:r>
            <a:r>
              <a:rPr lang="en-US" sz="1700" dirty="0">
                <a:cs typeface="Times New Roman" panose="02020603050405020304" pitchFamily="18" charset="0"/>
              </a:rPr>
              <a:t>4</a:t>
            </a:r>
            <a:r>
              <a:rPr lang="ru-RU" sz="1700" dirty="0">
                <a:cs typeface="Times New Roman" panose="02020603050405020304" pitchFamily="18" charset="0"/>
              </a:rPr>
              <a:t>. Использование рисунка в качестве гиперссылки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Выполнить задание вы можете, если успешно справились с Заданием 3.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На страничках pagel.htm, page2.htm и page3.htm, вместо текстовых гиперссылок используйте рисунки.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ru-RU" sz="1700" dirty="0">
                <a:cs typeface="Times New Roman" panose="02020603050405020304" pitchFamily="18" charset="0"/>
              </a:rPr>
              <a:t>Для этого: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Вставьте на первую страничку одно изображение и создайте гиперссылку для перехода на вторую страницу: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&lt;А </a:t>
            </a:r>
            <a:r>
              <a:rPr lang="ru-RU" sz="1700" dirty="0" err="1">
                <a:cs typeface="Times New Roman" panose="02020603050405020304" pitchFamily="18" charset="0"/>
              </a:rPr>
              <a:t>href</a:t>
            </a:r>
            <a:r>
              <a:rPr lang="ru-RU" sz="1700" dirty="0">
                <a:cs typeface="Times New Roman" panose="02020603050405020304" pitchFamily="18" charset="0"/>
              </a:rPr>
              <a:t> ="page2.htm"&gt; &lt;IMG </a:t>
            </a:r>
            <a:r>
              <a:rPr lang="ru-RU" sz="1700" dirty="0" err="1">
                <a:cs typeface="Times New Roman" panose="02020603050405020304" pitchFamily="18" charset="0"/>
              </a:rPr>
              <a:t>src</a:t>
            </a:r>
            <a:r>
              <a:rPr lang="ru-RU" sz="1700" dirty="0">
                <a:cs typeface="Times New Roman" panose="02020603050405020304" pitchFamily="18" charset="0"/>
              </a:rPr>
              <a:t>="*.</a:t>
            </a:r>
            <a:r>
              <a:rPr lang="ru-RU" sz="1700" dirty="0" err="1">
                <a:cs typeface="Times New Roman" panose="02020603050405020304" pitchFamily="18" charset="0"/>
              </a:rPr>
              <a:t>gif</a:t>
            </a:r>
            <a:r>
              <a:rPr lang="ru-RU" sz="1700" dirty="0">
                <a:cs typeface="Times New Roman" panose="02020603050405020304" pitchFamily="18" charset="0"/>
              </a:rPr>
              <a:t>"&gt; &lt;/а&gt;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Самостоятельно вставьте другое изображение для перехода с первой странички на третью;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Задайте границу обоих изображений, равную 2;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Откройте в браузере первую страничку и, переходя по ссылкам со странички на страничку, убедитесь, что переходы работают верно.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Самостоятельно вставьте изображения на страницы page2.htm и page3.htm и задайте соответствующие гиперссылки.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700" dirty="0">
                <a:cs typeface="Times New Roman" panose="02020603050405020304" pitchFamily="18" charset="0"/>
              </a:rPr>
              <a:t>	</a:t>
            </a:r>
            <a:r>
              <a:rPr lang="ru-RU" sz="1700" dirty="0">
                <a:cs typeface="Times New Roman" panose="02020603050405020304" pitchFamily="18" charset="0"/>
              </a:rPr>
              <a:t>●</a:t>
            </a:r>
            <a:r>
              <a:rPr lang="en-US" sz="1700" dirty="0">
                <a:cs typeface="Times New Roman" panose="02020603050405020304" pitchFamily="18" charset="0"/>
              </a:rPr>
              <a:t> </a:t>
            </a:r>
            <a:r>
              <a:rPr lang="ru-RU" sz="1700" dirty="0">
                <a:cs typeface="Times New Roman" panose="02020603050405020304" pitchFamily="18" charset="0"/>
              </a:rPr>
              <a:t>Откройте в браузере первую страничку и, переходя по ссылкам со странички на страничку, убедитесь, что кнопки на всех страницах работают верно.</a:t>
            </a:r>
          </a:p>
        </p:txBody>
      </p:sp>
    </p:spTree>
    <p:extLst>
      <p:ext uri="{BB962C8B-B14F-4D97-AF65-F5344CB8AC3E}">
        <p14:creationId xmlns:p14="http://schemas.microsoft.com/office/powerpoint/2010/main" val="2048344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6C4D4-2291-C2E3-D7D0-EAD07466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4" y="93600"/>
            <a:ext cx="9365241" cy="1113763"/>
          </a:xfrm>
        </p:spPr>
        <p:txBody>
          <a:bodyPr/>
          <a:lstStyle/>
          <a:p>
            <a:r>
              <a:rPr lang="ru-RU" dirty="0"/>
              <a:t>Ход работы</a:t>
            </a:r>
            <a:r>
              <a:rPr lang="en-US" dirty="0"/>
              <a:t>. </a:t>
            </a:r>
            <a:r>
              <a:rPr lang="ru-RU" dirty="0"/>
              <a:t>Задание 1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66A71-BBCC-E9A0-C026-AA1C37329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5313" y="1301952"/>
            <a:ext cx="3855868" cy="4988866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/>
              <a:t>&lt;!DOCTYPE html&gt;</a:t>
            </a:r>
          </a:p>
          <a:p>
            <a:pPr marL="0" indent="0">
              <a:buNone/>
            </a:pPr>
            <a:r>
              <a:rPr lang="en-US" dirty="0"/>
              <a:t>&lt;html lang="</a:t>
            </a:r>
            <a:r>
              <a:rPr lang="en-US" dirty="0" err="1"/>
              <a:t>en</a:t>
            </a:r>
            <a:r>
              <a:rPr lang="en-US" dirty="0"/>
              <a:t>"&gt;</a:t>
            </a:r>
          </a:p>
          <a:p>
            <a:pPr marL="0" indent="0">
              <a:buNone/>
            </a:pPr>
            <a:r>
              <a:rPr lang="en-US" dirty="0"/>
              <a:t>&lt;head&gt;</a:t>
            </a:r>
          </a:p>
          <a:p>
            <a:pPr marL="0" indent="0">
              <a:buNone/>
            </a:pPr>
            <a:r>
              <a:rPr lang="en-US" dirty="0"/>
              <a:t>    &lt;meta charset="UTF-8"&gt;</a:t>
            </a:r>
          </a:p>
          <a:p>
            <a:pPr marL="0" indent="0">
              <a:buNone/>
            </a:pPr>
            <a:r>
              <a:rPr lang="en-US" dirty="0"/>
              <a:t>    &lt;meta http-</a:t>
            </a:r>
            <a:r>
              <a:rPr lang="en-US" dirty="0" err="1"/>
              <a:t>equiv</a:t>
            </a:r>
            <a:r>
              <a:rPr lang="en-US" dirty="0"/>
              <a:t>="X-UA-Compatible" content="IE=edge"&gt;</a:t>
            </a:r>
          </a:p>
          <a:p>
            <a:pPr marL="0" indent="0">
              <a:buNone/>
            </a:pPr>
            <a:r>
              <a:rPr lang="en-US" dirty="0"/>
              <a:t>    &lt;meta name="viewport" content="width=device-width, initial-scale=1.0"&gt;</a:t>
            </a:r>
          </a:p>
          <a:p>
            <a:pPr marL="0" indent="0">
              <a:buNone/>
            </a:pPr>
            <a:r>
              <a:rPr lang="en-US" dirty="0"/>
              <a:t>    &lt;title&gt;</a:t>
            </a:r>
            <a:r>
              <a:rPr lang="ru-RU" dirty="0"/>
              <a:t>Размещение графики на </a:t>
            </a:r>
            <a:r>
              <a:rPr lang="en-US" dirty="0"/>
              <a:t>Web-</a:t>
            </a:r>
            <a:r>
              <a:rPr lang="ru-RU" dirty="0"/>
              <a:t>странице&lt;/</a:t>
            </a:r>
            <a:r>
              <a:rPr lang="en-US" dirty="0"/>
              <a:t>title&gt;</a:t>
            </a:r>
          </a:p>
          <a:p>
            <a:pPr marL="0" indent="0">
              <a:buNone/>
            </a:pPr>
            <a:r>
              <a:rPr lang="en-US" dirty="0"/>
              <a:t>&lt;/head&gt;</a:t>
            </a:r>
          </a:p>
          <a:p>
            <a:pPr marL="0" indent="0">
              <a:buNone/>
            </a:pPr>
            <a:r>
              <a:rPr lang="en-US" dirty="0"/>
              <a:t>&lt;body </a:t>
            </a:r>
            <a:r>
              <a:rPr lang="en-US" dirty="0" err="1"/>
              <a:t>bgcolor</a:t>
            </a:r>
            <a:r>
              <a:rPr lang="en-US" dirty="0"/>
              <a:t>="orange"&gt;</a:t>
            </a:r>
          </a:p>
          <a:p>
            <a:pPr marL="0" indent="0">
              <a:buNone/>
            </a:pPr>
            <a:r>
              <a:rPr lang="en-US" dirty="0"/>
              <a:t>    &lt;h1&gt;&lt;p align="center"&gt;image&lt;/p&gt;&lt;/h1&gt;</a:t>
            </a:r>
          </a:p>
          <a:p>
            <a:pPr marL="0" indent="0">
              <a:buNone/>
            </a:pPr>
            <a:r>
              <a:rPr lang="en-US" dirty="0"/>
              <a:t>    &lt;</a:t>
            </a:r>
            <a:r>
              <a:rPr lang="en-US" dirty="0" err="1"/>
              <a:t>img</a:t>
            </a:r>
            <a:r>
              <a:rPr lang="en-US" dirty="0"/>
              <a:t> </a:t>
            </a:r>
            <a:r>
              <a:rPr lang="en-US" dirty="0" err="1"/>
              <a:t>src</a:t>
            </a:r>
            <a:r>
              <a:rPr lang="en-US" dirty="0"/>
              <a:t>="images.jpg" alt="Art image" border="2px" width="500" height="700"&gt;</a:t>
            </a:r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pPr marL="0" indent="0">
              <a:buNone/>
            </a:pPr>
            <a:r>
              <a:rPr lang="en-US" dirty="0"/>
              <a:t>&lt;/html&gt;</a:t>
            </a:r>
          </a:p>
          <a:p>
            <a:pPr marL="0" indent="0">
              <a:spcBef>
                <a:spcPts val="0"/>
              </a:spcBef>
              <a:buNone/>
            </a:pPr>
            <a:endParaRPr lang="en-US" dirty="0"/>
          </a:p>
        </p:txBody>
      </p:sp>
      <p:pic>
        <p:nvPicPr>
          <p:cNvPr id="8" name="Рисунок 7" descr="Изображение выглядит как снимок экрана, Мультимедийное программное обеспечение, программное обеспечение, Графическ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B7670D8-3739-E5CF-7F50-8F5A32BB5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74" y="1301952"/>
            <a:ext cx="7598960" cy="427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698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6C4D4-2291-C2E3-D7D0-EAD07466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4" y="93600"/>
            <a:ext cx="9365241" cy="1113763"/>
          </a:xfrm>
        </p:spPr>
        <p:txBody>
          <a:bodyPr/>
          <a:lstStyle/>
          <a:p>
            <a:r>
              <a:rPr lang="ru-RU" dirty="0"/>
              <a:t>Ход работы. Задание 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66A71-BBCC-E9A0-C026-AA1C37329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64845" y="1518583"/>
            <a:ext cx="5956048" cy="260965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&lt;!DOCTYPE html&gt;</a:t>
            </a:r>
          </a:p>
          <a:p>
            <a:pPr marL="0" indent="0">
              <a:buNone/>
            </a:pPr>
            <a:r>
              <a:rPr lang="en-US" sz="1200" dirty="0"/>
              <a:t>&lt;html lang="</a:t>
            </a:r>
            <a:r>
              <a:rPr lang="en-US" sz="1200" dirty="0" err="1"/>
              <a:t>en</a:t>
            </a:r>
            <a:r>
              <a:rPr lang="en-US" sz="1200" dirty="0"/>
              <a:t>"&gt;</a:t>
            </a:r>
          </a:p>
          <a:p>
            <a:pPr marL="0" indent="0">
              <a:buNone/>
            </a:pPr>
            <a:r>
              <a:rPr lang="en-US" sz="1200" dirty="0"/>
              <a:t>&lt;head&gt;</a:t>
            </a:r>
          </a:p>
          <a:p>
            <a:pPr marL="0" indent="0">
              <a:buNone/>
            </a:pPr>
            <a:r>
              <a:rPr lang="en-US" sz="1200" dirty="0"/>
              <a:t>    &lt;meta charset="UTF-8"&gt;</a:t>
            </a:r>
          </a:p>
          <a:p>
            <a:pPr marL="0" indent="0">
              <a:buNone/>
            </a:pPr>
            <a:r>
              <a:rPr lang="en-US" sz="1200" dirty="0"/>
              <a:t>    &lt;meta http-</a:t>
            </a:r>
            <a:r>
              <a:rPr lang="en-US" sz="1200" dirty="0" err="1"/>
              <a:t>equiv</a:t>
            </a:r>
            <a:r>
              <a:rPr lang="en-US" sz="1200" dirty="0"/>
              <a:t>="X-UA-Compatible" content="IE=edge"&gt;</a:t>
            </a:r>
          </a:p>
          <a:p>
            <a:pPr marL="0" indent="0">
              <a:buNone/>
            </a:pPr>
            <a:r>
              <a:rPr lang="en-US" sz="1200" dirty="0"/>
              <a:t>    &lt;meta name="viewport" content="width=device-width, initial-scale=1.0"&gt;</a:t>
            </a:r>
          </a:p>
          <a:p>
            <a:pPr marL="0" indent="0">
              <a:buNone/>
            </a:pPr>
            <a:r>
              <a:rPr lang="en-US" sz="1200" dirty="0"/>
              <a:t>    &lt;title&gt;</a:t>
            </a:r>
            <a:r>
              <a:rPr lang="ru-RU" sz="1200" dirty="0"/>
              <a:t>Изменение размеров изображения на </a:t>
            </a:r>
            <a:r>
              <a:rPr lang="en-US" sz="1200" dirty="0"/>
              <a:t>Web-</a:t>
            </a:r>
            <a:r>
              <a:rPr lang="ru-RU" sz="1200" dirty="0"/>
              <a:t>странице&lt;/</a:t>
            </a:r>
            <a:r>
              <a:rPr lang="en-US" sz="1200" dirty="0"/>
              <a:t>title&gt;</a:t>
            </a:r>
          </a:p>
          <a:p>
            <a:pPr marL="0" indent="0">
              <a:buNone/>
            </a:pPr>
            <a:r>
              <a:rPr lang="en-US" sz="1200" dirty="0"/>
              <a:t>&lt;/head&gt;</a:t>
            </a:r>
          </a:p>
          <a:p>
            <a:pPr marL="0" indent="0">
              <a:buNone/>
            </a:pPr>
            <a:r>
              <a:rPr lang="en-US" sz="1200" dirty="0"/>
              <a:t>&lt;body </a:t>
            </a:r>
            <a:r>
              <a:rPr lang="en-US" sz="1200" dirty="0" err="1"/>
              <a:t>bgcolor</a:t>
            </a:r>
            <a:r>
              <a:rPr lang="en-US" sz="1200" dirty="0"/>
              <a:t>="green"&gt;</a:t>
            </a:r>
          </a:p>
          <a:p>
            <a:pPr marL="0" indent="0">
              <a:buNone/>
            </a:pPr>
            <a:r>
              <a:rPr lang="en-US" sz="1200" dirty="0"/>
              <a:t>    &lt;</a:t>
            </a:r>
            <a:r>
              <a:rPr lang="en-US" sz="1200" dirty="0" err="1"/>
              <a:t>img</a:t>
            </a:r>
            <a:r>
              <a:rPr lang="en-US" sz="1200" dirty="0"/>
              <a:t> </a:t>
            </a:r>
            <a:r>
              <a:rPr lang="en-US" sz="1200" dirty="0" err="1"/>
              <a:t>src</a:t>
            </a:r>
            <a:r>
              <a:rPr lang="en-US" sz="1200" dirty="0"/>
              <a:t>="image2.jpg" alt="image2" width="500px" height="500px"&gt;</a:t>
            </a:r>
          </a:p>
          <a:p>
            <a:pPr marL="0" indent="0">
              <a:buNone/>
            </a:pPr>
            <a:r>
              <a:rPr lang="en-US" sz="1200" dirty="0"/>
              <a:t>&lt;/body&gt;</a:t>
            </a:r>
          </a:p>
          <a:p>
            <a:pPr marL="0" indent="0">
              <a:buNone/>
            </a:pPr>
            <a:r>
              <a:rPr lang="en-US" sz="1200" dirty="0"/>
              <a:t>&lt;/html&gt;</a:t>
            </a:r>
          </a:p>
        </p:txBody>
      </p:sp>
      <p:pic>
        <p:nvPicPr>
          <p:cNvPr id="5" name="Рисунок 4" descr="Изображение выглядит как снимок экрана, Мультимедийное программное обеспечение, текс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E3839C3-BE76-657C-36E1-917BDE1740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50" y="925729"/>
            <a:ext cx="6750039" cy="3795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6370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06C4D4-2291-C2E3-D7D0-EAD07466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074" y="93600"/>
            <a:ext cx="9365241" cy="1113763"/>
          </a:xfrm>
        </p:spPr>
        <p:txBody>
          <a:bodyPr/>
          <a:lstStyle/>
          <a:p>
            <a:r>
              <a:rPr lang="ru-RU" dirty="0"/>
              <a:t>Ход работы. Задание 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966A71-BBCC-E9A0-C026-AA1C37329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49871" y="682045"/>
            <a:ext cx="6093042" cy="5118022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&lt;!DOCTYPE html&gt;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&lt;html lang="</a:t>
            </a:r>
            <a:r>
              <a:rPr lang="en-US" sz="1200" dirty="0" err="1"/>
              <a:t>en</a:t>
            </a:r>
            <a:r>
              <a:rPr lang="en-US" sz="1200" dirty="0"/>
              <a:t>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&lt;head&gt;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   &lt;meta charset="UTF-8"&gt;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   &lt;meta http-</a:t>
            </a:r>
            <a:r>
              <a:rPr lang="en-US" sz="1200" dirty="0" err="1"/>
              <a:t>equiv</a:t>
            </a:r>
            <a:r>
              <a:rPr lang="en-US" sz="1200" dirty="0"/>
              <a:t>="X-UA-Compatible" content="IE=edge"&gt;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   &lt;meta name="viewport" content="width=device-width, initial-scale=1.0"&gt;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   &lt;title&gt;</a:t>
            </a:r>
            <a:r>
              <a:rPr lang="ru-RU" sz="1200" dirty="0"/>
              <a:t>Примеры карт&lt;/</a:t>
            </a:r>
            <a:r>
              <a:rPr lang="en-US" sz="1200" dirty="0"/>
              <a:t>title&gt;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&lt;/head&gt;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&lt;body&gt;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   &lt;a name="1"&gt;&lt;/a&gt;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   &lt;p align="center"&gt;&lt;b&gt;</a:t>
            </a:r>
            <a:r>
              <a:rPr lang="ru-RU" sz="1200" dirty="0"/>
              <a:t>Примеры карт&lt;/</a:t>
            </a:r>
            <a:r>
              <a:rPr lang="en-US" sz="1200" dirty="0"/>
              <a:t>b&gt;&lt;/p&gt;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   &lt;</a:t>
            </a:r>
            <a:r>
              <a:rPr lang="en-US" sz="1200" dirty="0" err="1"/>
              <a:t>hr</a:t>
            </a:r>
            <a:r>
              <a:rPr lang="en-US" sz="1200" dirty="0"/>
              <a:t> size="1px" color="black"&gt;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   &lt;p&gt;</a:t>
            </a:r>
            <a:r>
              <a:rPr lang="ru-RU" sz="1200" dirty="0"/>
              <a:t>Изображения карт иллюстрируют способы задания координат областей для переходов&lt;/</a:t>
            </a:r>
            <a:r>
              <a:rPr lang="en-US" sz="1200" dirty="0"/>
              <a:t>p&gt;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   &lt;</a:t>
            </a:r>
            <a:r>
              <a:rPr lang="en-US" sz="1200" dirty="0" err="1"/>
              <a:t>hr</a:t>
            </a:r>
            <a:r>
              <a:rPr lang="en-US" sz="1200" dirty="0"/>
              <a:t> size="3px" color="black"&gt;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   &lt;</a:t>
            </a:r>
            <a:r>
              <a:rPr lang="en-US" sz="1200" dirty="0" err="1"/>
              <a:t>img</a:t>
            </a:r>
            <a:r>
              <a:rPr lang="en-US" sz="1200" dirty="0"/>
              <a:t> </a:t>
            </a:r>
            <a:r>
              <a:rPr lang="en-US" sz="1200" dirty="0" err="1"/>
              <a:t>src</a:t>
            </a:r>
            <a:r>
              <a:rPr lang="en-US" sz="1200" dirty="0"/>
              <a:t>="karta1.jpg" </a:t>
            </a:r>
            <a:r>
              <a:rPr lang="en-US" sz="1200" dirty="0" err="1"/>
              <a:t>usemap</a:t>
            </a:r>
            <a:r>
              <a:rPr lang="en-US" sz="1200" dirty="0"/>
              <a:t>="#karta1"&gt;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   &lt;map name="karta1"&gt;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   &lt;area shape="circle" coords="233,100,94" </a:t>
            </a:r>
            <a:r>
              <a:rPr lang="en-US" sz="1200" dirty="0" err="1"/>
              <a:t>href</a:t>
            </a:r>
            <a:r>
              <a:rPr lang="en-US" sz="1200" dirty="0"/>
              <a:t>="LR2.html"&gt;&lt;/map&gt;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   &lt;map name="karta1"&gt;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       &lt;area shape="poly" coords="125,293,228,295,330,287,68,357,325,360,205,333" </a:t>
            </a:r>
            <a:r>
              <a:rPr lang="en-US" sz="1200" dirty="0" err="1"/>
              <a:t>href</a:t>
            </a:r>
            <a:r>
              <a:rPr lang="en-US" sz="1200" dirty="0"/>
              <a:t>="https://colorscheme.ru/"&gt;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   &lt;/map&gt;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   &lt;p&gt;</a:t>
            </a:r>
            <a:r>
              <a:rPr lang="ru-RU" sz="1200" dirty="0"/>
              <a:t>Карта 1 переход на </a:t>
            </a:r>
            <a:r>
              <a:rPr lang="en-US" sz="1200" dirty="0"/>
              <a:t>YouTube </a:t>
            </a:r>
            <a:r>
              <a:rPr lang="ru-RU" sz="1200" dirty="0"/>
              <a:t>страницу при нажатии на круг и страницу цветов </a:t>
            </a:r>
            <a:r>
              <a:rPr lang="en-US" sz="1200" dirty="0"/>
              <a:t>HTML </a:t>
            </a:r>
            <a:r>
              <a:rPr lang="ru-RU" sz="1200" dirty="0"/>
              <a:t>при нажатии на многоугольник&lt;/</a:t>
            </a:r>
            <a:r>
              <a:rPr lang="en-US" sz="1200" dirty="0"/>
              <a:t>p&gt;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   &lt;</a:t>
            </a:r>
            <a:r>
              <a:rPr lang="en-US" sz="1200" dirty="0" err="1"/>
              <a:t>img</a:t>
            </a:r>
            <a:r>
              <a:rPr lang="en-US" sz="1200" dirty="0"/>
              <a:t> </a:t>
            </a:r>
            <a:r>
              <a:rPr lang="en-US" sz="1200" dirty="0" err="1"/>
              <a:t>src</a:t>
            </a:r>
            <a:r>
              <a:rPr lang="en-US" sz="1200" dirty="0"/>
              <a:t>="karta2.jpg" </a:t>
            </a:r>
            <a:r>
              <a:rPr lang="en-US" sz="1200" dirty="0" err="1"/>
              <a:t>usemap</a:t>
            </a:r>
            <a:r>
              <a:rPr lang="en-US" sz="1200" dirty="0"/>
              <a:t>="#karta2"&gt;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   &lt;map name="karta2"&gt;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       &lt;area shape="</a:t>
            </a:r>
            <a:r>
              <a:rPr lang="en-US" sz="1200" dirty="0" err="1"/>
              <a:t>rect</a:t>
            </a:r>
            <a:r>
              <a:rPr lang="en-US" sz="1200" dirty="0"/>
              <a:t>" coords="73,99,390,277,144,164,243,190" </a:t>
            </a:r>
            <a:r>
              <a:rPr lang="en-US" sz="1200" dirty="0" err="1"/>
              <a:t>href</a:t>
            </a:r>
            <a:r>
              <a:rPr lang="en-US" sz="1200" dirty="0"/>
              <a:t>="#1"&gt;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    &lt;/map&gt;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&lt;/body&gt;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dirty="0"/>
              <a:t>&lt;/html&gt;</a:t>
            </a:r>
          </a:p>
          <a:p>
            <a:pPr marL="0" indent="0">
              <a:spcBef>
                <a:spcPts val="0"/>
              </a:spcBef>
              <a:buNone/>
            </a:pPr>
            <a:endParaRPr lang="en-US" sz="1200" dirty="0"/>
          </a:p>
        </p:txBody>
      </p:sp>
      <p:pic>
        <p:nvPicPr>
          <p:cNvPr id="5" name="Рисунок 4" descr="Изображение выглядит как текст, снимок экрана, программное обеспечение, Значок на компьютер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762E4AD-3596-F4F1-74A6-F2C4A80E8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87" y="1691042"/>
            <a:ext cx="5513398" cy="310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990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B2263B-F862-902F-65D9-DD90D2EFF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773" y="-158817"/>
            <a:ext cx="10772775" cy="1658198"/>
          </a:xfrm>
        </p:spPr>
        <p:txBody>
          <a:bodyPr/>
          <a:lstStyle/>
          <a:p>
            <a:r>
              <a:rPr lang="ru-RU" dirty="0"/>
              <a:t>Контрольные вопросы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EECDB54-B198-92E1-FBB2-D49312D5B5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823" y="1203158"/>
            <a:ext cx="11754754" cy="5654842"/>
          </a:xfrm>
        </p:spPr>
        <p:txBody>
          <a:bodyPr>
            <a:normAutofit fontScale="55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ru-RU" dirty="0">
                <a:cs typeface="Times New Roman" panose="02020603050405020304" pitchFamily="18" charset="0"/>
              </a:rPr>
              <a:t>Роль графики. Характеристика графических стандартов: Роль компьютерной  графики в жизни человека В   жизни   современного   человека   информация   играет   огромную   роль. Наиболее   эффективной   и   удобной   для   восприятия   была,   есть   и   будет информация   графическая.   Поэтому   доля   графических   данных   в профессиональной   деятельности   любого   рода   неуклонно   растет. Стандарт GIF был разработан компанией </a:t>
            </a:r>
            <a:r>
              <a:rPr lang="ru-RU" dirty="0" err="1">
                <a:cs typeface="Times New Roman" panose="02020603050405020304" pitchFamily="18" charset="0"/>
              </a:rPr>
              <a:t>CompuServe</a:t>
            </a:r>
            <a:r>
              <a:rPr lang="ru-RU" dirty="0">
                <a:cs typeface="Times New Roman" panose="02020603050405020304" pitchFamily="18" charset="0"/>
              </a:rPr>
              <a:t> Inc. для передачи графической информации в пределах определенных компьютерных сетей (разработка велась еще до появления Интернета). В изображениях этого стандарта количество цветов не превышает числа 256. Среди других характеристик стандарта GIF можно назвать возможность построчного чередования служебных заголовков блоков с данными файла, внесение комментариев, реакцию на пользовательские действия (перемещение курсора и т. д.), создание прозрачного фона и поддержку режима анимации кадров. Стандарт JPEG был создан специальной группой экспертов в области фотографии и предназначался для хранения графических изображений с большой глубиной цвета. </a:t>
            </a:r>
            <a:endParaRPr lang="en-US" dirty="0"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cs typeface="Times New Roman" panose="02020603050405020304" pitchFamily="18" charset="0"/>
              </a:rPr>
              <a:t>Вставка графических изображений в HTML-документ: Для добавления изображения в документ применяется тег &lt;</a:t>
            </a:r>
            <a:r>
              <a:rPr lang="ru-RU" dirty="0" err="1">
                <a:cs typeface="Times New Roman" panose="02020603050405020304" pitchFamily="18" charset="0"/>
              </a:rPr>
              <a:t>img</a:t>
            </a:r>
            <a:r>
              <a:rPr lang="ru-RU" dirty="0">
                <a:cs typeface="Times New Roman" panose="02020603050405020304" pitchFamily="18" charset="0"/>
              </a:rPr>
              <a:t>&gt;, его атрибут </a:t>
            </a:r>
            <a:r>
              <a:rPr lang="ru-RU" dirty="0" err="1">
                <a:cs typeface="Times New Roman" panose="02020603050405020304" pitchFamily="18" charset="0"/>
              </a:rPr>
              <a:t>src</a:t>
            </a:r>
            <a:r>
              <a:rPr lang="ru-RU" dirty="0">
                <a:cs typeface="Times New Roman" panose="02020603050405020304" pitchFamily="18" charset="0"/>
              </a:rPr>
              <a:t> определяет путь к графическому файлу, который должен быть в формате GIF, PNG или JPEG. Также для тега &lt;</a:t>
            </a:r>
            <a:r>
              <a:rPr lang="ru-RU" dirty="0" err="1">
                <a:cs typeface="Times New Roman" panose="02020603050405020304" pitchFamily="18" charset="0"/>
              </a:rPr>
              <a:t>img</a:t>
            </a:r>
            <a:r>
              <a:rPr lang="ru-RU" dirty="0">
                <a:cs typeface="Times New Roman" panose="02020603050405020304" pitchFamily="18" charset="0"/>
              </a:rPr>
              <a:t>&gt; необходимо указать обязательный атрибут </a:t>
            </a:r>
            <a:r>
              <a:rPr lang="ru-RU" dirty="0" err="1">
                <a:cs typeface="Times New Roman" panose="02020603050405020304" pitchFamily="18" charset="0"/>
              </a:rPr>
              <a:t>alt</a:t>
            </a:r>
            <a:r>
              <a:rPr lang="ru-RU" dirty="0">
                <a:cs typeface="Times New Roman" panose="02020603050405020304" pitchFamily="18" charset="0"/>
              </a:rPr>
              <a:t>, он описывает альтернативный текст видимый в процессе загрузки изображения или при отключении картинок в браузере.</a:t>
            </a:r>
          </a:p>
          <a:p>
            <a:pPr marL="342900" indent="-342900">
              <a:buFont typeface="+mj-lt"/>
              <a:buAutoNum type="arabicPeriod"/>
            </a:pPr>
            <a:r>
              <a:rPr lang="ru-RU" dirty="0">
                <a:cs typeface="Times New Roman" panose="02020603050405020304" pitchFamily="18" charset="0"/>
              </a:rPr>
              <a:t>Использование карт изображений: карты-изображения позволяют создавать ссылки на разные области одного изображения. Использование этого подхода наглядней, чем обычные текстовые ссылки и позволяет применять всего один графический файл для организации ссылок. Однако не нужно считать, что карты-изображения следует включать везде, где требуются графические ссылки. Прежде всего, следует оценить все доводы за и против, а также просмотреть альтернативные варианты. С позиции удобства пользователей, карты-изображения имеют только одно преимущество — ссылки разнообразной формы. Это добавляет наглядность в представлении информации — мы не ограничены прямоугольной формой ссылки и можем использовать ссылки сложной конфигурации для своих целей. Во всех остальных отношениях от них проку нет — обычные текстовые ссылки более информативны и им не страшно отключение показа картинок в браузере. Тот факт, что одно изображение загружается быстрее, чем та же картинка, но порезанная на фрагменты и сохраненная в виде набора графических файлов, легко обходится. Каждый из таких конечных файлов можно уменьшить, используя индивидуальные настройки оптимизации. В итоге, общий объем всех фрагментов будет занимать меньше места, чем одно изображение. Не стоит сбрасывать со счетов и психологический фактор — человеку кажется, что набор маленьких картинок загружается быстрее, чем одна большая.</a:t>
            </a:r>
          </a:p>
        </p:txBody>
      </p:sp>
    </p:spTree>
    <p:extLst>
      <p:ext uri="{BB962C8B-B14F-4D97-AF65-F5344CB8AC3E}">
        <p14:creationId xmlns:p14="http://schemas.microsoft.com/office/powerpoint/2010/main" val="78666089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1636</Words>
  <Application>Microsoft Office PowerPoint</Application>
  <PresentationFormat>Широкоэкранный</PresentationFormat>
  <Paragraphs>107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DejaVu Sans</vt:lpstr>
      <vt:lpstr>Times New Roman</vt:lpstr>
      <vt:lpstr>Тема Office</vt:lpstr>
      <vt:lpstr>ФГБОУ ВО «Кубанский государственный технологический университет» (ФГБОУ ВО «КубГТУ») Факультет: Информационных технологий и кибербезопасности Кафедра: Информационных систем и программирования  РАЗРАБОТКА ВЕБ-ПРИЛОЖЕНИЙ  ЛАБОРАТОРНАЯ РАБОТА №6 Вставка графических изображений.</vt:lpstr>
      <vt:lpstr>Цель работы и задания</vt:lpstr>
      <vt:lpstr>Цель работы и задания</vt:lpstr>
      <vt:lpstr>Цель работы и задания</vt:lpstr>
      <vt:lpstr>Ход работы. Задание 1</vt:lpstr>
      <vt:lpstr>Ход работы. Задание 2</vt:lpstr>
      <vt:lpstr>Ход работы. Задание 3</vt:lpstr>
      <vt:lpstr>Контрольные вопросы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ФГБОУ ВО «Кубанский государственный технологический университет» (ФГБОУ ВО «КубГТУ») Факультет: Информационных технологий и кибербезопасности Кафедра: Информационных систем и программирования  РАЗРАБОТКА ВЕБ-ПРИЛОЖЕНИЙ  ЛАБОРАТОРНАЯ РАБОТА №2 Форматирование текста.</dc:title>
  <dc:creator>Артём Лыков</dc:creator>
  <cp:lastModifiedBy>Ярослав Давков</cp:lastModifiedBy>
  <cp:revision>52</cp:revision>
  <dcterms:created xsi:type="dcterms:W3CDTF">2025-09-05T14:29:14Z</dcterms:created>
  <dcterms:modified xsi:type="dcterms:W3CDTF">2025-12-11T17:43:09Z</dcterms:modified>
</cp:coreProperties>
</file>