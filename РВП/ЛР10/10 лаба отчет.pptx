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64" r:id="rId5"/>
    <p:sldId id="261" r:id="rId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snapToGrid="0">
      <p:cViewPr varScale="1">
        <p:scale>
          <a:sx n="106" d="100"/>
          <a:sy n="106" d="100"/>
        </p:scale>
        <p:origin x="6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7EB8D7-920A-0CAF-D256-16FD8C6FD71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10D46E3-703E-048A-4B32-C1EEDB0853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86041471-A141-1C5B-0855-58B01C05F376}"/>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41E0BB1E-F10E-4402-8794-F2A10173DB8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DBA5D7A-2FB8-6F1E-D669-F872F5F52452}"/>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2893655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A6DFF9-D5F9-548D-2ADC-043A661F198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73AFEBB5-FAE4-A728-3771-9938221FB7A1}"/>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B1C7EAF-81A4-7401-CFE0-BD2EC74D16E4}"/>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0C5EE8A9-ACA9-D8CC-76DC-71353AD51CC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846A3E3-4711-CC40-4FC2-EFB324370623}"/>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478778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D3A685-304E-7548-2EF1-5ADE039E96A4}"/>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7534C0FC-F935-552A-A6D2-8044DC8C47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4C3D423-F281-4778-CE55-4CB342927C88}"/>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49D2EC2F-B20C-CBB3-ED2D-BAFC0FAE624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6687A33-A21C-6648-9636-3AAAF8C4A619}"/>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516718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E93780-6E69-7F52-EE52-FF4FFA08A61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22CA0F8-61C2-F49A-CC83-721E08C00DB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7E01F04-6F20-BB49-91CC-D194B388AC9E}"/>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6C539CB7-B91B-6A72-6EA2-BC3AAE962B04}"/>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18AA472B-EE7F-7795-A46D-D8BB7692143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62943DE-FAF4-52E8-92A7-C823A7CF970E}"/>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4214247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D6054B-9F11-E0C3-65EB-D9B6D26C83A1}"/>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240325F0-57C1-8207-4037-D55B398092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CAE56CB0-A2E1-D717-EA18-BF81D23415D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68292034-68DD-FB9E-43B9-D0895AECAC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3FC4839-C417-0BD9-6AD1-1E0BC68B1E44}"/>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E4AD5F96-0C35-84BB-85FB-5AC3B7D4C12A}"/>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8" name="Нижний колонтитул 7">
            <a:extLst>
              <a:ext uri="{FF2B5EF4-FFF2-40B4-BE49-F238E27FC236}">
                <a16:creationId xmlns:a16="http://schemas.microsoft.com/office/drawing/2014/main" id="{2E786C79-1762-6230-C563-948AACC2297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0BFF044-8641-0B0B-C330-9F695BC1F4CC}"/>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071087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49919E-CF95-DDAE-C37C-E7C2EBB938C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179DB8A-B329-780F-A6C5-28EDCA75E99E}"/>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4" name="Нижний колонтитул 3">
            <a:extLst>
              <a:ext uri="{FF2B5EF4-FFF2-40B4-BE49-F238E27FC236}">
                <a16:creationId xmlns:a16="http://schemas.microsoft.com/office/drawing/2014/main" id="{299278C6-76B2-04B9-35D0-7254477E4D7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0FD0389-7078-AD2D-35E6-3644224C9447}"/>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872851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CC81D0BA-FD6F-98DB-950F-0B670FE439B4}"/>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3" name="Нижний колонтитул 2">
            <a:extLst>
              <a:ext uri="{FF2B5EF4-FFF2-40B4-BE49-F238E27FC236}">
                <a16:creationId xmlns:a16="http://schemas.microsoft.com/office/drawing/2014/main" id="{9F43BE65-2764-90B3-4FBF-DD8FD3F4230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4A063D50-6D91-8C0C-852E-BA086003091A}"/>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4092818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A523B4-566B-650E-E3A1-BEDD37E2AE2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4D134781-F029-6A98-E8ED-C9521E5CD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91668D60-5DF2-6907-50FC-6AC0852677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3C601F7-835A-96EE-3B3B-77E1C3E99B3A}"/>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5886822D-DDB0-9CF2-8EB4-E46C355806C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84331B5-BA0F-BC36-89E9-946C69D1C396}"/>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103778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2C0D48-E1BB-391F-4FD7-DD8327004A8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A689D6C5-2424-1220-404F-6DC77F650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A1B75F05-4999-57A0-A8F5-8ACC08ACB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011A8F-C45B-76ED-FD7D-E62DAD2352C3}"/>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E93A7CED-FAEA-3227-3A1B-879387FC0CA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D1CE9B8-990E-56BB-1257-5C56835AB55A}"/>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2031840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5106-3EF8-D91E-A457-87AC1B476511}"/>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D17AFFD7-CC84-4D18-3551-1C58BFB5C25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2731DC2-CAA4-6C75-3ACA-FFCBF7313F7F}"/>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949CE007-003B-C718-4A31-A90CA5B450B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F7D2372-E5E1-8AB1-4CEE-8CE7EA54BC3E}"/>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940723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9039879-7E4F-8581-F489-E919C5916158}"/>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3CE8535-CEC7-2A59-16C1-5ABEC802F473}"/>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B5D9CBE-830E-5599-A872-6B3957579244}"/>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0ECCA098-E4EE-528B-6AAA-C21EBEC42B0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CE247D3-CB42-3954-E0BE-77243A80B5BA}"/>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85824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2BE39-C01A-2724-F259-88909CBD2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22EC80B-BB2A-18AA-E57D-DD7A1F57D2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23E21FC-DDC6-F180-8676-9797EBABB6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410E3E4C-51A0-A6AB-B48D-DC724E69B4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D4B87712-F17E-D78F-0381-D91BF6E3A5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9173B1-EC1E-423B-8025-08A795D3FA83}" type="slidenum">
              <a:rPr lang="ru-RU" smtClean="0"/>
              <a:t>‹#›</a:t>
            </a:fld>
            <a:endParaRPr lang="ru-RU"/>
          </a:p>
        </p:txBody>
      </p:sp>
    </p:spTree>
    <p:extLst>
      <p:ext uri="{BB962C8B-B14F-4D97-AF65-F5344CB8AC3E}">
        <p14:creationId xmlns:p14="http://schemas.microsoft.com/office/powerpoint/2010/main" val="335909551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9B358B5E-2BFB-DBDE-D00F-7117B3462405}"/>
              </a:ext>
            </a:extLst>
          </p:cNvPr>
          <p:cNvSpPr>
            <a:spLocks noGrp="1"/>
          </p:cNvSpPr>
          <p:nvPr>
            <p:ph type="ctrTitle"/>
          </p:nvPr>
        </p:nvSpPr>
        <p:spPr>
          <a:xfrm>
            <a:off x="704850" y="500514"/>
            <a:ext cx="10782300" cy="3089709"/>
          </a:xfrm>
        </p:spPr>
        <p:txBody>
          <a:bodyPr>
            <a:normAutofit fontScale="90000"/>
          </a:bodyPr>
          <a:lstStyle/>
          <a:p>
            <a:pPr algn="ctr"/>
            <a:r>
              <a:rPr kumimoji="0" lang="ru-RU" sz="2800" b="1" i="0" u="none" strike="noStrike" kern="1200" cap="none" spc="-1" normalizeH="0" baseline="0" noProof="0" dirty="0">
                <a:ln>
                  <a:noFill/>
                </a:ln>
                <a:solidFill>
                  <a:schemeClr val="tx1"/>
                </a:solidFill>
                <a:effectLst/>
                <a:uLnTx/>
                <a:uFillTx/>
                <a:ea typeface="DejaVu Sans"/>
                <a:cs typeface="+mj-cs"/>
              </a:rPr>
              <a:t>ФГБОУ ВО «Кубанский государственный технологический университет»</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(ФГБОУ ВО «</a:t>
            </a:r>
            <a:r>
              <a:rPr kumimoji="0" lang="ru-RU" sz="2800" b="1" i="0" u="none" strike="noStrike" kern="1200" cap="none" spc="-1" normalizeH="0" baseline="0" noProof="0" dirty="0" err="1">
                <a:ln>
                  <a:noFill/>
                </a:ln>
                <a:solidFill>
                  <a:schemeClr val="tx1"/>
                </a:solidFill>
                <a:effectLst/>
                <a:uLnTx/>
                <a:uFillTx/>
                <a:ea typeface="DejaVu Sans"/>
                <a:cs typeface="+mj-cs"/>
              </a:rPr>
              <a:t>КубГТУ</a:t>
            </a:r>
            <a:r>
              <a:rPr kumimoji="0" lang="ru-RU" sz="2800" b="1" i="0" u="none" strike="noStrike" kern="1200" cap="none" spc="-1" normalizeH="0" baseline="0" noProof="0" dirty="0">
                <a:ln>
                  <a:noFill/>
                </a:ln>
                <a:solidFill>
                  <a:schemeClr val="tx1"/>
                </a:solidFill>
                <a:effectLst/>
                <a:uLnTx/>
                <a:uFillTx/>
                <a:ea typeface="DejaVu Sans"/>
                <a:cs typeface="+mj-cs"/>
              </a:rPr>
              <a:t>»)</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Факультет: Информационных технологий и кибербезопасности</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Кафедра: Информационных систем и программирования</a:t>
            </a:r>
            <a:br>
              <a:rPr kumimoji="0" lang="ru-RU" sz="2800" b="1" i="0" u="none" strike="noStrike" kern="1200" cap="none" spc="-1" normalizeH="0" baseline="0" noProof="0" dirty="0">
                <a:ln>
                  <a:noFill/>
                </a:ln>
                <a:solidFill>
                  <a:schemeClr val="tx1"/>
                </a:solidFill>
                <a:effectLst/>
                <a:uLnTx/>
                <a:uFillTx/>
                <a:ea typeface="DejaVu Sans"/>
                <a:cs typeface="+mj-cs"/>
              </a:rPr>
            </a:br>
            <a:br>
              <a:rPr kumimoji="0" lang="ru-RU" sz="2800" b="1" i="0" u="none" strike="noStrike" kern="1200" cap="none" spc="-1" normalizeH="0" baseline="0" noProof="0" dirty="0">
                <a:ln>
                  <a:noFill/>
                </a:ln>
                <a:solidFill>
                  <a:schemeClr val="tx1"/>
                </a:solidFill>
                <a:effectLst/>
                <a:uLnTx/>
                <a:uFillTx/>
                <a:ea typeface="DejaVu Sans"/>
                <a:cs typeface="+mj-cs"/>
              </a:rPr>
            </a:br>
            <a:r>
              <a:rPr lang="ru-RU" sz="2800" b="1" spc="-1" dirty="0">
                <a:solidFill>
                  <a:schemeClr val="tx1"/>
                </a:solidFill>
                <a:ea typeface="DejaVu Sans"/>
              </a:rPr>
              <a:t>РАЗРАБОТКА ВЕБ-ПРИЛОЖЕНИЙ</a:t>
            </a:r>
            <a:br>
              <a:rPr kumimoji="0" lang="en-US" sz="2800" b="1" i="0" u="none" strike="noStrike" kern="1200" cap="none" spc="-1" normalizeH="0" baseline="0" noProof="0" dirty="0">
                <a:ln>
                  <a:noFill/>
                </a:ln>
                <a:solidFill>
                  <a:schemeClr val="tx1"/>
                </a:solidFill>
                <a:effectLst/>
                <a:uLnTx/>
                <a:uFillTx/>
                <a:ea typeface="DejaVu Sans"/>
                <a:cs typeface="+mj-cs"/>
              </a:rPr>
            </a:br>
            <a:br>
              <a:rPr kumimoji="0" lang="ru-RU" sz="2800" b="1" i="0" u="none" strike="noStrike" kern="1200" cap="none" spc="-1" normalizeH="0" baseline="0" noProof="0" dirty="0">
                <a:ln>
                  <a:noFill/>
                </a:ln>
                <a:solidFill>
                  <a:schemeClr val="tx1"/>
                </a:solidFill>
                <a:effectLst/>
                <a:uLnTx/>
                <a:uFillTx/>
                <a:ea typeface="DejaVu Sans"/>
                <a:cs typeface="+mj-cs"/>
              </a:rPr>
            </a:br>
            <a:r>
              <a:rPr kumimoji="0" lang="ru-RU" sz="2800" b="1" i="0" u="none" strike="noStrike" kern="1200" cap="none" spc="-1" normalizeH="0" baseline="0" noProof="0" dirty="0">
                <a:ln>
                  <a:noFill/>
                </a:ln>
                <a:solidFill>
                  <a:schemeClr val="tx1"/>
                </a:solidFill>
                <a:effectLst/>
                <a:uLnTx/>
                <a:uFillTx/>
                <a:ea typeface="DejaVu Sans"/>
                <a:cs typeface="+mj-cs"/>
              </a:rPr>
              <a:t>ЛАБОРАТОРНАЯ РАБОТА №</a:t>
            </a:r>
            <a:r>
              <a:rPr lang="en-US" sz="2800" b="1" spc="-1" dirty="0">
                <a:solidFill>
                  <a:schemeClr val="tx1"/>
                </a:solidFill>
                <a:ea typeface="DejaVu Sans"/>
              </a:rPr>
              <a:t>10</a:t>
            </a:r>
            <a:br>
              <a:rPr kumimoji="0" lang="ru-RU" sz="2800" b="1" i="0" u="none" strike="noStrike" kern="1200" cap="none" spc="-1" normalizeH="0" baseline="0" noProof="0" dirty="0">
                <a:ln>
                  <a:noFill/>
                </a:ln>
                <a:solidFill>
                  <a:schemeClr val="tx1"/>
                </a:solidFill>
                <a:effectLst/>
                <a:uLnTx/>
                <a:uFillTx/>
                <a:ea typeface="DejaVu Sans"/>
                <a:cs typeface="+mj-cs"/>
              </a:rPr>
            </a:br>
            <a:r>
              <a:rPr kumimoji="0" lang="ru-RU" sz="2800" b="1" i="0" u="none" strike="noStrike" kern="1200" cap="none" spc="-1" normalizeH="0" baseline="0" noProof="0" dirty="0">
                <a:ln>
                  <a:noFill/>
                </a:ln>
                <a:solidFill>
                  <a:schemeClr val="tx1"/>
                </a:solidFill>
                <a:effectLst/>
                <a:uLnTx/>
                <a:uFillTx/>
                <a:ea typeface="DejaVu Sans"/>
                <a:cs typeface="+mj-cs"/>
              </a:rPr>
              <a:t>Основы </a:t>
            </a:r>
            <a:r>
              <a:rPr kumimoji="0" lang="en-US" sz="2800" b="1" i="0" u="none" strike="noStrike" kern="1200" cap="none" spc="-1" normalizeH="0" baseline="0" noProof="0" dirty="0">
                <a:ln>
                  <a:noFill/>
                </a:ln>
                <a:solidFill>
                  <a:schemeClr val="tx1"/>
                </a:solidFill>
                <a:effectLst/>
                <a:uLnTx/>
                <a:uFillTx/>
                <a:ea typeface="DejaVu Sans"/>
                <a:cs typeface="+mj-cs"/>
              </a:rPr>
              <a:t>JavaScript</a:t>
            </a:r>
            <a:r>
              <a:rPr lang="en-US" sz="2800" b="1" spc="-1" dirty="0">
                <a:solidFill>
                  <a:schemeClr val="tx1"/>
                </a:solidFill>
                <a:ea typeface="DejaVu Sans"/>
              </a:rPr>
              <a:t>.</a:t>
            </a:r>
            <a:endParaRPr lang="ru-RU" sz="11500" b="1" dirty="0">
              <a:solidFill>
                <a:schemeClr val="tx1"/>
              </a:solidFill>
            </a:endParaRPr>
          </a:p>
        </p:txBody>
      </p:sp>
      <p:sp>
        <p:nvSpPr>
          <p:cNvPr id="3" name="Подзаголовок 2">
            <a:extLst>
              <a:ext uri="{FF2B5EF4-FFF2-40B4-BE49-F238E27FC236}">
                <a16:creationId xmlns:a16="http://schemas.microsoft.com/office/drawing/2014/main" id="{E9D05EC2-26A9-7905-4B24-EED6B564805B}"/>
              </a:ext>
            </a:extLst>
          </p:cNvPr>
          <p:cNvSpPr>
            <a:spLocks noGrp="1"/>
          </p:cNvSpPr>
          <p:nvPr>
            <p:ph type="subTitle" idx="1"/>
          </p:nvPr>
        </p:nvSpPr>
        <p:spPr>
          <a:xfrm>
            <a:off x="2582939" y="4659264"/>
            <a:ext cx="9228201" cy="1645920"/>
          </a:xfrm>
        </p:spPr>
        <p:txBody>
          <a:bodyPr>
            <a:normAutofit fontScale="92500" lnSpcReduction="10000"/>
          </a:bodyPr>
          <a:lstStyle/>
          <a:p>
            <a:pPr algn="r"/>
            <a:r>
              <a:rPr lang="ru-RU" dirty="0">
                <a:solidFill>
                  <a:schemeClr val="tx1"/>
                </a:solidFill>
              </a:rPr>
              <a:t>Выполнил студент 23-КБ-ПР3</a:t>
            </a:r>
          </a:p>
          <a:p>
            <a:pPr algn="r"/>
            <a:r>
              <a:rPr lang="ru-RU" dirty="0">
                <a:solidFill>
                  <a:schemeClr val="tx1"/>
                </a:solidFill>
              </a:rPr>
              <a:t>Давков Ярослав</a:t>
            </a:r>
          </a:p>
          <a:p>
            <a:pPr algn="r"/>
            <a:r>
              <a:rPr lang="ru-RU" dirty="0">
                <a:solidFill>
                  <a:schemeClr val="tx1"/>
                </a:solidFill>
              </a:rPr>
              <a:t>Проверил </a:t>
            </a:r>
            <a:r>
              <a:rPr lang="ru-RU" spc="-1" dirty="0" err="1">
                <a:solidFill>
                  <a:schemeClr val="tx1"/>
                </a:solidFill>
                <a:ea typeface="DejaVu Sans"/>
              </a:rPr>
              <a:t>ст</a:t>
            </a:r>
            <a:r>
              <a:rPr lang="en-US" spc="-1" dirty="0">
                <a:solidFill>
                  <a:schemeClr val="tx1"/>
                </a:solidFill>
                <a:ea typeface="DejaVu Sans"/>
              </a:rPr>
              <a:t>.</a:t>
            </a:r>
            <a:r>
              <a:rPr lang="ru-RU" spc="-1" dirty="0">
                <a:solidFill>
                  <a:schemeClr val="tx1"/>
                </a:solidFill>
                <a:ea typeface="DejaVu Sans"/>
              </a:rPr>
              <a:t> преподаватель </a:t>
            </a:r>
          </a:p>
          <a:p>
            <a:pPr algn="r"/>
            <a:r>
              <a:rPr lang="ru-RU" spc="-1" dirty="0">
                <a:solidFill>
                  <a:schemeClr val="tx1"/>
                </a:solidFill>
                <a:ea typeface="DejaVu Sans"/>
              </a:rPr>
              <a:t>Кушнир Надежда Владимировна</a:t>
            </a:r>
            <a:endParaRPr lang="ru-RU" dirty="0">
              <a:solidFill>
                <a:schemeClr val="tx1"/>
              </a:solidFill>
            </a:endParaRPr>
          </a:p>
          <a:p>
            <a:endParaRPr lang="ru-RU" dirty="0">
              <a:solidFill>
                <a:schemeClr val="tx1"/>
              </a:solidFill>
            </a:endParaRPr>
          </a:p>
        </p:txBody>
      </p:sp>
    </p:spTree>
    <p:extLst>
      <p:ext uri="{BB962C8B-B14F-4D97-AF65-F5344CB8AC3E}">
        <p14:creationId xmlns:p14="http://schemas.microsoft.com/office/powerpoint/2010/main" val="2284259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91EDE4-BCF3-95EA-4CB8-49B1DC9B3B7B}"/>
              </a:ext>
            </a:extLst>
          </p:cNvPr>
          <p:cNvSpPr>
            <a:spLocks noGrp="1"/>
          </p:cNvSpPr>
          <p:nvPr>
            <p:ph type="title"/>
          </p:nvPr>
        </p:nvSpPr>
        <p:spPr>
          <a:xfrm>
            <a:off x="261933" y="0"/>
            <a:ext cx="10772775" cy="1658198"/>
          </a:xfrm>
        </p:spPr>
        <p:txBody>
          <a:bodyPr/>
          <a:lstStyle/>
          <a:p>
            <a:r>
              <a:rPr lang="ru-RU" dirty="0"/>
              <a:t>Цель работы и задания</a:t>
            </a:r>
          </a:p>
        </p:txBody>
      </p:sp>
      <p:sp>
        <p:nvSpPr>
          <p:cNvPr id="3" name="Объект 2">
            <a:extLst>
              <a:ext uri="{FF2B5EF4-FFF2-40B4-BE49-F238E27FC236}">
                <a16:creationId xmlns:a16="http://schemas.microsoft.com/office/drawing/2014/main" id="{5E1C9885-6667-6B03-04C5-B8F6DD4EB99C}"/>
              </a:ext>
            </a:extLst>
          </p:cNvPr>
          <p:cNvSpPr>
            <a:spLocks noGrp="1"/>
          </p:cNvSpPr>
          <p:nvPr>
            <p:ph idx="1"/>
          </p:nvPr>
        </p:nvSpPr>
        <p:spPr>
          <a:xfrm>
            <a:off x="261933" y="1520417"/>
            <a:ext cx="11756910" cy="639192"/>
          </a:xfrm>
        </p:spPr>
        <p:txBody>
          <a:bodyPr>
            <a:normAutofit lnSpcReduction="10000"/>
          </a:bodyPr>
          <a:lstStyle/>
          <a:p>
            <a:r>
              <a:rPr lang="ru-RU" sz="2000" dirty="0"/>
              <a:t>Цель работы</a:t>
            </a:r>
            <a:r>
              <a:rPr lang="en-US" sz="2000" dirty="0"/>
              <a:t>:</a:t>
            </a:r>
            <a:r>
              <a:rPr lang="ru-RU" sz="2000" dirty="0"/>
              <a:t> Создать первый скрипт и ознакомится с основами создания и размещения JavaScript на веб-странице. </a:t>
            </a:r>
            <a:endParaRPr lang="en-US" sz="2000" dirty="0"/>
          </a:p>
        </p:txBody>
      </p:sp>
      <p:sp>
        <p:nvSpPr>
          <p:cNvPr id="4" name="Объект 2">
            <a:extLst>
              <a:ext uri="{FF2B5EF4-FFF2-40B4-BE49-F238E27FC236}">
                <a16:creationId xmlns:a16="http://schemas.microsoft.com/office/drawing/2014/main" id="{59766D13-22DE-4951-8B9C-AF6ECFACB0D8}"/>
              </a:ext>
            </a:extLst>
          </p:cNvPr>
          <p:cNvSpPr txBox="1">
            <a:spLocks/>
          </p:cNvSpPr>
          <p:nvPr/>
        </p:nvSpPr>
        <p:spPr>
          <a:xfrm>
            <a:off x="358186" y="2406316"/>
            <a:ext cx="11660657" cy="4089382"/>
          </a:xfrm>
          <a:prstGeom prst="rect">
            <a:avLst/>
          </a:prstGeom>
        </p:spPr>
        <p:txBody>
          <a:bodyPr vert="horz" lIns="91440" tIns="45720" rIns="91440" bIns="45720" rtlCol="0">
            <a:no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spcBef>
                <a:spcPts val="200"/>
              </a:spcBef>
              <a:buNone/>
            </a:pPr>
            <a:r>
              <a:rPr lang="ru-RU" sz="1800" dirty="0">
                <a:cs typeface="Times New Roman" panose="02020603050405020304" pitchFamily="18" charset="0"/>
              </a:rPr>
              <a:t>Задание 1. Выполните задание по варианту</a:t>
            </a:r>
            <a:endParaRPr lang="en-US" sz="1800" dirty="0">
              <a:cs typeface="Times New Roman" panose="02020603050405020304" pitchFamily="18" charset="0"/>
            </a:endParaRPr>
          </a:p>
          <a:p>
            <a:pPr marL="0" indent="0">
              <a:spcBef>
                <a:spcPts val="200"/>
              </a:spcBef>
              <a:buNone/>
            </a:pPr>
            <a:r>
              <a:rPr lang="ru-RU" sz="1800" dirty="0">
                <a:cs typeface="Times New Roman" panose="02020603050405020304" pitchFamily="18" charset="0"/>
              </a:rPr>
              <a:t>Валидация введенных данных: проверка, чтобы пользователь не оставил поля пустыми. Если поле не заполнено, функция должна предложить ввести данные повторно, пока они не будут введены. Окно предупреждения (</a:t>
            </a:r>
            <a:r>
              <a:rPr lang="ru-RU" sz="1800" dirty="0" err="1">
                <a:cs typeface="Times New Roman" panose="02020603050405020304" pitchFamily="18" charset="0"/>
              </a:rPr>
              <a:t>alert</a:t>
            </a:r>
            <a:r>
              <a:rPr lang="ru-RU" sz="1800" dirty="0">
                <a:cs typeface="Times New Roman" panose="02020603050405020304" pitchFamily="18" charset="0"/>
              </a:rPr>
              <a:t>): после успешного ввода имени и отчества, функция должна вызвать окно предупреждения с персонализированным приветствием, включающим имя и отчество пользователя. Пример: "Hello, [Имя] [Отчество], Welcome </a:t>
            </a:r>
            <a:r>
              <a:rPr lang="ru-RU" sz="1800" dirty="0" err="1">
                <a:cs typeface="Times New Roman" panose="02020603050405020304" pitchFamily="18" charset="0"/>
              </a:rPr>
              <a:t>to</a:t>
            </a:r>
            <a:r>
              <a:rPr lang="ru-RU" sz="1800" dirty="0">
                <a:cs typeface="Times New Roman" panose="02020603050405020304" pitchFamily="18" charset="0"/>
              </a:rPr>
              <a:t> </a:t>
            </a:r>
            <a:r>
              <a:rPr lang="ru-RU" sz="1800" dirty="0" err="1">
                <a:cs typeface="Times New Roman" panose="02020603050405020304" pitchFamily="18" charset="0"/>
              </a:rPr>
              <a:t>web</a:t>
            </a:r>
            <a:r>
              <a:rPr lang="ru-RU" sz="1800" dirty="0">
                <a:cs typeface="Times New Roman" panose="02020603050405020304" pitchFamily="18" charset="0"/>
              </a:rPr>
              <a:t> </a:t>
            </a:r>
            <a:r>
              <a:rPr lang="ru-RU" sz="1800" dirty="0" err="1">
                <a:cs typeface="Times New Roman" panose="02020603050405020304" pitchFamily="18" charset="0"/>
              </a:rPr>
              <a:t>page</a:t>
            </a:r>
            <a:r>
              <a:rPr lang="ru-RU" sz="1800" dirty="0">
                <a:cs typeface="Times New Roman" panose="02020603050405020304" pitchFamily="18" charset="0"/>
              </a:rPr>
              <a:t>, </a:t>
            </a:r>
            <a:r>
              <a:rPr lang="ru-RU" sz="1800" dirty="0" err="1">
                <a:cs typeface="Times New Roman" panose="02020603050405020304" pitchFamily="18" charset="0"/>
              </a:rPr>
              <a:t>it’s</a:t>
            </a:r>
            <a:r>
              <a:rPr lang="ru-RU" sz="1800" dirty="0">
                <a:cs typeface="Times New Roman" panose="02020603050405020304" pitchFamily="18" charset="0"/>
              </a:rPr>
              <a:t> a </a:t>
            </a:r>
            <a:r>
              <a:rPr lang="ru-RU" sz="1800" dirty="0" err="1">
                <a:cs typeface="Times New Roman" panose="02020603050405020304" pitchFamily="18" charset="0"/>
              </a:rPr>
              <a:t>great</a:t>
            </a:r>
            <a:r>
              <a:rPr lang="ru-RU" sz="1800" dirty="0">
                <a:cs typeface="Times New Roman" panose="02020603050405020304" pitchFamily="18" charset="0"/>
              </a:rPr>
              <a:t> </a:t>
            </a:r>
            <a:r>
              <a:rPr lang="ru-RU" sz="1800" dirty="0" err="1">
                <a:cs typeface="Times New Roman" panose="02020603050405020304" pitchFamily="18" charset="0"/>
              </a:rPr>
              <a:t>site</a:t>
            </a:r>
            <a:r>
              <a:rPr lang="ru-RU" sz="1800" dirty="0">
                <a:cs typeface="Times New Roman" panose="02020603050405020304" pitchFamily="18" charset="0"/>
              </a:rPr>
              <a:t> WWW!" Возможность отмены: пользователь должен иметь возможность отменить ввод данных в любой момент, и в этом случае функция не должна вызывать окно предупреждения.</a:t>
            </a:r>
            <a:endParaRPr lang="en-US" sz="1800" dirty="0">
              <a:cs typeface="Times New Roman" panose="02020603050405020304" pitchFamily="18" charset="0"/>
            </a:endParaRPr>
          </a:p>
        </p:txBody>
      </p:sp>
    </p:spTree>
    <p:extLst>
      <p:ext uri="{BB962C8B-B14F-4D97-AF65-F5344CB8AC3E}">
        <p14:creationId xmlns:p14="http://schemas.microsoft.com/office/powerpoint/2010/main" val="417124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06C4D4-2291-C2E3-D7D0-EAD07466130B}"/>
              </a:ext>
            </a:extLst>
          </p:cNvPr>
          <p:cNvSpPr>
            <a:spLocks noGrp="1"/>
          </p:cNvSpPr>
          <p:nvPr>
            <p:ph type="title"/>
          </p:nvPr>
        </p:nvSpPr>
        <p:spPr>
          <a:xfrm>
            <a:off x="409074" y="93600"/>
            <a:ext cx="9365241" cy="1113763"/>
          </a:xfrm>
        </p:spPr>
        <p:txBody>
          <a:bodyPr/>
          <a:lstStyle/>
          <a:p>
            <a:r>
              <a:rPr lang="ru-RU" dirty="0"/>
              <a:t>Ход работы</a:t>
            </a:r>
            <a:r>
              <a:rPr lang="en-US" dirty="0"/>
              <a:t>. </a:t>
            </a:r>
            <a:r>
              <a:rPr lang="ru-RU" dirty="0"/>
              <a:t>Задание 1</a:t>
            </a:r>
          </a:p>
        </p:txBody>
      </p:sp>
      <p:pic>
        <p:nvPicPr>
          <p:cNvPr id="4" name="Рисунок 3" descr="Изображение выглядит как текст, снимок экрана, мультимедиа, гаджет&#10;&#10;Содержимое, созданное искусственным интеллектом, может быть неверным.">
            <a:extLst>
              <a:ext uri="{FF2B5EF4-FFF2-40B4-BE49-F238E27FC236}">
                <a16:creationId xmlns:a16="http://schemas.microsoft.com/office/drawing/2014/main" id="{C8D9E622-86DC-A88F-7498-E36DCCEFC981}"/>
              </a:ext>
            </a:extLst>
          </p:cNvPr>
          <p:cNvPicPr>
            <a:picLocks noChangeAspect="1"/>
          </p:cNvPicPr>
          <p:nvPr/>
        </p:nvPicPr>
        <p:blipFill>
          <a:blip r:embed="rId2"/>
          <a:stretch>
            <a:fillRect/>
          </a:stretch>
        </p:blipFill>
        <p:spPr>
          <a:xfrm>
            <a:off x="409074" y="1248571"/>
            <a:ext cx="4533900" cy="2028825"/>
          </a:xfrm>
          <a:prstGeom prst="rect">
            <a:avLst/>
          </a:prstGeom>
        </p:spPr>
      </p:pic>
      <p:pic>
        <p:nvPicPr>
          <p:cNvPr id="6" name="Рисунок 5" descr="Изображение выглядит как текст, снимок экрана, мультимедиа, Операционная система&#10;&#10;Содержимое, созданное искусственным интеллектом, может быть неверным.">
            <a:extLst>
              <a:ext uri="{FF2B5EF4-FFF2-40B4-BE49-F238E27FC236}">
                <a16:creationId xmlns:a16="http://schemas.microsoft.com/office/drawing/2014/main" id="{89ED2A4B-70FD-2C89-ABCC-661C371BD24F}"/>
              </a:ext>
            </a:extLst>
          </p:cNvPr>
          <p:cNvPicPr>
            <a:picLocks noChangeAspect="1"/>
          </p:cNvPicPr>
          <p:nvPr/>
        </p:nvPicPr>
        <p:blipFill>
          <a:blip r:embed="rId3"/>
          <a:stretch>
            <a:fillRect/>
          </a:stretch>
        </p:blipFill>
        <p:spPr>
          <a:xfrm>
            <a:off x="5645218" y="1200945"/>
            <a:ext cx="4676775" cy="2124075"/>
          </a:xfrm>
          <a:prstGeom prst="rect">
            <a:avLst/>
          </a:prstGeom>
        </p:spPr>
      </p:pic>
      <p:pic>
        <p:nvPicPr>
          <p:cNvPr id="8" name="Рисунок 7" descr="Изображение выглядит как текст, снимок экрана, мультимедиа, Операционная система&#10;&#10;Содержимое, созданное искусственным интеллектом, может быть неверным.">
            <a:extLst>
              <a:ext uri="{FF2B5EF4-FFF2-40B4-BE49-F238E27FC236}">
                <a16:creationId xmlns:a16="http://schemas.microsoft.com/office/drawing/2014/main" id="{805E76B0-9DD8-8E38-B038-841E6B8DD319}"/>
              </a:ext>
            </a:extLst>
          </p:cNvPr>
          <p:cNvPicPr>
            <a:picLocks noChangeAspect="1"/>
          </p:cNvPicPr>
          <p:nvPr/>
        </p:nvPicPr>
        <p:blipFill>
          <a:blip r:embed="rId4"/>
          <a:stretch>
            <a:fillRect/>
          </a:stretch>
        </p:blipFill>
        <p:spPr>
          <a:xfrm>
            <a:off x="380499" y="4268635"/>
            <a:ext cx="4591050" cy="1743075"/>
          </a:xfrm>
          <a:prstGeom prst="rect">
            <a:avLst/>
          </a:prstGeom>
        </p:spPr>
      </p:pic>
      <p:pic>
        <p:nvPicPr>
          <p:cNvPr id="11" name="Рисунок 10" descr="Изображение выглядит как текст, Шрифт, снимок экрана&#10;&#10;Содержимое, созданное искусственным интеллектом, может быть неверным.">
            <a:extLst>
              <a:ext uri="{FF2B5EF4-FFF2-40B4-BE49-F238E27FC236}">
                <a16:creationId xmlns:a16="http://schemas.microsoft.com/office/drawing/2014/main" id="{23D68ECB-DB1B-E03A-15F0-CB6638F3FEC0}"/>
              </a:ext>
            </a:extLst>
          </p:cNvPr>
          <p:cNvPicPr>
            <a:picLocks noChangeAspect="1"/>
          </p:cNvPicPr>
          <p:nvPr/>
        </p:nvPicPr>
        <p:blipFill>
          <a:blip r:embed="rId5"/>
          <a:stretch>
            <a:fillRect/>
          </a:stretch>
        </p:blipFill>
        <p:spPr>
          <a:xfrm>
            <a:off x="6096000" y="4605337"/>
            <a:ext cx="4581525" cy="1304925"/>
          </a:xfrm>
          <a:prstGeom prst="rect">
            <a:avLst/>
          </a:prstGeom>
        </p:spPr>
      </p:pic>
    </p:spTree>
    <p:extLst>
      <p:ext uri="{BB962C8B-B14F-4D97-AF65-F5344CB8AC3E}">
        <p14:creationId xmlns:p14="http://schemas.microsoft.com/office/powerpoint/2010/main" val="1603698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06C4D4-2291-C2E3-D7D0-EAD07466130B}"/>
              </a:ext>
            </a:extLst>
          </p:cNvPr>
          <p:cNvSpPr>
            <a:spLocks noGrp="1"/>
          </p:cNvSpPr>
          <p:nvPr>
            <p:ph type="title"/>
          </p:nvPr>
        </p:nvSpPr>
        <p:spPr>
          <a:xfrm>
            <a:off x="409074" y="93600"/>
            <a:ext cx="9365241" cy="1113763"/>
          </a:xfrm>
        </p:spPr>
        <p:txBody>
          <a:bodyPr/>
          <a:lstStyle/>
          <a:p>
            <a:r>
              <a:rPr lang="ru-RU" dirty="0"/>
              <a:t>Ход работы. Задание </a:t>
            </a:r>
            <a:r>
              <a:rPr lang="en-US" dirty="0"/>
              <a:t>1</a:t>
            </a:r>
            <a:endParaRPr lang="ru-RU" dirty="0"/>
          </a:p>
        </p:txBody>
      </p:sp>
      <p:sp>
        <p:nvSpPr>
          <p:cNvPr id="3" name="Объект 2">
            <a:extLst>
              <a:ext uri="{FF2B5EF4-FFF2-40B4-BE49-F238E27FC236}">
                <a16:creationId xmlns:a16="http://schemas.microsoft.com/office/drawing/2014/main" id="{A6966A71-BBCC-E9A0-C026-AA1C37329180}"/>
              </a:ext>
            </a:extLst>
          </p:cNvPr>
          <p:cNvSpPr>
            <a:spLocks noGrp="1"/>
          </p:cNvSpPr>
          <p:nvPr>
            <p:ph idx="1"/>
          </p:nvPr>
        </p:nvSpPr>
        <p:spPr>
          <a:xfrm>
            <a:off x="293571" y="1140594"/>
            <a:ext cx="11503373" cy="5717406"/>
          </a:xfrm>
        </p:spPr>
        <p:txBody>
          <a:bodyPr>
            <a:normAutofit fontScale="400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ЛР10. Валидация и приветствие&lt;/</a:t>
            </a:r>
            <a:r>
              <a:rPr lang="en-US" dirty="0"/>
              <a:t>title&gt;</a:t>
            </a:r>
          </a:p>
          <a:p>
            <a:pPr marL="0">
              <a:spcBef>
                <a:spcPts val="0"/>
              </a:spcBef>
            </a:pPr>
            <a:r>
              <a:rPr lang="en-US" dirty="0"/>
              <a:t>  &lt;script&gt;</a:t>
            </a:r>
          </a:p>
          <a:p>
            <a:pPr marL="0">
              <a:spcBef>
                <a:spcPts val="0"/>
              </a:spcBef>
            </a:pPr>
            <a:r>
              <a:rPr lang="en-US" dirty="0"/>
              <a:t>    function </a:t>
            </a:r>
            <a:r>
              <a:rPr lang="en-US" dirty="0" err="1"/>
              <a:t>askUser</a:t>
            </a:r>
            <a:r>
              <a:rPr lang="en-US" dirty="0"/>
              <a:t>() {</a:t>
            </a:r>
          </a:p>
          <a:p>
            <a:pPr marL="0">
              <a:spcBef>
                <a:spcPts val="0"/>
              </a:spcBef>
            </a:pPr>
            <a:r>
              <a:rPr lang="en-US" dirty="0"/>
              <a:t>      let name, patronymic;</a:t>
            </a:r>
          </a:p>
          <a:p>
            <a:pPr marL="0">
              <a:spcBef>
                <a:spcPts val="0"/>
              </a:spcBef>
            </a:pPr>
            <a:endParaRPr lang="en-US" dirty="0"/>
          </a:p>
          <a:p>
            <a:pPr marL="0">
              <a:spcBef>
                <a:spcPts val="0"/>
              </a:spcBef>
            </a:pPr>
            <a:r>
              <a:rPr lang="en-US" dirty="0"/>
              <a:t>      while (true) {</a:t>
            </a:r>
          </a:p>
          <a:p>
            <a:pPr marL="0">
              <a:spcBef>
                <a:spcPts val="0"/>
              </a:spcBef>
            </a:pPr>
            <a:r>
              <a:rPr lang="en-US" dirty="0"/>
              <a:t>        name = prompt("</a:t>
            </a:r>
            <a:r>
              <a:rPr lang="ru-RU" dirty="0"/>
              <a:t>Введите имя:");</a:t>
            </a:r>
          </a:p>
          <a:p>
            <a:pPr marL="0">
              <a:spcBef>
                <a:spcPts val="0"/>
              </a:spcBef>
            </a:pPr>
            <a:r>
              <a:rPr lang="ru-RU" dirty="0"/>
              <a:t>        </a:t>
            </a:r>
            <a:r>
              <a:rPr lang="en-US" dirty="0"/>
              <a:t>if (name === null) {</a:t>
            </a:r>
          </a:p>
          <a:p>
            <a:pPr marL="0">
              <a:spcBef>
                <a:spcPts val="0"/>
              </a:spcBef>
            </a:pPr>
            <a:r>
              <a:rPr lang="en-US" dirty="0"/>
              <a:t>          return;</a:t>
            </a:r>
          </a:p>
          <a:p>
            <a:pPr marL="0">
              <a:spcBef>
                <a:spcPts val="0"/>
              </a:spcBef>
            </a:pPr>
            <a:r>
              <a:rPr lang="en-US" dirty="0"/>
              <a:t>        }</a:t>
            </a:r>
          </a:p>
          <a:p>
            <a:pPr marL="0">
              <a:spcBef>
                <a:spcPts val="0"/>
              </a:spcBef>
            </a:pPr>
            <a:r>
              <a:rPr lang="en-US" dirty="0"/>
              <a:t>        name = </a:t>
            </a:r>
            <a:r>
              <a:rPr lang="en-US" dirty="0" err="1"/>
              <a:t>name.trim</a:t>
            </a:r>
            <a:r>
              <a:rPr lang="en-US" dirty="0"/>
              <a:t>();</a:t>
            </a:r>
          </a:p>
          <a:p>
            <a:pPr marL="0">
              <a:spcBef>
                <a:spcPts val="0"/>
              </a:spcBef>
            </a:pPr>
            <a:r>
              <a:rPr lang="en-US" dirty="0"/>
              <a:t>        if (name !== "") break;</a:t>
            </a:r>
          </a:p>
          <a:p>
            <a:pPr marL="0">
              <a:spcBef>
                <a:spcPts val="0"/>
              </a:spcBef>
            </a:pPr>
            <a:r>
              <a:rPr lang="en-US" dirty="0"/>
              <a:t>        alert("</a:t>
            </a:r>
            <a:r>
              <a:rPr lang="ru-RU" dirty="0"/>
              <a:t>Имя не может быть пустым. Попробуйте ещё раз.");</a:t>
            </a:r>
          </a:p>
          <a:p>
            <a:pPr marL="0">
              <a:spcBef>
                <a:spcPts val="0"/>
              </a:spcBef>
            </a:pPr>
            <a:r>
              <a:rPr lang="ru-RU" dirty="0"/>
              <a:t>      }</a:t>
            </a:r>
          </a:p>
          <a:p>
            <a:pPr marL="0">
              <a:spcBef>
                <a:spcPts val="0"/>
              </a:spcBef>
            </a:pPr>
            <a:endParaRPr lang="ru-RU" dirty="0"/>
          </a:p>
          <a:p>
            <a:pPr marL="0">
              <a:spcBef>
                <a:spcPts val="0"/>
              </a:spcBef>
            </a:pPr>
            <a:r>
              <a:rPr lang="ru-RU" dirty="0"/>
              <a:t>      </a:t>
            </a:r>
            <a:r>
              <a:rPr lang="en-US" dirty="0"/>
              <a:t>while (true) {</a:t>
            </a:r>
          </a:p>
          <a:p>
            <a:pPr marL="0">
              <a:spcBef>
                <a:spcPts val="0"/>
              </a:spcBef>
            </a:pPr>
            <a:r>
              <a:rPr lang="en-US" dirty="0"/>
              <a:t>        patronymic = prompt("</a:t>
            </a:r>
            <a:r>
              <a:rPr lang="ru-RU" dirty="0"/>
              <a:t>Введите отчество:");</a:t>
            </a:r>
          </a:p>
          <a:p>
            <a:pPr marL="0">
              <a:spcBef>
                <a:spcPts val="0"/>
              </a:spcBef>
            </a:pPr>
            <a:r>
              <a:rPr lang="ru-RU" dirty="0"/>
              <a:t>        </a:t>
            </a:r>
            <a:r>
              <a:rPr lang="en-US" dirty="0"/>
              <a:t>if (patronymic === null) {</a:t>
            </a:r>
          </a:p>
          <a:p>
            <a:pPr marL="0">
              <a:spcBef>
                <a:spcPts val="0"/>
              </a:spcBef>
            </a:pPr>
            <a:r>
              <a:rPr lang="en-US" dirty="0"/>
              <a:t>          return;</a:t>
            </a:r>
          </a:p>
          <a:p>
            <a:pPr marL="0">
              <a:spcBef>
                <a:spcPts val="0"/>
              </a:spcBef>
            </a:pPr>
            <a:r>
              <a:rPr lang="en-US" dirty="0"/>
              <a:t>        }</a:t>
            </a:r>
          </a:p>
          <a:p>
            <a:pPr marL="0">
              <a:spcBef>
                <a:spcPts val="0"/>
              </a:spcBef>
            </a:pPr>
            <a:r>
              <a:rPr lang="en-US" dirty="0"/>
              <a:t>        patronymic = </a:t>
            </a:r>
            <a:r>
              <a:rPr lang="en-US" dirty="0" err="1"/>
              <a:t>patronymic.trim</a:t>
            </a:r>
            <a:r>
              <a:rPr lang="en-US" dirty="0"/>
              <a:t>();</a:t>
            </a:r>
          </a:p>
          <a:p>
            <a:pPr marL="0">
              <a:spcBef>
                <a:spcPts val="0"/>
              </a:spcBef>
            </a:pPr>
            <a:r>
              <a:rPr lang="en-US" dirty="0"/>
              <a:t>        if (patronymic !== "") break;</a:t>
            </a:r>
          </a:p>
          <a:p>
            <a:pPr marL="0">
              <a:spcBef>
                <a:spcPts val="0"/>
              </a:spcBef>
            </a:pPr>
            <a:r>
              <a:rPr lang="en-US" dirty="0"/>
              <a:t>        alert("</a:t>
            </a:r>
            <a:r>
              <a:rPr lang="ru-RU" dirty="0"/>
              <a:t>Отчество не может быть пустым. Попробуйте ещё раз.");</a:t>
            </a:r>
          </a:p>
          <a:p>
            <a:pPr marL="0">
              <a:spcBef>
                <a:spcPts val="0"/>
              </a:spcBef>
            </a:pPr>
            <a:r>
              <a:rPr lang="ru-RU" dirty="0"/>
              <a:t>      }</a:t>
            </a:r>
          </a:p>
          <a:p>
            <a:pPr marL="0">
              <a:spcBef>
                <a:spcPts val="0"/>
              </a:spcBef>
            </a:pPr>
            <a:endParaRPr lang="ru-RU" dirty="0"/>
          </a:p>
          <a:p>
            <a:pPr marL="0">
              <a:spcBef>
                <a:spcPts val="0"/>
              </a:spcBef>
            </a:pPr>
            <a:r>
              <a:rPr lang="ru-RU" dirty="0"/>
              <a:t>      </a:t>
            </a:r>
            <a:r>
              <a:rPr lang="en-US" dirty="0"/>
              <a:t>alert("Hello, " + name + " " + patronymic + </a:t>
            </a:r>
          </a:p>
          <a:p>
            <a:pPr marL="0">
              <a:spcBef>
                <a:spcPts val="0"/>
              </a:spcBef>
            </a:pPr>
            <a:r>
              <a:rPr lang="en-US" dirty="0"/>
              <a:t>            ", Welcome to web page, it’s a great site WWW!");</a:t>
            </a:r>
          </a:p>
          <a:p>
            <a:pPr marL="0">
              <a:spcBef>
                <a:spcPts val="0"/>
              </a:spcBef>
            </a:pPr>
            <a:r>
              <a:rPr lang="en-US" dirty="0"/>
              <a:t>    }</a:t>
            </a:r>
          </a:p>
          <a:p>
            <a:pPr marL="0">
              <a:spcBef>
                <a:spcPts val="0"/>
              </a:spcBef>
            </a:pPr>
            <a:r>
              <a:rPr lang="en-US" dirty="0"/>
              <a:t>  &lt;/script&gt;</a:t>
            </a:r>
          </a:p>
          <a:p>
            <a:pPr marL="0">
              <a:spcBef>
                <a:spcPts val="0"/>
              </a:spcBef>
            </a:pPr>
            <a:r>
              <a:rPr lang="en-US" dirty="0"/>
              <a:t>&lt;/head&gt;</a:t>
            </a:r>
          </a:p>
          <a:p>
            <a:pPr marL="0">
              <a:spcBef>
                <a:spcPts val="0"/>
              </a:spcBef>
            </a:pPr>
            <a:r>
              <a:rPr lang="en-US" dirty="0"/>
              <a:t>&lt;body onload="</a:t>
            </a:r>
            <a:r>
              <a:rPr lang="en-US" dirty="0" err="1"/>
              <a:t>askUser</a:t>
            </a:r>
            <a:r>
              <a:rPr lang="en-US" dirty="0"/>
              <a:t>()"&gt;</a:t>
            </a:r>
          </a:p>
          <a:p>
            <a:pPr marL="0">
              <a:spcBef>
                <a:spcPts val="0"/>
              </a:spcBef>
            </a:pPr>
            <a:endParaRPr lang="en-US" dirty="0"/>
          </a:p>
          <a:p>
            <a:pPr marL="0">
              <a:spcBef>
                <a:spcPts val="0"/>
              </a:spcBef>
            </a:pPr>
            <a:r>
              <a:rPr lang="en-US" dirty="0"/>
              <a:t>  &lt;h1 align="center"&gt;</a:t>
            </a:r>
            <a:r>
              <a:rPr lang="ru-RU" dirty="0"/>
              <a:t>Лабораторная работа №10&lt;/</a:t>
            </a:r>
            <a:r>
              <a:rPr lang="en-US" dirty="0"/>
              <a:t>h1&gt;</a:t>
            </a:r>
          </a:p>
          <a:p>
            <a:pPr marL="0">
              <a:spcBef>
                <a:spcPts val="0"/>
              </a:spcBef>
            </a:pPr>
            <a:r>
              <a:rPr lang="en-US" dirty="0"/>
              <a:t>  &lt;p align="center"&gt;</a:t>
            </a:r>
            <a:r>
              <a:rPr lang="ru-RU" dirty="0"/>
              <a:t>Перезагрузите страницу, чтобы пройти валидацию ещё раз.&lt;/</a:t>
            </a:r>
            <a:r>
              <a:rPr lang="en-US" dirty="0"/>
              <a:t>p&gt;</a:t>
            </a:r>
          </a:p>
          <a:p>
            <a:pPr marL="0">
              <a:spcBef>
                <a:spcPts val="0"/>
              </a:spcBef>
            </a:pPr>
            <a:endParaRPr lang="en-US" dirty="0"/>
          </a:p>
          <a:p>
            <a:pPr marL="0">
              <a:spcBef>
                <a:spcPts val="0"/>
              </a:spcBef>
            </a:pPr>
            <a:r>
              <a:rPr lang="en-US" dirty="0"/>
              <a:t>&lt;/body&gt;</a:t>
            </a:r>
          </a:p>
          <a:p>
            <a:pPr marL="0">
              <a:spcBef>
                <a:spcPts val="0"/>
              </a:spcBef>
            </a:pPr>
            <a:r>
              <a:rPr lang="en-US" dirty="0"/>
              <a:t>&lt;/html&gt;</a:t>
            </a:r>
          </a:p>
        </p:txBody>
      </p:sp>
    </p:spTree>
    <p:extLst>
      <p:ext uri="{BB962C8B-B14F-4D97-AF65-F5344CB8AC3E}">
        <p14:creationId xmlns:p14="http://schemas.microsoft.com/office/powerpoint/2010/main" val="404563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B2263B-F862-902F-65D9-DD90D2EFF933}"/>
              </a:ext>
            </a:extLst>
          </p:cNvPr>
          <p:cNvSpPr>
            <a:spLocks noGrp="1"/>
          </p:cNvSpPr>
          <p:nvPr>
            <p:ph type="title"/>
          </p:nvPr>
        </p:nvSpPr>
        <p:spPr>
          <a:xfrm>
            <a:off x="180773" y="-158817"/>
            <a:ext cx="10772775" cy="1658198"/>
          </a:xfrm>
        </p:spPr>
        <p:txBody>
          <a:bodyPr/>
          <a:lstStyle/>
          <a:p>
            <a:r>
              <a:rPr lang="ru-RU" dirty="0"/>
              <a:t>Контрольные вопросы</a:t>
            </a:r>
          </a:p>
        </p:txBody>
      </p:sp>
      <p:sp>
        <p:nvSpPr>
          <p:cNvPr id="3" name="Объект 2">
            <a:extLst>
              <a:ext uri="{FF2B5EF4-FFF2-40B4-BE49-F238E27FC236}">
                <a16:creationId xmlns:a16="http://schemas.microsoft.com/office/drawing/2014/main" id="{DEECDB54-B198-92E1-FBB2-D49312D5B50D}"/>
              </a:ext>
            </a:extLst>
          </p:cNvPr>
          <p:cNvSpPr>
            <a:spLocks noGrp="1"/>
          </p:cNvSpPr>
          <p:nvPr>
            <p:ph idx="1"/>
          </p:nvPr>
        </p:nvSpPr>
        <p:spPr>
          <a:xfrm>
            <a:off x="199823" y="1039528"/>
            <a:ext cx="11754754" cy="5818472"/>
          </a:xfrm>
        </p:spPr>
        <p:txBody>
          <a:bodyPr>
            <a:normAutofit fontScale="55000" lnSpcReduction="20000"/>
          </a:bodyPr>
          <a:lstStyle/>
          <a:p>
            <a:pPr marL="342900" indent="-342900">
              <a:buFont typeface="+mj-lt"/>
              <a:buAutoNum type="arabicPeriod"/>
            </a:pPr>
            <a:r>
              <a:rPr lang="ru-RU" dirty="0">
                <a:cs typeface="Times New Roman" panose="02020603050405020304" pitchFamily="18" charset="0"/>
              </a:rPr>
              <a:t>Что представляет собой элемент &lt;APPLET&gt; в контексте веб-разработки?</a:t>
            </a:r>
            <a:br>
              <a:rPr lang="ru-RU" dirty="0">
                <a:cs typeface="Times New Roman" panose="02020603050405020304" pitchFamily="18" charset="0"/>
              </a:rPr>
            </a:br>
            <a:r>
              <a:rPr lang="ru-RU" dirty="0">
                <a:cs typeface="Times New Roman" panose="02020603050405020304" pitchFamily="18" charset="0"/>
              </a:rPr>
              <a:t>Элемент &lt;APPLET&gt; был использован в ранних версиях HTML для встраивания апплетов на языке программирования Java в веб-страницы. Апплеты — это небольшие Java-программы, которые выполняются непосредственно в браузере пользователя. Этот элемент позволял загружать и запускать Java-апплеты, предоставляя функциональность и интерактивность на стороне клиента.</a:t>
            </a:r>
          </a:p>
          <a:p>
            <a:pPr marL="342900" indent="-342900">
              <a:buFont typeface="+mj-lt"/>
              <a:buAutoNum type="arabicPeriod"/>
            </a:pPr>
            <a:r>
              <a:rPr lang="ru-RU" dirty="0">
                <a:cs typeface="Times New Roman" panose="02020603050405020304" pitchFamily="18" charset="0"/>
              </a:rPr>
              <a:t>Почему &lt;APPLET&gt; с течением времени стало устаревшим?</a:t>
            </a:r>
            <a:br>
              <a:rPr lang="ru-RU" dirty="0">
                <a:cs typeface="Times New Roman" panose="02020603050405020304" pitchFamily="18" charset="0"/>
              </a:rPr>
            </a:br>
            <a:r>
              <a:rPr lang="ru-RU" dirty="0">
                <a:cs typeface="Times New Roman" panose="02020603050405020304" pitchFamily="18" charset="0"/>
              </a:rPr>
              <a:t>Java-апплеты могли представлять угрозу безопасности, так как имели доступ к системным ресурсам. Это привело к многочисленным уязвимостям и атакам, таким как выполнение вредоносного кода на устройствах пользователей. Со временем Java перестала быть популярной технологией для клиентской стороны (веб-интерфейсов). Разработчики начали отдавать предпочтение более современным языкам и технологиям, таким как JavaScript, которые более безопасны и </a:t>
            </a:r>
            <a:r>
              <a:rPr lang="ru-RU" dirty="0" err="1">
                <a:cs typeface="Times New Roman" panose="02020603050405020304" pitchFamily="18" charset="0"/>
              </a:rPr>
              <a:t>производительн</a:t>
            </a:r>
            <a:r>
              <a:rPr lang="ru-RU" dirty="0">
                <a:cs typeface="Times New Roman" panose="02020603050405020304" pitchFamily="18" charset="0"/>
              </a:rPr>
              <a:t> ы для выполнения на стороне клиента. Встроенные мультимедийные возможности HTML5, такие как &lt;</a:t>
            </a:r>
            <a:r>
              <a:rPr lang="ru-RU" dirty="0" err="1">
                <a:cs typeface="Times New Roman" panose="02020603050405020304" pitchFamily="18" charset="0"/>
              </a:rPr>
              <a:t>canvas</a:t>
            </a:r>
            <a:r>
              <a:rPr lang="ru-RU" dirty="0">
                <a:cs typeface="Times New Roman" panose="02020603050405020304" pitchFamily="18" charset="0"/>
              </a:rPr>
              <a:t>&gt;, &lt;</a:t>
            </a:r>
            <a:r>
              <a:rPr lang="ru-RU" dirty="0" err="1">
                <a:cs typeface="Times New Roman" panose="02020603050405020304" pitchFamily="18" charset="0"/>
              </a:rPr>
              <a:t>audio</a:t>
            </a:r>
            <a:r>
              <a:rPr lang="ru-RU" dirty="0">
                <a:cs typeface="Times New Roman" panose="02020603050405020304" pitchFamily="18" charset="0"/>
              </a:rPr>
              <a:t>&gt;, и &lt;</a:t>
            </a:r>
            <a:r>
              <a:rPr lang="ru-RU" dirty="0" err="1">
                <a:cs typeface="Times New Roman" panose="02020603050405020304" pitchFamily="18" charset="0"/>
              </a:rPr>
              <a:t>video</a:t>
            </a:r>
            <a:r>
              <a:rPr lang="ru-RU" dirty="0">
                <a:cs typeface="Times New Roman" panose="02020603050405020304" pitchFamily="18" charset="0"/>
              </a:rPr>
              <a:t>&gt;, предоставили разработчикам более гибкие инструменты для создания динамичных веб-приложений. </a:t>
            </a:r>
            <a:endParaRPr lang="en-US" dirty="0">
              <a:cs typeface="Times New Roman" panose="02020603050405020304" pitchFamily="18" charset="0"/>
            </a:endParaRPr>
          </a:p>
          <a:p>
            <a:pPr marL="342900" indent="-342900">
              <a:buFont typeface="+mj-lt"/>
              <a:buAutoNum type="arabicPeriod"/>
            </a:pPr>
            <a:r>
              <a:rPr lang="ru-RU" dirty="0">
                <a:cs typeface="Times New Roman" panose="02020603050405020304" pitchFamily="18" charset="0"/>
              </a:rPr>
              <a:t>Какие проблемы безопасности столкнулись с Java-апплетами, запускаемыми с использованием &lt;APPLET&gt;?</a:t>
            </a:r>
            <a:br>
              <a:rPr lang="ru-RU" dirty="0">
                <a:cs typeface="Times New Roman" panose="02020603050405020304" pitchFamily="18" charset="0"/>
              </a:rPr>
            </a:br>
            <a:r>
              <a:rPr lang="ru-RU" dirty="0">
                <a:cs typeface="Times New Roman" panose="02020603050405020304" pitchFamily="18" charset="0"/>
              </a:rPr>
              <a:t>Java-апплеты могли представлять угрозу безопасности, так как имели доступ к системным ресурсам. Это привело к многочисленным уязвимостям и атакам, таким как выполнение вредоносного кода на устройствах пользователей. Несмотря на усилия по повышению безопасности (например, использование "песочницы" для ограничения действий апплетов), со временем стало ясно, что подобные меры не обеспечивают должного уровня защиты.</a:t>
            </a:r>
          </a:p>
          <a:p>
            <a:pPr marL="342900" indent="-342900">
              <a:buFont typeface="+mj-lt"/>
              <a:buAutoNum type="arabicPeriod"/>
            </a:pPr>
            <a:r>
              <a:rPr lang="ru-RU" dirty="0">
                <a:cs typeface="Times New Roman" panose="02020603050405020304" pitchFamily="18" charset="0"/>
              </a:rPr>
              <a:t>Какие альтернативные технологии и языки программирования выделены в тексте как замену Java-апплетам?</a:t>
            </a:r>
            <a:br>
              <a:rPr lang="ru-RU" dirty="0">
                <a:cs typeface="Times New Roman" panose="02020603050405020304" pitchFamily="18" charset="0"/>
              </a:rPr>
            </a:br>
            <a:r>
              <a:rPr lang="ru-RU" dirty="0">
                <a:cs typeface="Times New Roman" panose="02020603050405020304" pitchFamily="18" charset="0"/>
              </a:rPr>
              <a:t>HTML5, CSS3 и JavaScript предложили современные, безопасные и производительные способы создания интерактивных элементов и приложений в браузере без необходимости использования сторонних плагинов или установок. Встроенные мультимедийные возможности HTML5, такие как &lt;</a:t>
            </a:r>
            <a:r>
              <a:rPr lang="ru-RU" dirty="0" err="1">
                <a:cs typeface="Times New Roman" panose="02020603050405020304" pitchFamily="18" charset="0"/>
              </a:rPr>
              <a:t>canvas</a:t>
            </a:r>
            <a:r>
              <a:rPr lang="ru-RU" dirty="0">
                <a:cs typeface="Times New Roman" panose="02020603050405020304" pitchFamily="18" charset="0"/>
              </a:rPr>
              <a:t>&gt;, &lt;</a:t>
            </a:r>
            <a:r>
              <a:rPr lang="ru-RU" dirty="0" err="1">
                <a:cs typeface="Times New Roman" panose="02020603050405020304" pitchFamily="18" charset="0"/>
              </a:rPr>
              <a:t>audio</a:t>
            </a:r>
            <a:r>
              <a:rPr lang="ru-RU" dirty="0">
                <a:cs typeface="Times New Roman" panose="02020603050405020304" pitchFamily="18" charset="0"/>
              </a:rPr>
              <a:t>&gt;, и &lt;</a:t>
            </a:r>
            <a:r>
              <a:rPr lang="ru-RU" dirty="0" err="1">
                <a:cs typeface="Times New Roman" panose="02020603050405020304" pitchFamily="18" charset="0"/>
              </a:rPr>
              <a:t>video</a:t>
            </a:r>
            <a:r>
              <a:rPr lang="ru-RU" dirty="0">
                <a:cs typeface="Times New Roman" panose="02020603050405020304" pitchFamily="18" charset="0"/>
              </a:rPr>
              <a:t>&gt;, предоставили разработчикам более гибкие инструменты для создания динамичных веб-приложений.</a:t>
            </a:r>
            <a:endParaRPr lang="en-US" dirty="0">
              <a:cs typeface="Times New Roman" panose="02020603050405020304" pitchFamily="18" charset="0"/>
            </a:endParaRPr>
          </a:p>
          <a:p>
            <a:pPr marL="342900" indent="-342900">
              <a:buFont typeface="+mj-lt"/>
              <a:buAutoNum type="arabicPeriod"/>
            </a:pPr>
            <a:r>
              <a:rPr lang="ru-RU" dirty="0">
                <a:cs typeface="Times New Roman" panose="02020603050405020304" pitchFamily="18" charset="0"/>
              </a:rPr>
              <a:t> Почему рекомендуется использовать &lt;</a:t>
            </a:r>
            <a:r>
              <a:rPr lang="ru-RU" dirty="0" err="1">
                <a:cs typeface="Times New Roman" panose="02020603050405020304" pitchFamily="18" charset="0"/>
              </a:rPr>
              <a:t>object</a:t>
            </a:r>
            <a:r>
              <a:rPr lang="ru-RU" dirty="0">
                <a:cs typeface="Times New Roman" panose="02020603050405020304" pitchFamily="18" charset="0"/>
              </a:rPr>
              <a:t>&gt; вместо &lt;APPLET&gt; для вставки апплетов на веб-страницу?</a:t>
            </a:r>
            <a:br>
              <a:rPr lang="ru-RU" dirty="0">
                <a:cs typeface="Times New Roman" panose="02020603050405020304" pitchFamily="18" charset="0"/>
              </a:rPr>
            </a:br>
            <a:r>
              <a:rPr lang="ru-RU" dirty="0">
                <a:cs typeface="Times New Roman" panose="02020603050405020304" pitchFamily="18" charset="0"/>
              </a:rPr>
              <a:t>&lt;</a:t>
            </a:r>
            <a:r>
              <a:rPr lang="ru-RU" dirty="0" err="1">
                <a:cs typeface="Times New Roman" panose="02020603050405020304" pitchFamily="18" charset="0"/>
              </a:rPr>
              <a:t>object</a:t>
            </a:r>
            <a:r>
              <a:rPr lang="ru-RU" dirty="0">
                <a:cs typeface="Times New Roman" panose="02020603050405020304" pitchFamily="18" charset="0"/>
              </a:rPr>
              <a:t>&gt; предоставляет более высокий уровень безопасности и лучшую интеграцию с современными механизмами браузеров, такими как политика "песочницы" и управление разрешениями для встроенных объектов. Элемент &lt;</a:t>
            </a:r>
            <a:r>
              <a:rPr lang="ru-RU" dirty="0" err="1">
                <a:cs typeface="Times New Roman" panose="02020603050405020304" pitchFamily="18" charset="0"/>
              </a:rPr>
              <a:t>object</a:t>
            </a:r>
            <a:r>
              <a:rPr lang="ru-RU" dirty="0">
                <a:cs typeface="Times New Roman" panose="02020603050405020304" pitchFamily="18" charset="0"/>
              </a:rPr>
              <a:t>&gt; более универсален, чем &lt;APPLET&gt;. Он может использоваться для встраивания различных типов внешних ресурсов, включая мультимедиа (видео и аудио), SVG-графику, PDF-документы, и даже сторонние веб-приложения, такие как Java-апплеты.</a:t>
            </a:r>
          </a:p>
          <a:p>
            <a:pPr marL="342900" indent="-342900">
              <a:buFont typeface="+mj-lt"/>
              <a:buAutoNum type="arabicPeriod"/>
            </a:pPr>
            <a:endParaRPr lang="ru-RU" dirty="0">
              <a:cs typeface="Times New Roman" panose="02020603050405020304" pitchFamily="18" charset="0"/>
            </a:endParaRPr>
          </a:p>
          <a:p>
            <a:pPr marL="342900" indent="-342900">
              <a:buFont typeface="+mj-lt"/>
              <a:buAutoNum type="arabicPeriod"/>
            </a:pPr>
            <a:endParaRPr lang="ru-RU" dirty="0">
              <a:cs typeface="Times New Roman" panose="02020603050405020304" pitchFamily="18" charset="0"/>
            </a:endParaRPr>
          </a:p>
          <a:p>
            <a:pPr marL="342900" indent="-342900">
              <a:buFont typeface="+mj-lt"/>
              <a:buAutoNum type="arabicPeriod"/>
            </a:pPr>
            <a:endParaRPr lang="ru-RU" dirty="0">
              <a:cs typeface="Times New Roman" panose="02020603050405020304" pitchFamily="18" charset="0"/>
            </a:endParaRPr>
          </a:p>
        </p:txBody>
      </p:sp>
    </p:spTree>
    <p:extLst>
      <p:ext uri="{BB962C8B-B14F-4D97-AF65-F5344CB8AC3E}">
        <p14:creationId xmlns:p14="http://schemas.microsoft.com/office/powerpoint/2010/main" val="78666089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79</TotalTime>
  <Words>843</Words>
  <Application>Microsoft Office PowerPoint</Application>
  <PresentationFormat>Широкоэкранный</PresentationFormat>
  <Paragraphs>59</Paragraphs>
  <Slides>5</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vt:i4>
      </vt:variant>
    </vt:vector>
  </HeadingPairs>
  <TitlesOfParts>
    <vt:vector size="11" baseType="lpstr">
      <vt:lpstr>Aptos</vt:lpstr>
      <vt:lpstr>Aptos Display</vt:lpstr>
      <vt:lpstr>Arial</vt:lpstr>
      <vt:lpstr>DejaVu Sans</vt:lpstr>
      <vt:lpstr>Times New Roman</vt:lpstr>
      <vt:lpstr>Тема Office</vt:lpstr>
      <vt:lpstr>ФГБОУ ВО «Кубанский государственный технологический университет» (ФГБОУ ВО «КубГТУ») Факультет: Информационных технологий и кибербезопасности Кафедра: Информационных систем и программирования  РАЗРАБОТКА ВЕБ-ПРИЛОЖЕНИЙ  ЛАБОРАТОРНАЯ РАБОТА №10 Основы JavaScript.</vt:lpstr>
      <vt:lpstr>Цель работы и задания</vt:lpstr>
      <vt:lpstr>Ход работы. Задание 1</vt:lpstr>
      <vt:lpstr>Ход работы. Задание 1</vt:lpstr>
      <vt:lpstr>Контрольные вопросы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ФГБОУ ВО «Кубанский государственный технологический университет» (ФГБОУ ВО «КубГТУ») Факультет: Информационных технологий и кибербезопасности Кафедра: Информационных систем и программирования  РАЗРАБОТКА ВЕБ-ПРИЛОЖЕНИЙ  ЛАБОРАТОРНАЯ РАБОТА №2 Форматирование текста.</dc:title>
  <dc:creator>Артём Лыков</dc:creator>
  <cp:lastModifiedBy>Ярослав Давков</cp:lastModifiedBy>
  <cp:revision>52</cp:revision>
  <dcterms:created xsi:type="dcterms:W3CDTF">2025-09-05T14:29:14Z</dcterms:created>
  <dcterms:modified xsi:type="dcterms:W3CDTF">2025-12-11T17:56:32Z</dcterms:modified>
</cp:coreProperties>
</file>