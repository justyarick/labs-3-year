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64" r:id="rId5"/>
    <p:sldId id="261" r:id="rId6"/>
    <p:sldId id="265" r:id="rId7"/>
    <p:sldId id="266" r:id="rId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96" d="100"/>
          <a:sy n="96" d="100"/>
        </p:scale>
        <p:origin x="7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5430DF-C2EF-38F3-150A-3B5352C86AD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2F86DBC-7698-6773-F7E9-8D8098B442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3873A4B1-38D4-EBD8-E981-94E2C9160FB9}"/>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EB6B9B4A-732C-8EAD-50B0-C5EEDC0F846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B9D42AF-A755-840E-A611-B5E42DB9EF24}"/>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615670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26551A-58C0-318E-5E25-1BEB449011D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4B9F820-50F4-01AD-5221-84618900541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7D2A880-D230-3CB8-189B-6527BAF51549}"/>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854DEBBB-93F5-77BA-874D-16EE0AD0383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69724D7-BD62-AB22-F782-4673E7469A9D}"/>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187340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7A858F-F528-228B-16EE-E24E7F8C0C50}"/>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8947F62-A469-BF74-3DBC-4031AD0A44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D7202780-E9E7-2636-5BAD-24985009174B}"/>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FCBBCCFE-9E2F-4951-CDF8-9ECBABC91E8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EA7DED3-6C18-639F-4B36-DD7D19F9D905}"/>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402253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984BE7-4FD0-98F3-50EC-214FC786E8C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A8C01B3-12C9-1519-F88C-D910C501A87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3EB45A9-5EF3-E1D9-F709-77A59AB8CAE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D0564C10-8EBF-78A1-7BFD-67EFC51CC289}"/>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26BF67E8-150D-467B-E3F1-440F5131063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DCB9974-6EEB-E8BE-0789-90219765C723}"/>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12543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187035-E866-81F5-2DA3-A7D1DD527EFC}"/>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5939D76-FFFB-78E6-1FED-199242CC7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4EAEDE1-89C9-11BE-18D3-E34E9F0A11C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D3F9291A-002D-CC7C-3685-20129A5B68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5C83527-8D62-BE78-4CB5-29980B886D08}"/>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53766E0-786F-3C00-0244-AA320CD45B9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8" name="Нижний колонтитул 7">
            <a:extLst>
              <a:ext uri="{FF2B5EF4-FFF2-40B4-BE49-F238E27FC236}">
                <a16:creationId xmlns:a16="http://schemas.microsoft.com/office/drawing/2014/main" id="{44449A72-133E-5921-C69A-9356F75017A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C41C6A2-9E4D-C12D-FEC4-351007E3DC33}"/>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31766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7E388B-10A1-C020-4595-7840772B150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672D488-A0F4-D51F-9590-95E08C89B718}"/>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4" name="Нижний колонтитул 3">
            <a:extLst>
              <a:ext uri="{FF2B5EF4-FFF2-40B4-BE49-F238E27FC236}">
                <a16:creationId xmlns:a16="http://schemas.microsoft.com/office/drawing/2014/main" id="{91688998-550F-A3D1-65BF-C272084B366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87CBE1D-A635-435F-A944-DAF18F3441C9}"/>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5329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E00A708-F206-86E4-A356-05BBB4FE134A}"/>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3" name="Нижний колонтитул 2">
            <a:extLst>
              <a:ext uri="{FF2B5EF4-FFF2-40B4-BE49-F238E27FC236}">
                <a16:creationId xmlns:a16="http://schemas.microsoft.com/office/drawing/2014/main" id="{B70C2F0E-9DBC-E86E-C8F2-42AE188EC8D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F510245-4E32-3050-B0D1-A3B3A12EB3D1}"/>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5482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565CFC-3DD9-B876-BC73-14984F9915D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72910A60-07EE-2EA5-F3D5-9067A2F6A7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7241DA1-7C40-73D2-E558-3AC392FBF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D8961DE-70AD-C600-6733-01D87B8249C6}"/>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8EE5E9D5-FC45-1121-6951-4FE1E84AD61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401EB48-A62C-C5A8-F04F-245282E05802}"/>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802114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C0F9A3-E0C1-909D-DE8E-4977BCAAA34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53294AE9-49BE-A245-F28B-7C6F46E88C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7999D81-E8B4-2659-A212-5F25DC32C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D1B8BF5-86A8-4E80-2AC8-54D48908C16D}"/>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4849EDA6-B4D1-8652-181A-7C4C88D90AB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3217B57-173C-4A5C-EB8D-AB95939DD72F}"/>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063314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039B00-E651-D2FF-55B3-235D6CC350C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02A9C8E-D16E-7C77-0CCF-B8F0058CA7B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2D27830-EA82-38CB-3F72-4BA5B747D6CA}"/>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F9898A45-B7BC-CE6C-F935-5A9061AD6C6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2680C7F-F2AF-2088-00E1-A5533E8C70B6}"/>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06896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F744C9E-220C-B82D-A82B-3EDE4D0233E7}"/>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E773E22-B815-47D3-74A0-B6158CF3B0E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53D6A69-83DD-F62C-5812-E62B49DD4E25}"/>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15A9EC5E-29CF-C0CC-2C3E-0C9D5C835BB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ECBB983-FDFF-C713-68F1-9094DF15A61C}"/>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75528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4B9CE9-DAB6-1A4A-78E1-98AB4BC08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AF59984-53A3-40E3-FF3E-CA56403E1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8DF8378-F289-44AC-12A3-8CB7F5BED7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426A69F5-BDC1-0209-F9C2-CC305BABB9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6A0D4E1D-5037-F168-BF62-41CFB288E4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3B1-EC1E-423B-8025-08A795D3FA83}" type="slidenum">
              <a:rPr lang="ru-RU" smtClean="0"/>
              <a:t>‹#›</a:t>
            </a:fld>
            <a:endParaRPr lang="ru-RU"/>
          </a:p>
        </p:txBody>
      </p:sp>
    </p:spTree>
    <p:extLst>
      <p:ext uri="{BB962C8B-B14F-4D97-AF65-F5344CB8AC3E}">
        <p14:creationId xmlns:p14="http://schemas.microsoft.com/office/powerpoint/2010/main" val="136839861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B358B5E-2BFB-DBDE-D00F-7117B3462405}"/>
              </a:ext>
            </a:extLst>
          </p:cNvPr>
          <p:cNvSpPr>
            <a:spLocks noGrp="1"/>
          </p:cNvSpPr>
          <p:nvPr>
            <p:ph type="ctrTitle"/>
          </p:nvPr>
        </p:nvSpPr>
        <p:spPr>
          <a:xfrm>
            <a:off x="704850" y="500514"/>
            <a:ext cx="10782300" cy="3089709"/>
          </a:xfrm>
        </p:spPr>
        <p:txBody>
          <a:bodyPr>
            <a:normAutofit fontScale="90000"/>
          </a:bodyPr>
          <a:lstStyle/>
          <a:p>
            <a:pPr algn="ctr"/>
            <a:r>
              <a:rPr kumimoji="0" lang="ru-RU" sz="2800" b="1" i="0" u="none" strike="noStrike" kern="1200" cap="none" spc="-1" normalizeH="0" baseline="0" noProof="0" dirty="0">
                <a:ln>
                  <a:noFill/>
                </a:ln>
                <a:solidFill>
                  <a:schemeClr val="tx1"/>
                </a:solidFill>
                <a:effectLst/>
                <a:uLnTx/>
                <a:uFillTx/>
                <a:ea typeface="DejaVu Sans"/>
                <a:cs typeface="+mj-cs"/>
              </a:rPr>
              <a:t>ФГБОУ ВО «Кубанский государственный технологический университет»</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(ФГБОУ ВО «</a:t>
            </a:r>
            <a:r>
              <a:rPr kumimoji="0" lang="ru-RU" sz="2800" b="1" i="0" u="none" strike="noStrike" kern="1200" cap="none" spc="-1" normalizeH="0" baseline="0" noProof="0" dirty="0" err="1">
                <a:ln>
                  <a:noFill/>
                </a:ln>
                <a:solidFill>
                  <a:schemeClr val="tx1"/>
                </a:solidFill>
                <a:effectLst/>
                <a:uLnTx/>
                <a:uFillTx/>
                <a:ea typeface="DejaVu Sans"/>
                <a:cs typeface="+mj-cs"/>
              </a:rPr>
              <a:t>КубГТУ</a:t>
            </a:r>
            <a:r>
              <a:rPr kumimoji="0" lang="ru-RU" sz="2800" b="1" i="0" u="none" strike="noStrike" kern="1200" cap="none" spc="-1" normalizeH="0" baseline="0" noProof="0" dirty="0">
                <a:ln>
                  <a:noFill/>
                </a:ln>
                <a:solidFill>
                  <a:schemeClr val="tx1"/>
                </a:solidFill>
                <a:effectLst/>
                <a:uLnTx/>
                <a:uFillTx/>
                <a:ea typeface="DejaVu Sans"/>
                <a:cs typeface="+mj-cs"/>
              </a:rPr>
              <a:t>»)</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Факультет: Информационных технологий и кибербезопасности</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Кафедра: Информационных систем и программирования</a:t>
            </a:r>
            <a:br>
              <a:rPr kumimoji="0" lang="ru-RU"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lang="ru-RU" sz="2800" b="1" spc="-1" dirty="0">
                <a:solidFill>
                  <a:schemeClr val="tx1"/>
                </a:solidFill>
                <a:ea typeface="DejaVu Sans"/>
              </a:rPr>
              <a:t>РАЗРАБОТКА ВЕБ-ПРИЛОЖЕНИЙ</a:t>
            </a:r>
            <a:br>
              <a:rPr kumimoji="0" lang="en-US"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ЛАБОРАТОРНАЯ РАБОТА №</a:t>
            </a:r>
            <a:r>
              <a:rPr lang="ru-RU" sz="2800" b="1" spc="-1" dirty="0">
                <a:solidFill>
                  <a:schemeClr val="tx1"/>
                </a:solidFill>
                <a:ea typeface="DejaVu Sans"/>
              </a:rPr>
              <a:t>8</a:t>
            </a: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Формы</a:t>
            </a:r>
            <a:r>
              <a:rPr lang="en-US" sz="2800" b="1" spc="-1" dirty="0">
                <a:solidFill>
                  <a:schemeClr val="tx1"/>
                </a:solidFill>
                <a:ea typeface="DejaVu Sans"/>
              </a:rPr>
              <a:t>.</a:t>
            </a:r>
            <a:endParaRPr lang="ru-RU" sz="11500" b="1" dirty="0">
              <a:solidFill>
                <a:schemeClr val="tx1"/>
              </a:solidFill>
            </a:endParaRPr>
          </a:p>
        </p:txBody>
      </p:sp>
      <p:sp>
        <p:nvSpPr>
          <p:cNvPr id="3" name="Подзаголовок 2">
            <a:extLst>
              <a:ext uri="{FF2B5EF4-FFF2-40B4-BE49-F238E27FC236}">
                <a16:creationId xmlns:a16="http://schemas.microsoft.com/office/drawing/2014/main" id="{E9D05EC2-26A9-7905-4B24-EED6B564805B}"/>
              </a:ext>
            </a:extLst>
          </p:cNvPr>
          <p:cNvSpPr>
            <a:spLocks noGrp="1"/>
          </p:cNvSpPr>
          <p:nvPr>
            <p:ph type="subTitle" idx="1"/>
          </p:nvPr>
        </p:nvSpPr>
        <p:spPr>
          <a:xfrm>
            <a:off x="2582939" y="4659264"/>
            <a:ext cx="9228201" cy="1645920"/>
          </a:xfrm>
        </p:spPr>
        <p:txBody>
          <a:bodyPr>
            <a:normAutofit fontScale="92500" lnSpcReduction="10000"/>
          </a:bodyPr>
          <a:lstStyle/>
          <a:p>
            <a:pPr algn="r"/>
            <a:r>
              <a:rPr lang="ru-RU" dirty="0">
                <a:solidFill>
                  <a:schemeClr val="tx1"/>
                </a:solidFill>
              </a:rPr>
              <a:t>Выполнил студент 23-КБ-ПР3</a:t>
            </a:r>
          </a:p>
          <a:p>
            <a:pPr algn="r"/>
            <a:r>
              <a:rPr lang="ru-RU"/>
              <a:t>Давков Ярослав</a:t>
            </a:r>
            <a:endParaRPr lang="ru-RU" dirty="0">
              <a:solidFill>
                <a:schemeClr val="tx1"/>
              </a:solidFill>
            </a:endParaRPr>
          </a:p>
          <a:p>
            <a:pPr algn="r"/>
            <a:r>
              <a:rPr lang="ru-RU" dirty="0">
                <a:solidFill>
                  <a:schemeClr val="tx1"/>
                </a:solidFill>
              </a:rPr>
              <a:t>Проверил </a:t>
            </a:r>
            <a:r>
              <a:rPr lang="ru-RU" spc="-1" dirty="0" err="1">
                <a:solidFill>
                  <a:schemeClr val="tx1"/>
                </a:solidFill>
                <a:ea typeface="DejaVu Sans"/>
              </a:rPr>
              <a:t>ст</a:t>
            </a:r>
            <a:r>
              <a:rPr lang="en-US" spc="-1" dirty="0">
                <a:solidFill>
                  <a:schemeClr val="tx1"/>
                </a:solidFill>
                <a:ea typeface="DejaVu Sans"/>
              </a:rPr>
              <a:t>.</a:t>
            </a:r>
            <a:r>
              <a:rPr lang="ru-RU" spc="-1" dirty="0">
                <a:solidFill>
                  <a:schemeClr val="tx1"/>
                </a:solidFill>
                <a:ea typeface="DejaVu Sans"/>
              </a:rPr>
              <a:t> преподаватель </a:t>
            </a:r>
          </a:p>
          <a:p>
            <a:pPr algn="r"/>
            <a:r>
              <a:rPr lang="ru-RU" spc="-1" dirty="0">
                <a:solidFill>
                  <a:schemeClr val="tx1"/>
                </a:solidFill>
                <a:ea typeface="DejaVu Sans"/>
              </a:rPr>
              <a:t>Кушнир Надежда Владимировна</a:t>
            </a:r>
            <a:endParaRPr lang="ru-RU" dirty="0">
              <a:solidFill>
                <a:schemeClr val="tx1"/>
              </a:solidFill>
            </a:endParaRPr>
          </a:p>
          <a:p>
            <a:endParaRPr lang="ru-RU" dirty="0">
              <a:solidFill>
                <a:schemeClr val="tx1"/>
              </a:solidFill>
            </a:endParaRPr>
          </a:p>
        </p:txBody>
      </p:sp>
    </p:spTree>
    <p:extLst>
      <p:ext uri="{BB962C8B-B14F-4D97-AF65-F5344CB8AC3E}">
        <p14:creationId xmlns:p14="http://schemas.microsoft.com/office/powerpoint/2010/main" val="228425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1EDE4-BCF3-95EA-4CB8-49B1DC9B3B7B}"/>
              </a:ext>
            </a:extLst>
          </p:cNvPr>
          <p:cNvSpPr>
            <a:spLocks noGrp="1"/>
          </p:cNvSpPr>
          <p:nvPr>
            <p:ph type="title"/>
          </p:nvPr>
        </p:nvSpPr>
        <p:spPr>
          <a:xfrm>
            <a:off x="84381" y="-250900"/>
            <a:ext cx="10772775" cy="1658198"/>
          </a:xfrm>
        </p:spPr>
        <p:txBody>
          <a:bodyPr/>
          <a:lstStyle/>
          <a:p>
            <a:r>
              <a:rPr lang="ru-RU" dirty="0"/>
              <a:t>Цель работы и задания</a:t>
            </a:r>
          </a:p>
        </p:txBody>
      </p:sp>
      <p:sp>
        <p:nvSpPr>
          <p:cNvPr id="3" name="Объект 2">
            <a:extLst>
              <a:ext uri="{FF2B5EF4-FFF2-40B4-BE49-F238E27FC236}">
                <a16:creationId xmlns:a16="http://schemas.microsoft.com/office/drawing/2014/main" id="{5E1C9885-6667-6B03-04C5-B8F6DD4EB99C}"/>
              </a:ext>
            </a:extLst>
          </p:cNvPr>
          <p:cNvSpPr>
            <a:spLocks noGrp="1"/>
          </p:cNvSpPr>
          <p:nvPr>
            <p:ph idx="1"/>
          </p:nvPr>
        </p:nvSpPr>
        <p:spPr>
          <a:xfrm>
            <a:off x="173157" y="1020932"/>
            <a:ext cx="11756910" cy="639192"/>
          </a:xfrm>
        </p:spPr>
        <p:txBody>
          <a:bodyPr>
            <a:normAutofit/>
          </a:bodyPr>
          <a:lstStyle/>
          <a:p>
            <a:r>
              <a:rPr lang="ru-RU" sz="2000" dirty="0"/>
              <a:t>Цель работы</a:t>
            </a:r>
            <a:r>
              <a:rPr lang="en-US" sz="2000" dirty="0"/>
              <a:t>:</a:t>
            </a:r>
            <a:r>
              <a:rPr lang="ru-RU" sz="2000" dirty="0"/>
              <a:t> познакомиться с разными видами пользовательских форм.</a:t>
            </a:r>
            <a:endParaRPr lang="en-US" sz="2000" dirty="0"/>
          </a:p>
        </p:txBody>
      </p:sp>
      <p:sp>
        <p:nvSpPr>
          <p:cNvPr id="4" name="Объект 2">
            <a:extLst>
              <a:ext uri="{FF2B5EF4-FFF2-40B4-BE49-F238E27FC236}">
                <a16:creationId xmlns:a16="http://schemas.microsoft.com/office/drawing/2014/main" id="{59766D13-22DE-4951-8B9C-AF6ECFACB0D8}"/>
              </a:ext>
            </a:extLst>
          </p:cNvPr>
          <p:cNvSpPr txBox="1">
            <a:spLocks/>
          </p:cNvSpPr>
          <p:nvPr/>
        </p:nvSpPr>
        <p:spPr>
          <a:xfrm>
            <a:off x="288566" y="1695634"/>
            <a:ext cx="11756910" cy="5007007"/>
          </a:xfrm>
          <a:prstGeom prst="rect">
            <a:avLst/>
          </a:prstGeom>
        </p:spPr>
        <p:txBody>
          <a:bodyPr vert="horz" lIns="91440" tIns="45720" rIns="91440" bIns="45720" rtlCol="0">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spcBef>
                <a:spcPts val="200"/>
              </a:spcBef>
              <a:buNone/>
            </a:pPr>
            <a:r>
              <a:rPr lang="ru-RU" sz="1700" dirty="0">
                <a:cs typeface="Times New Roman" panose="02020603050405020304" pitchFamily="18" charset="0"/>
              </a:rPr>
              <a:t>Задание 1.</a:t>
            </a:r>
          </a:p>
          <a:p>
            <a:pPr marL="0" indent="0">
              <a:spcBef>
                <a:spcPts val="200"/>
              </a:spcBef>
              <a:buNone/>
            </a:pPr>
            <a:r>
              <a:rPr lang="ru-RU" sz="1700" dirty="0">
                <a:cs typeface="Times New Roman" panose="02020603050405020304" pitchFamily="18" charset="0"/>
              </a:rPr>
              <a:t>Создайте HTML – форму «Личная», в которой пользователь будет задавать свое имя, фамилию, адрес, интересы (может быть несколько), </a:t>
            </a:r>
            <a:r>
              <a:rPr lang="ru-RU" sz="1700" dirty="0" err="1">
                <a:cs typeface="Times New Roman" panose="02020603050405020304" pitchFamily="18" charset="0"/>
              </a:rPr>
              <a:t>username</a:t>
            </a:r>
            <a:r>
              <a:rPr lang="ru-RU" sz="1700" dirty="0">
                <a:cs typeface="Times New Roman" panose="02020603050405020304" pitchFamily="18" charset="0"/>
              </a:rPr>
              <a:t>, </a:t>
            </a:r>
            <a:r>
              <a:rPr lang="ru-RU" sz="1700" dirty="0" err="1">
                <a:cs typeface="Times New Roman" panose="02020603050405020304" pitchFamily="18" charset="0"/>
              </a:rPr>
              <a:t>password</a:t>
            </a:r>
            <a:r>
              <a:rPr lang="ru-RU" sz="1700" dirty="0">
                <a:cs typeface="Times New Roman" panose="02020603050405020304" pitchFamily="18" charset="0"/>
              </a:rPr>
              <a:t>.</a:t>
            </a:r>
          </a:p>
          <a:p>
            <a:pPr marL="0" indent="0">
              <a:spcBef>
                <a:spcPts val="200"/>
              </a:spcBef>
              <a:buNone/>
            </a:pPr>
            <a:r>
              <a:rPr lang="ru-RU" sz="1700" dirty="0">
                <a:cs typeface="Times New Roman" panose="02020603050405020304" pitchFamily="18" charset="0"/>
              </a:rPr>
              <a:t>Задание 2.</a:t>
            </a:r>
          </a:p>
          <a:p>
            <a:pPr marL="0" indent="0">
              <a:spcBef>
                <a:spcPts val="200"/>
              </a:spcBef>
              <a:buNone/>
            </a:pPr>
            <a:r>
              <a:rPr lang="ru-RU" sz="1700" dirty="0">
                <a:cs typeface="Times New Roman" panose="02020603050405020304" pitchFamily="18" charset="0"/>
              </a:rPr>
              <a:t>Предусмотреть текстовое поле для комментария из нескольких строк. Следует учитывать следующие моменты компоновки и дизайна HTML – форм выбор даты, месяца и  года рождения должен производиться различными способами. Предусмотрите в данной форме гиперссылку для перехода на другой Web – документ.</a:t>
            </a:r>
          </a:p>
          <a:p>
            <a:pPr marL="0" indent="0">
              <a:spcBef>
                <a:spcPts val="200"/>
              </a:spcBef>
              <a:buNone/>
            </a:pPr>
            <a:r>
              <a:rPr lang="ru-RU" sz="1700" dirty="0">
                <a:cs typeface="Times New Roman" panose="02020603050405020304" pitchFamily="18" charset="0"/>
              </a:rPr>
              <a:t>Задание 3.</a:t>
            </a:r>
          </a:p>
          <a:p>
            <a:pPr marL="0" indent="0">
              <a:spcBef>
                <a:spcPts val="200"/>
              </a:spcBef>
              <a:buNone/>
            </a:pPr>
            <a:r>
              <a:rPr lang="ru-RU" sz="1700" dirty="0">
                <a:cs typeface="Times New Roman" panose="02020603050405020304" pitchFamily="18" charset="0"/>
              </a:rPr>
              <a:t>Создать опрос общественного мнения, ориентированный на исследование рынка сбыта автомобилей. Выполнить в виде формы, предусмотреть создание как минимум 4 страниц, кнопок Clear и </a:t>
            </a:r>
            <a:r>
              <a:rPr lang="ru-RU" sz="1700" dirty="0" err="1">
                <a:cs typeface="Times New Roman" panose="02020603050405020304" pitchFamily="18" charset="0"/>
              </a:rPr>
              <a:t>Submit</a:t>
            </a:r>
            <a:r>
              <a:rPr lang="ru-RU" sz="1700" dirty="0">
                <a:cs typeface="Times New Roman" panose="02020603050405020304" pitchFamily="18" charset="0"/>
              </a:rPr>
              <a:t>. Сформировать HTML – форму, в которой выбор информации осуществляется из различных видов списков.</a:t>
            </a:r>
          </a:p>
        </p:txBody>
      </p:sp>
    </p:spTree>
    <p:extLst>
      <p:ext uri="{BB962C8B-B14F-4D97-AF65-F5344CB8AC3E}">
        <p14:creationId xmlns:p14="http://schemas.microsoft.com/office/powerpoint/2010/main" val="417124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a:t>
            </a:r>
            <a:r>
              <a:rPr lang="en-US" dirty="0"/>
              <a:t>. </a:t>
            </a:r>
            <a:r>
              <a:rPr lang="ru-RU" dirty="0"/>
              <a:t>Задание 1</a:t>
            </a:r>
          </a:p>
        </p:txBody>
      </p:sp>
      <p:pic>
        <p:nvPicPr>
          <p:cNvPr id="4" name="Рисунок 3" descr="Изображение выглядит как текст, снимок экрана, Шрифт, число&#10;&#10;Содержимое, созданное искусственным интеллектом, может быть неверным.">
            <a:extLst>
              <a:ext uri="{FF2B5EF4-FFF2-40B4-BE49-F238E27FC236}">
                <a16:creationId xmlns:a16="http://schemas.microsoft.com/office/drawing/2014/main" id="{5D416321-D71A-CC16-DFDA-839FBF557967}"/>
              </a:ext>
            </a:extLst>
          </p:cNvPr>
          <p:cNvPicPr>
            <a:picLocks noChangeAspect="1"/>
          </p:cNvPicPr>
          <p:nvPr/>
        </p:nvPicPr>
        <p:blipFill>
          <a:blip r:embed="rId2"/>
          <a:stretch>
            <a:fillRect/>
          </a:stretch>
        </p:blipFill>
        <p:spPr>
          <a:xfrm>
            <a:off x="409074" y="1098688"/>
            <a:ext cx="5364439" cy="3315672"/>
          </a:xfrm>
          <a:prstGeom prst="rect">
            <a:avLst/>
          </a:prstGeom>
        </p:spPr>
      </p:pic>
      <p:pic>
        <p:nvPicPr>
          <p:cNvPr id="7" name="Рисунок 6" descr="Изображение выглядит как текст, снимок экрана, число, Шрифт&#10;&#10;Содержимое, созданное искусственным интеллектом, может быть неверным.">
            <a:extLst>
              <a:ext uri="{FF2B5EF4-FFF2-40B4-BE49-F238E27FC236}">
                <a16:creationId xmlns:a16="http://schemas.microsoft.com/office/drawing/2014/main" id="{88CEA1FB-3579-4E96-37A2-81AE9E6B8492}"/>
              </a:ext>
            </a:extLst>
          </p:cNvPr>
          <p:cNvPicPr>
            <a:picLocks noChangeAspect="1"/>
          </p:cNvPicPr>
          <p:nvPr/>
        </p:nvPicPr>
        <p:blipFill>
          <a:blip r:embed="rId3"/>
          <a:stretch>
            <a:fillRect/>
          </a:stretch>
        </p:blipFill>
        <p:spPr>
          <a:xfrm>
            <a:off x="6096000" y="2003977"/>
            <a:ext cx="4924633" cy="4568383"/>
          </a:xfrm>
          <a:prstGeom prst="rect">
            <a:avLst/>
          </a:prstGeom>
        </p:spPr>
      </p:pic>
    </p:spTree>
    <p:extLst>
      <p:ext uri="{BB962C8B-B14F-4D97-AF65-F5344CB8AC3E}">
        <p14:creationId xmlns:p14="http://schemas.microsoft.com/office/powerpoint/2010/main" val="160369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 Задание </a:t>
            </a:r>
            <a:r>
              <a:rPr lang="en-US" dirty="0"/>
              <a:t>1</a:t>
            </a:r>
            <a:endParaRPr lang="ru-RU" dirty="0"/>
          </a:p>
        </p:txBody>
      </p:sp>
      <p:sp>
        <p:nvSpPr>
          <p:cNvPr id="3" name="Объект 2">
            <a:extLst>
              <a:ext uri="{FF2B5EF4-FFF2-40B4-BE49-F238E27FC236}">
                <a16:creationId xmlns:a16="http://schemas.microsoft.com/office/drawing/2014/main" id="{A6966A71-BBCC-E9A0-C026-AA1C37329180}"/>
              </a:ext>
            </a:extLst>
          </p:cNvPr>
          <p:cNvSpPr>
            <a:spLocks noGrp="1"/>
          </p:cNvSpPr>
          <p:nvPr>
            <p:ph idx="1"/>
          </p:nvPr>
        </p:nvSpPr>
        <p:spPr>
          <a:xfrm>
            <a:off x="-62147" y="1088612"/>
            <a:ext cx="3445424" cy="5769388"/>
          </a:xfrm>
        </p:spPr>
        <p:txBody>
          <a:bodyPr>
            <a:normAutofit fontScale="92500" lnSpcReduction="20000"/>
          </a:bodyPr>
          <a:lstStyle/>
          <a:p>
            <a:pPr marL="0">
              <a:spcBef>
                <a:spcPts val="0"/>
              </a:spcBef>
            </a:pPr>
            <a:r>
              <a:rPr lang="en-US" sz="900" dirty="0"/>
              <a:t>&lt;!DOCTYPE html&gt;</a:t>
            </a:r>
          </a:p>
          <a:p>
            <a:pPr marL="0">
              <a:spcBef>
                <a:spcPts val="0"/>
              </a:spcBef>
            </a:pPr>
            <a:r>
              <a:rPr lang="en-US" sz="900" dirty="0"/>
              <a:t>&lt;html lang="</a:t>
            </a:r>
            <a:r>
              <a:rPr lang="en-US" sz="900" dirty="0" err="1"/>
              <a:t>ru</a:t>
            </a:r>
            <a:r>
              <a:rPr lang="en-US" sz="900" dirty="0"/>
              <a:t>"&gt;</a:t>
            </a:r>
          </a:p>
          <a:p>
            <a:pPr marL="0">
              <a:spcBef>
                <a:spcPts val="0"/>
              </a:spcBef>
            </a:pPr>
            <a:r>
              <a:rPr lang="en-US" sz="900" dirty="0"/>
              <a:t>&lt;head&gt;</a:t>
            </a:r>
          </a:p>
          <a:p>
            <a:pPr marL="0">
              <a:spcBef>
                <a:spcPts val="0"/>
              </a:spcBef>
            </a:pPr>
            <a:r>
              <a:rPr lang="en-US" sz="900" dirty="0"/>
              <a:t>  &lt;meta charset="UTF-8"&gt;</a:t>
            </a:r>
          </a:p>
          <a:p>
            <a:pPr marL="0">
              <a:spcBef>
                <a:spcPts val="0"/>
              </a:spcBef>
            </a:pPr>
            <a:r>
              <a:rPr lang="en-US" sz="900" dirty="0"/>
              <a:t>  &lt;title&gt;</a:t>
            </a:r>
            <a:r>
              <a:rPr lang="ru-RU" sz="900" dirty="0"/>
              <a:t>ЛР8. Форма регистрации с сохранением&lt;/</a:t>
            </a:r>
            <a:r>
              <a:rPr lang="en-US" sz="900" dirty="0"/>
              <a:t>title&gt;</a:t>
            </a:r>
          </a:p>
          <a:p>
            <a:pPr marL="0">
              <a:spcBef>
                <a:spcPts val="0"/>
              </a:spcBef>
            </a:pPr>
            <a:r>
              <a:rPr lang="en-US" sz="900" dirty="0"/>
              <a:t>  &lt;style&gt;</a:t>
            </a:r>
          </a:p>
          <a:p>
            <a:pPr marL="0">
              <a:spcBef>
                <a:spcPts val="0"/>
              </a:spcBef>
            </a:pPr>
            <a:r>
              <a:rPr lang="en-US" sz="900" dirty="0"/>
              <a:t>    body {</a:t>
            </a:r>
          </a:p>
          <a:p>
            <a:pPr marL="0">
              <a:spcBef>
                <a:spcPts val="0"/>
              </a:spcBef>
            </a:pPr>
            <a:r>
              <a:rPr lang="en-US" sz="900" dirty="0"/>
              <a:t>      font-family: Arial, sans-serif;</a:t>
            </a:r>
          </a:p>
          <a:p>
            <a:pPr marL="0">
              <a:spcBef>
                <a:spcPts val="0"/>
              </a:spcBef>
            </a:pPr>
            <a:r>
              <a:rPr lang="en-US" sz="900" dirty="0"/>
              <a:t>      background: #f5f5f5;</a:t>
            </a:r>
          </a:p>
          <a:p>
            <a:pPr marL="0">
              <a:spcBef>
                <a:spcPts val="0"/>
              </a:spcBef>
            </a:pPr>
            <a:r>
              <a:rPr lang="en-US" sz="900" dirty="0"/>
              <a:t>      padding: 20px;</a:t>
            </a:r>
          </a:p>
          <a:p>
            <a:pPr marL="0">
              <a:spcBef>
                <a:spcPts val="0"/>
              </a:spcBef>
            </a:pPr>
            <a:r>
              <a:rPr lang="en-US" sz="900" dirty="0"/>
              <a:t>    }</a:t>
            </a:r>
          </a:p>
          <a:p>
            <a:pPr marL="0">
              <a:spcBef>
                <a:spcPts val="0"/>
              </a:spcBef>
            </a:pPr>
            <a:r>
              <a:rPr lang="en-US" sz="900" dirty="0"/>
              <a:t>    h1 { text-align: center; color: #333; }</a:t>
            </a:r>
          </a:p>
          <a:p>
            <a:pPr marL="0">
              <a:spcBef>
                <a:spcPts val="0"/>
              </a:spcBef>
            </a:pPr>
            <a:r>
              <a:rPr lang="en-US" sz="900" dirty="0"/>
              <a:t>    form {</a:t>
            </a:r>
          </a:p>
          <a:p>
            <a:pPr marL="0">
              <a:spcBef>
                <a:spcPts val="0"/>
              </a:spcBef>
            </a:pPr>
            <a:r>
              <a:rPr lang="en-US" sz="900" dirty="0"/>
              <a:t>      max-width: 600px;</a:t>
            </a:r>
          </a:p>
          <a:p>
            <a:pPr marL="0">
              <a:spcBef>
                <a:spcPts val="0"/>
              </a:spcBef>
            </a:pPr>
            <a:r>
              <a:rPr lang="en-US" sz="900" dirty="0"/>
              <a:t>      margin: auto;</a:t>
            </a:r>
          </a:p>
          <a:p>
            <a:pPr marL="0">
              <a:spcBef>
                <a:spcPts val="0"/>
              </a:spcBef>
            </a:pPr>
            <a:r>
              <a:rPr lang="en-US" sz="900" dirty="0"/>
              <a:t>      background: #fff;</a:t>
            </a:r>
          </a:p>
          <a:p>
            <a:pPr marL="0">
              <a:spcBef>
                <a:spcPts val="0"/>
              </a:spcBef>
            </a:pPr>
            <a:r>
              <a:rPr lang="en-US" sz="900" dirty="0"/>
              <a:t>      padding: 20px;</a:t>
            </a:r>
          </a:p>
          <a:p>
            <a:pPr marL="0">
              <a:spcBef>
                <a:spcPts val="0"/>
              </a:spcBef>
            </a:pPr>
            <a:r>
              <a:rPr lang="en-US" sz="900" dirty="0"/>
              <a:t>      border-radius: 10px;</a:t>
            </a:r>
          </a:p>
          <a:p>
            <a:pPr marL="0">
              <a:spcBef>
                <a:spcPts val="0"/>
              </a:spcBef>
            </a:pPr>
            <a:r>
              <a:rPr lang="en-US" sz="900" dirty="0"/>
              <a:t>      box-shadow: 0 0 10px </a:t>
            </a:r>
            <a:r>
              <a:rPr lang="en-US" sz="900" dirty="0" err="1"/>
              <a:t>rgba</a:t>
            </a:r>
            <a:r>
              <a:rPr lang="en-US" sz="900" dirty="0"/>
              <a:t>(0,0,0,0.1);</a:t>
            </a:r>
          </a:p>
          <a:p>
            <a:pPr marL="0">
              <a:spcBef>
                <a:spcPts val="0"/>
              </a:spcBef>
            </a:pPr>
            <a:r>
              <a:rPr lang="en-US" sz="900" dirty="0"/>
              <a:t>    }</a:t>
            </a:r>
          </a:p>
          <a:p>
            <a:pPr marL="0">
              <a:spcBef>
                <a:spcPts val="0"/>
              </a:spcBef>
            </a:pPr>
            <a:r>
              <a:rPr lang="en-US" sz="900" dirty="0"/>
              <a:t>    .form-group { margin-bottom: 15px; }</a:t>
            </a:r>
          </a:p>
          <a:p>
            <a:pPr marL="0">
              <a:spcBef>
                <a:spcPts val="0"/>
              </a:spcBef>
            </a:pPr>
            <a:r>
              <a:rPr lang="en-US" sz="900" dirty="0"/>
              <a:t>    label { display: block; font-weight: bold; margin-bottom: 5px; }</a:t>
            </a:r>
          </a:p>
          <a:p>
            <a:pPr marL="0">
              <a:spcBef>
                <a:spcPts val="0"/>
              </a:spcBef>
            </a:pPr>
            <a:r>
              <a:rPr lang="en-US" sz="900" dirty="0"/>
              <a:t>    input, select {</a:t>
            </a:r>
          </a:p>
          <a:p>
            <a:pPr marL="0">
              <a:spcBef>
                <a:spcPts val="0"/>
              </a:spcBef>
            </a:pPr>
            <a:r>
              <a:rPr lang="en-US" sz="900" dirty="0"/>
              <a:t>      width: 100%;</a:t>
            </a:r>
          </a:p>
          <a:p>
            <a:pPr marL="0">
              <a:spcBef>
                <a:spcPts val="0"/>
              </a:spcBef>
            </a:pPr>
            <a:r>
              <a:rPr lang="en-US" sz="900" dirty="0"/>
              <a:t>      padding: 8px;</a:t>
            </a:r>
          </a:p>
          <a:p>
            <a:pPr marL="0">
              <a:spcBef>
                <a:spcPts val="0"/>
              </a:spcBef>
            </a:pPr>
            <a:r>
              <a:rPr lang="en-US" sz="900" dirty="0"/>
              <a:t>      border: 1px solid #ccc;</a:t>
            </a:r>
          </a:p>
          <a:p>
            <a:pPr marL="0">
              <a:spcBef>
                <a:spcPts val="0"/>
              </a:spcBef>
            </a:pPr>
            <a:r>
              <a:rPr lang="en-US" sz="900" dirty="0"/>
              <a:t>      border-radius: 5px;</a:t>
            </a:r>
          </a:p>
          <a:p>
            <a:pPr marL="0">
              <a:spcBef>
                <a:spcPts val="0"/>
              </a:spcBef>
            </a:pPr>
            <a:r>
              <a:rPr lang="en-US" sz="900" dirty="0"/>
              <a:t>    }</a:t>
            </a:r>
          </a:p>
          <a:p>
            <a:pPr marL="0">
              <a:spcBef>
                <a:spcPts val="0"/>
              </a:spcBef>
            </a:pPr>
            <a:r>
              <a:rPr lang="en-US" sz="900" dirty="0"/>
              <a:t>    input[type="radio"] {</a:t>
            </a:r>
          </a:p>
          <a:p>
            <a:pPr marL="0">
              <a:spcBef>
                <a:spcPts val="0"/>
              </a:spcBef>
            </a:pPr>
            <a:r>
              <a:rPr lang="en-US" sz="900" dirty="0"/>
              <a:t>      width: auto;</a:t>
            </a:r>
          </a:p>
          <a:p>
            <a:pPr marL="0">
              <a:spcBef>
                <a:spcPts val="0"/>
              </a:spcBef>
            </a:pPr>
            <a:r>
              <a:rPr lang="en-US" sz="900" dirty="0"/>
              <a:t>      margin-right: 5px;</a:t>
            </a:r>
          </a:p>
          <a:p>
            <a:pPr marL="0">
              <a:spcBef>
                <a:spcPts val="0"/>
              </a:spcBef>
            </a:pPr>
            <a:r>
              <a:rPr lang="en-US" sz="900" dirty="0"/>
              <a:t>    }</a:t>
            </a:r>
          </a:p>
          <a:p>
            <a:pPr marL="0">
              <a:spcBef>
                <a:spcPts val="0"/>
              </a:spcBef>
            </a:pPr>
            <a:r>
              <a:rPr lang="en-US" sz="900" dirty="0"/>
              <a:t>    .tabs { display: flex; margin-bottom: 15px; border-bottom: 2px solid #ccc; }</a:t>
            </a:r>
          </a:p>
          <a:p>
            <a:pPr marL="0">
              <a:spcBef>
                <a:spcPts val="0"/>
              </a:spcBef>
            </a:pPr>
            <a:r>
              <a:rPr lang="en-US" sz="900" dirty="0"/>
              <a:t>    .tab {</a:t>
            </a:r>
          </a:p>
          <a:p>
            <a:pPr marL="0">
              <a:spcBef>
                <a:spcPts val="0"/>
              </a:spcBef>
            </a:pPr>
            <a:r>
              <a:rPr lang="en-US" sz="900" dirty="0"/>
              <a:t>      padding: 10px 20px;</a:t>
            </a:r>
          </a:p>
          <a:p>
            <a:pPr marL="0">
              <a:spcBef>
                <a:spcPts val="0"/>
              </a:spcBef>
            </a:pPr>
            <a:r>
              <a:rPr lang="en-US" sz="900" dirty="0"/>
              <a:t>      cursor: pointer;</a:t>
            </a:r>
          </a:p>
          <a:p>
            <a:pPr marL="0">
              <a:spcBef>
                <a:spcPts val="0"/>
              </a:spcBef>
            </a:pPr>
            <a:r>
              <a:rPr lang="en-US" sz="900" dirty="0"/>
              <a:t>      border: 1px solid #ccc;</a:t>
            </a:r>
          </a:p>
          <a:p>
            <a:pPr marL="0">
              <a:spcBef>
                <a:spcPts val="0"/>
              </a:spcBef>
            </a:pPr>
            <a:r>
              <a:rPr lang="en-US" sz="900" dirty="0"/>
              <a:t>      border-bottom: none;</a:t>
            </a:r>
          </a:p>
          <a:p>
            <a:pPr marL="0">
              <a:spcBef>
                <a:spcPts val="0"/>
              </a:spcBef>
            </a:pPr>
            <a:r>
              <a:rPr lang="en-US" sz="900" dirty="0"/>
              <a:t>      background: #eee;</a:t>
            </a:r>
          </a:p>
          <a:p>
            <a:pPr marL="0">
              <a:spcBef>
                <a:spcPts val="0"/>
              </a:spcBef>
            </a:pPr>
            <a:r>
              <a:rPr lang="en-US" sz="900" dirty="0"/>
              <a:t>      margin-right: 5px;</a:t>
            </a:r>
          </a:p>
          <a:p>
            <a:pPr marL="0">
              <a:spcBef>
                <a:spcPts val="0"/>
              </a:spcBef>
            </a:pPr>
            <a:r>
              <a:rPr lang="en-US" sz="900" dirty="0"/>
              <a:t>      border-radius: 5px </a:t>
            </a:r>
            <a:r>
              <a:rPr lang="en-US" sz="900" dirty="0" err="1"/>
              <a:t>5px</a:t>
            </a:r>
            <a:r>
              <a:rPr lang="en-US" sz="900" dirty="0"/>
              <a:t> 0 0;</a:t>
            </a:r>
          </a:p>
          <a:p>
            <a:pPr marL="0">
              <a:spcBef>
                <a:spcPts val="0"/>
              </a:spcBef>
            </a:pPr>
            <a:r>
              <a:rPr lang="en-US" sz="900" dirty="0"/>
              <a:t>    }</a:t>
            </a:r>
          </a:p>
          <a:p>
            <a:pPr marL="0">
              <a:spcBef>
                <a:spcPts val="0"/>
              </a:spcBef>
            </a:pPr>
            <a:r>
              <a:rPr lang="en-US" sz="900" dirty="0"/>
              <a:t>    .</a:t>
            </a:r>
            <a:r>
              <a:rPr lang="en-US" sz="900" dirty="0" err="1"/>
              <a:t>tab.active</a:t>
            </a:r>
            <a:r>
              <a:rPr lang="en-US" sz="900" dirty="0"/>
              <a:t> { background: #fff; font-weight: bold; }</a:t>
            </a:r>
          </a:p>
          <a:p>
            <a:pPr marL="0">
              <a:spcBef>
                <a:spcPts val="0"/>
              </a:spcBef>
            </a:pPr>
            <a:r>
              <a:rPr lang="en-US" sz="900" dirty="0"/>
              <a:t>    .tab-content { display: none; }</a:t>
            </a:r>
          </a:p>
          <a:p>
            <a:pPr marL="0">
              <a:spcBef>
                <a:spcPts val="0"/>
              </a:spcBef>
            </a:pPr>
            <a:r>
              <a:rPr lang="en-US" sz="900" dirty="0"/>
              <a:t>    .tab-</a:t>
            </a:r>
            <a:r>
              <a:rPr lang="en-US" sz="900" dirty="0" err="1"/>
              <a:t>content.active</a:t>
            </a:r>
            <a:r>
              <a:rPr lang="en-US" sz="900" dirty="0"/>
              <a:t> { display: block; }</a:t>
            </a:r>
          </a:p>
          <a:p>
            <a:pPr marL="0">
              <a:spcBef>
                <a:spcPts val="0"/>
              </a:spcBef>
            </a:pPr>
            <a:r>
              <a:rPr lang="en-US" sz="900" dirty="0"/>
              <a:t>    button {</a:t>
            </a:r>
          </a:p>
          <a:p>
            <a:pPr marL="0">
              <a:spcBef>
                <a:spcPts val="0"/>
              </a:spcBef>
            </a:pPr>
            <a:r>
              <a:rPr lang="en-US" sz="900" dirty="0"/>
              <a:t>      background: #0066cc;</a:t>
            </a:r>
          </a:p>
          <a:p>
            <a:pPr marL="0">
              <a:spcBef>
                <a:spcPts val="0"/>
              </a:spcBef>
            </a:pPr>
            <a:r>
              <a:rPr lang="en-US" sz="900" dirty="0"/>
              <a:t>      color: #fff;</a:t>
            </a:r>
          </a:p>
          <a:p>
            <a:pPr marL="0">
              <a:spcBef>
                <a:spcPts val="0"/>
              </a:spcBef>
            </a:pPr>
            <a:r>
              <a:rPr lang="en-US" sz="900" dirty="0"/>
              <a:t>      padding: 10px 20px;</a:t>
            </a:r>
          </a:p>
          <a:p>
            <a:pPr marL="0">
              <a:spcBef>
                <a:spcPts val="0"/>
              </a:spcBef>
            </a:pPr>
            <a:r>
              <a:rPr lang="en-US" sz="900" dirty="0"/>
              <a:t>      border: none;</a:t>
            </a:r>
          </a:p>
          <a:p>
            <a:pPr marL="0">
              <a:spcBef>
                <a:spcPts val="0"/>
              </a:spcBef>
            </a:pPr>
            <a:r>
              <a:rPr lang="en-US" sz="900" dirty="0"/>
              <a:t>      border-radius: 5px;</a:t>
            </a:r>
          </a:p>
          <a:p>
            <a:pPr marL="0">
              <a:spcBef>
                <a:spcPts val="0"/>
              </a:spcBef>
            </a:pPr>
            <a:r>
              <a:rPr lang="en-US" sz="900" dirty="0"/>
              <a:t>      cursor: pointer;</a:t>
            </a:r>
          </a:p>
          <a:p>
            <a:pPr marL="0">
              <a:spcBef>
                <a:spcPts val="0"/>
              </a:spcBef>
            </a:pPr>
            <a:r>
              <a:rPr lang="en-US" sz="900" dirty="0"/>
              <a:t>    }</a:t>
            </a:r>
          </a:p>
          <a:p>
            <a:pPr marL="0">
              <a:spcBef>
                <a:spcPts val="0"/>
              </a:spcBef>
            </a:pPr>
            <a:r>
              <a:rPr lang="en-US" sz="900" dirty="0"/>
              <a:t>    </a:t>
            </a:r>
            <a:r>
              <a:rPr lang="en-US" sz="900" dirty="0" err="1"/>
              <a:t>button:hover</a:t>
            </a:r>
            <a:r>
              <a:rPr lang="en-US" sz="900" dirty="0"/>
              <a:t> { background: #004c99; }</a:t>
            </a:r>
          </a:p>
          <a:p>
            <a:pPr marL="0">
              <a:spcBef>
                <a:spcPts val="0"/>
              </a:spcBef>
            </a:pPr>
            <a:r>
              <a:rPr lang="en-US" sz="900" dirty="0"/>
              <a:t>    .error { color: red; font-size: 14px; }</a:t>
            </a:r>
          </a:p>
          <a:p>
            <a:pPr marL="0">
              <a:spcBef>
                <a:spcPts val="0"/>
              </a:spcBef>
            </a:pPr>
            <a:r>
              <a:rPr lang="en-US" sz="900" dirty="0"/>
              <a:t>  &lt;/style&gt;</a:t>
            </a:r>
          </a:p>
          <a:p>
            <a:pPr marL="0">
              <a:spcBef>
                <a:spcPts val="0"/>
              </a:spcBef>
            </a:pPr>
            <a:r>
              <a:rPr lang="en-US" sz="900" dirty="0"/>
              <a:t>&lt;/head&gt;</a:t>
            </a:r>
          </a:p>
          <a:p>
            <a:pPr marL="0">
              <a:spcBef>
                <a:spcPts val="0"/>
              </a:spcBef>
            </a:pPr>
            <a:r>
              <a:rPr lang="en-US" sz="900" dirty="0"/>
              <a:t>&lt;body&gt;</a:t>
            </a:r>
          </a:p>
        </p:txBody>
      </p:sp>
      <p:sp>
        <p:nvSpPr>
          <p:cNvPr id="5" name="TextBox 4">
            <a:extLst>
              <a:ext uri="{FF2B5EF4-FFF2-40B4-BE49-F238E27FC236}">
                <a16:creationId xmlns:a16="http://schemas.microsoft.com/office/drawing/2014/main" id="{F7FBF626-1BC5-3C46-AFB1-18DBCE75F818}"/>
              </a:ext>
            </a:extLst>
          </p:cNvPr>
          <p:cNvSpPr txBox="1"/>
          <p:nvPr/>
        </p:nvSpPr>
        <p:spPr>
          <a:xfrm>
            <a:off x="3216128" y="1088612"/>
            <a:ext cx="4787436" cy="5693866"/>
          </a:xfrm>
          <a:prstGeom prst="rect">
            <a:avLst/>
          </a:prstGeom>
          <a:noFill/>
        </p:spPr>
        <p:txBody>
          <a:bodyPr wrap="square">
            <a:spAutoFit/>
          </a:bodyPr>
          <a:lstStyle/>
          <a:p>
            <a:pPr marL="0">
              <a:spcBef>
                <a:spcPts val="0"/>
              </a:spcBef>
            </a:pPr>
            <a:r>
              <a:rPr lang="en-US" sz="700" dirty="0"/>
              <a:t>&lt;h1&gt;</a:t>
            </a:r>
            <a:r>
              <a:rPr lang="ru-RU" sz="700" dirty="0"/>
              <a:t>Форма регистрации&lt;/</a:t>
            </a:r>
            <a:r>
              <a:rPr lang="en-US" sz="700" dirty="0"/>
              <a:t>h1&gt;</a:t>
            </a:r>
          </a:p>
          <a:p>
            <a:pPr marL="0">
              <a:spcBef>
                <a:spcPts val="0"/>
              </a:spcBef>
            </a:pPr>
            <a:r>
              <a:rPr lang="en-US" sz="700" dirty="0"/>
              <a:t>  &lt;form id="</a:t>
            </a:r>
            <a:r>
              <a:rPr lang="en-US" sz="700" dirty="0" err="1"/>
              <a:t>regForm</a:t>
            </a:r>
            <a:r>
              <a:rPr lang="en-US" sz="700" dirty="0"/>
              <a:t>" </a:t>
            </a:r>
            <a:r>
              <a:rPr lang="en-US" sz="700" dirty="0" err="1"/>
              <a:t>onsubmit</a:t>
            </a:r>
            <a:r>
              <a:rPr lang="en-US" sz="700" dirty="0"/>
              <a:t>="return false"&gt;</a:t>
            </a:r>
          </a:p>
          <a:p>
            <a:pPr marL="0">
              <a:spcBef>
                <a:spcPts val="0"/>
              </a:spcBef>
            </a:pPr>
            <a:r>
              <a:rPr lang="en-US" sz="700" dirty="0"/>
              <a:t>    &lt;!-- </a:t>
            </a:r>
            <a:r>
              <a:rPr lang="ru-RU" sz="700" dirty="0"/>
              <a:t>Вкладки --&gt;</a:t>
            </a:r>
          </a:p>
          <a:p>
            <a:pPr marL="0">
              <a:spcBef>
                <a:spcPts val="0"/>
              </a:spcBef>
            </a:pPr>
            <a:r>
              <a:rPr lang="ru-RU" sz="700" dirty="0"/>
              <a:t>    &lt;</a:t>
            </a:r>
            <a:r>
              <a:rPr lang="en-US" sz="700" dirty="0"/>
              <a:t>div class="tabs"&gt;</a:t>
            </a:r>
          </a:p>
          <a:p>
            <a:pPr marL="0">
              <a:spcBef>
                <a:spcPts val="0"/>
              </a:spcBef>
            </a:pPr>
            <a:r>
              <a:rPr lang="en-US" sz="700" dirty="0"/>
              <a:t>      &lt;div class="tab active" onclick="</a:t>
            </a:r>
            <a:r>
              <a:rPr lang="en-US" sz="700" dirty="0" err="1"/>
              <a:t>openTab</a:t>
            </a:r>
            <a:r>
              <a:rPr lang="en-US" sz="700" dirty="0"/>
              <a:t>(event, 'personal')"&gt;</a:t>
            </a:r>
            <a:r>
              <a:rPr lang="ru-RU" sz="700" dirty="0"/>
              <a:t>Личная информация&lt;/</a:t>
            </a:r>
            <a:r>
              <a:rPr lang="en-US" sz="700" dirty="0"/>
              <a:t>div&gt;</a:t>
            </a:r>
          </a:p>
          <a:p>
            <a:pPr marL="0">
              <a:spcBef>
                <a:spcPts val="0"/>
              </a:spcBef>
            </a:pPr>
            <a:r>
              <a:rPr lang="en-US" sz="700" dirty="0"/>
              <a:t>      &lt;div class="tab" onclick="</a:t>
            </a:r>
            <a:r>
              <a:rPr lang="en-US" sz="700" dirty="0" err="1"/>
              <a:t>openTab</a:t>
            </a:r>
            <a:r>
              <a:rPr lang="en-US" sz="700" dirty="0"/>
              <a:t>(event, 'contact')"&gt;</a:t>
            </a:r>
            <a:r>
              <a:rPr lang="ru-RU" sz="700" dirty="0"/>
              <a:t>Контактная информация&lt;/</a:t>
            </a:r>
            <a:r>
              <a:rPr lang="en-US" sz="700" dirty="0"/>
              <a:t>div&gt;</a:t>
            </a:r>
          </a:p>
          <a:p>
            <a:pPr marL="0">
              <a:spcBef>
                <a:spcPts val="0"/>
              </a:spcBef>
            </a:pPr>
            <a:r>
              <a:rPr lang="en-US" sz="700" dirty="0"/>
              <a:t>    &lt;/div&gt;</a:t>
            </a:r>
          </a:p>
          <a:p>
            <a:pPr marL="0">
              <a:spcBef>
                <a:spcPts val="0"/>
              </a:spcBef>
            </a:pPr>
            <a:r>
              <a:rPr lang="en-US" sz="700" dirty="0"/>
              <a:t>    &lt;!-- </a:t>
            </a:r>
            <a:r>
              <a:rPr lang="ru-RU" sz="700" dirty="0"/>
              <a:t>Личная информация --&gt;</a:t>
            </a:r>
          </a:p>
          <a:p>
            <a:pPr marL="0">
              <a:spcBef>
                <a:spcPts val="0"/>
              </a:spcBef>
            </a:pPr>
            <a:r>
              <a:rPr lang="ru-RU" sz="700" dirty="0"/>
              <a:t>    &lt;</a:t>
            </a:r>
            <a:r>
              <a:rPr lang="en-US" sz="700" dirty="0"/>
              <a:t>div id="personal" class="tab-content active"&gt;</a:t>
            </a:r>
          </a:p>
          <a:p>
            <a:pPr marL="0">
              <a:spcBef>
                <a:spcPts val="0"/>
              </a:spcBef>
            </a:pPr>
            <a:r>
              <a:rPr lang="en-US" sz="700" dirty="0"/>
              <a:t>      &lt;div class="form-group"&gt;</a:t>
            </a:r>
          </a:p>
          <a:p>
            <a:pPr marL="0">
              <a:spcBef>
                <a:spcPts val="0"/>
              </a:spcBef>
            </a:pPr>
            <a:r>
              <a:rPr lang="en-US" sz="700" dirty="0"/>
              <a:t>        &lt;label for="</a:t>
            </a:r>
            <a:r>
              <a:rPr lang="en-US" sz="700" dirty="0" err="1"/>
              <a:t>fname</a:t>
            </a:r>
            <a:r>
              <a:rPr lang="en-US" sz="700" dirty="0"/>
              <a:t>"&gt;</a:t>
            </a:r>
            <a:r>
              <a:rPr lang="ru-RU" sz="700" dirty="0"/>
              <a:t>Имя:&lt;/</a:t>
            </a:r>
            <a:r>
              <a:rPr lang="en-US" sz="700" dirty="0"/>
              <a:t>label&gt;</a:t>
            </a:r>
          </a:p>
          <a:p>
            <a:pPr marL="0">
              <a:spcBef>
                <a:spcPts val="0"/>
              </a:spcBef>
            </a:pPr>
            <a:r>
              <a:rPr lang="en-US" sz="700" dirty="0"/>
              <a:t>        &lt;input type="text" id="</a:t>
            </a:r>
            <a:r>
              <a:rPr lang="en-US" sz="700" dirty="0" err="1"/>
              <a:t>fname</a:t>
            </a:r>
            <a:r>
              <a:rPr lang="en-US" sz="700" dirty="0"/>
              <a:t>" name="</a:t>
            </a:r>
            <a:r>
              <a:rPr lang="en-US" sz="700" dirty="0" err="1"/>
              <a:t>fname</a:t>
            </a:r>
            <a:r>
              <a:rPr lang="en-US" sz="700" dirty="0"/>
              <a:t>" placeholder="</a:t>
            </a:r>
            <a:r>
              <a:rPr lang="ru-RU" sz="700" dirty="0"/>
              <a:t>Введите имя" </a:t>
            </a:r>
            <a:r>
              <a:rPr lang="en-US" sz="700" dirty="0"/>
              <a:t>autocomplete="given-name"&gt;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 for="</a:t>
            </a:r>
            <a:r>
              <a:rPr lang="en-US" sz="700" dirty="0" err="1"/>
              <a:t>lname</a:t>
            </a:r>
            <a:r>
              <a:rPr lang="en-US" sz="700" dirty="0"/>
              <a:t>"&gt;</a:t>
            </a:r>
            <a:r>
              <a:rPr lang="ru-RU" sz="700" dirty="0"/>
              <a:t>Фамилия:&lt;/</a:t>
            </a:r>
            <a:r>
              <a:rPr lang="en-US" sz="700" dirty="0"/>
              <a:t>label&gt;</a:t>
            </a:r>
          </a:p>
          <a:p>
            <a:pPr marL="0">
              <a:spcBef>
                <a:spcPts val="0"/>
              </a:spcBef>
            </a:pPr>
            <a:r>
              <a:rPr lang="en-US" sz="700" dirty="0"/>
              <a:t>        &lt;input type="text" id="</a:t>
            </a:r>
            <a:r>
              <a:rPr lang="en-US" sz="700" dirty="0" err="1"/>
              <a:t>lname</a:t>
            </a:r>
            <a:r>
              <a:rPr lang="en-US" sz="700" dirty="0"/>
              <a:t>" name="</a:t>
            </a:r>
            <a:r>
              <a:rPr lang="en-US" sz="700" dirty="0" err="1"/>
              <a:t>lname</a:t>
            </a:r>
            <a:r>
              <a:rPr lang="en-US" sz="700" dirty="0"/>
              <a:t>" placeholder="</a:t>
            </a:r>
            <a:r>
              <a:rPr lang="ru-RU" sz="700" dirty="0"/>
              <a:t>Введите фамилию" </a:t>
            </a:r>
            <a:r>
              <a:rPr lang="en-US" sz="700" dirty="0"/>
              <a:t>autocomplete="family-name"&gt;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&lt;label&gt;</a:t>
            </a:r>
            <a:r>
              <a:rPr lang="ru-RU" sz="700" dirty="0"/>
              <a:t>Пол:&lt;/</a:t>
            </a:r>
            <a:r>
              <a:rPr lang="en-US" sz="700" dirty="0"/>
              <a:t>label&gt;</a:t>
            </a:r>
          </a:p>
          <a:p>
            <a:pPr marL="0">
              <a:spcBef>
                <a:spcPts val="0"/>
              </a:spcBef>
            </a:pPr>
            <a:r>
              <a:rPr lang="en-US" sz="700" dirty="0"/>
              <a:t>        &lt;input type="radio" name="gender" value="</a:t>
            </a:r>
            <a:r>
              <a:rPr lang="ru-RU" sz="700" dirty="0"/>
              <a:t>Мужской"&gt; Мужской</a:t>
            </a:r>
          </a:p>
          <a:p>
            <a:pPr marL="0">
              <a:spcBef>
                <a:spcPts val="0"/>
              </a:spcBef>
            </a:pPr>
            <a:r>
              <a:rPr lang="ru-RU" sz="700" dirty="0"/>
              <a:t>        &lt;</a:t>
            </a:r>
            <a:r>
              <a:rPr lang="en-US" sz="700" dirty="0"/>
              <a:t>input type="radio" name="gender" value="</a:t>
            </a:r>
            <a:r>
              <a:rPr lang="ru-RU" sz="700" dirty="0"/>
              <a:t>Женский"&gt; Женский</a:t>
            </a:r>
          </a:p>
          <a:p>
            <a:pPr marL="0">
              <a:spcBef>
                <a:spcPts val="0"/>
              </a:spcBef>
            </a:pPr>
            <a:r>
              <a:rPr lang="ru-RU" sz="700" dirty="0"/>
              <a:t>      &lt;/</a:t>
            </a:r>
            <a:r>
              <a:rPr lang="en-US" sz="700" dirty="0"/>
              <a:t>div&gt;</a:t>
            </a:r>
          </a:p>
          <a:p>
            <a:pPr marL="0">
              <a:spcBef>
                <a:spcPts val="0"/>
              </a:spcBef>
            </a:pPr>
            <a:r>
              <a:rPr lang="en-US" sz="700" dirty="0"/>
              <a:t>    &lt;/div&gt;</a:t>
            </a:r>
          </a:p>
          <a:p>
            <a:pPr marL="0">
              <a:spcBef>
                <a:spcPts val="0"/>
              </a:spcBef>
            </a:pPr>
            <a:r>
              <a:rPr lang="en-US" sz="700" dirty="0"/>
              <a:t>    &lt;!-- </a:t>
            </a:r>
            <a:r>
              <a:rPr lang="ru-RU" sz="700" dirty="0"/>
              <a:t>Контактная информация --&gt;</a:t>
            </a:r>
          </a:p>
          <a:p>
            <a:pPr marL="0">
              <a:spcBef>
                <a:spcPts val="0"/>
              </a:spcBef>
            </a:pPr>
            <a:r>
              <a:rPr lang="ru-RU" sz="700" dirty="0"/>
              <a:t>    &lt;</a:t>
            </a:r>
            <a:r>
              <a:rPr lang="en-US" sz="700" dirty="0"/>
              <a:t>div id="contact" class="tab-content"&gt;</a:t>
            </a:r>
          </a:p>
          <a:p>
            <a:pPr marL="0">
              <a:spcBef>
                <a:spcPts val="0"/>
              </a:spcBef>
            </a:pPr>
            <a:r>
              <a:rPr lang="en-US" sz="700" dirty="0"/>
              <a:t>      &lt;div class="form-group"&gt;</a:t>
            </a:r>
          </a:p>
          <a:p>
            <a:pPr marL="0">
              <a:spcBef>
                <a:spcPts val="0"/>
              </a:spcBef>
            </a:pPr>
            <a:r>
              <a:rPr lang="en-US" sz="700" dirty="0"/>
              <a:t>        &lt;label for="email"&gt;Email:&lt;/label&gt;</a:t>
            </a:r>
          </a:p>
          <a:p>
            <a:pPr marL="0">
              <a:spcBef>
                <a:spcPts val="0"/>
              </a:spcBef>
            </a:pPr>
            <a:r>
              <a:rPr lang="en-US" sz="700" dirty="0"/>
              <a:t>        &lt;input type="email" id="email" name="email" placeholder="example@mail.com" autocomplete="email"&gt;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 for="password"&gt;</a:t>
            </a:r>
            <a:r>
              <a:rPr lang="ru-RU" sz="700" dirty="0"/>
              <a:t>Пароль:&lt;/</a:t>
            </a:r>
            <a:r>
              <a:rPr lang="en-US" sz="700" dirty="0"/>
              <a:t>label&gt;</a:t>
            </a:r>
          </a:p>
          <a:p>
            <a:pPr marL="0">
              <a:spcBef>
                <a:spcPts val="0"/>
              </a:spcBef>
            </a:pPr>
            <a:r>
              <a:rPr lang="en-US" sz="700" dirty="0"/>
              <a:t>        &lt;input type="password" id="password" name="password" placeholder="</a:t>
            </a:r>
            <a:r>
              <a:rPr lang="ru-RU" sz="700" dirty="0"/>
              <a:t>Введите пароль" </a:t>
            </a:r>
            <a:r>
              <a:rPr lang="en-US" sz="700" dirty="0"/>
              <a:t>autocomplete="new-password"&gt;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 for="age"&gt;</a:t>
            </a:r>
            <a:r>
              <a:rPr lang="ru-RU" sz="700" dirty="0"/>
              <a:t>Возраст (от 18 до 100):&lt;/</a:t>
            </a:r>
            <a:r>
              <a:rPr lang="en-US" sz="700" dirty="0"/>
              <a:t>label&gt;</a:t>
            </a:r>
          </a:p>
          <a:p>
            <a:pPr marL="0">
              <a:spcBef>
                <a:spcPts val="0"/>
              </a:spcBef>
            </a:pPr>
            <a:r>
              <a:rPr lang="en-US" sz="700" dirty="0"/>
              <a:t>        &lt;input type="number" id="age" name="age" min="18" max="100"&gt;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 for="file"&gt;</a:t>
            </a:r>
            <a:r>
              <a:rPr lang="ru-RU" sz="700" dirty="0"/>
              <a:t>Загрузите файл:&lt;/</a:t>
            </a:r>
            <a:r>
              <a:rPr lang="en-US" sz="700" dirty="0"/>
              <a:t>label&gt;</a:t>
            </a:r>
          </a:p>
          <a:p>
            <a:pPr marL="0">
              <a:spcBef>
                <a:spcPts val="0"/>
              </a:spcBef>
            </a:pPr>
            <a:r>
              <a:rPr lang="en-US" sz="700" dirty="0"/>
              <a:t>        &lt;input type="file" id="file" name="file"&gt;</a:t>
            </a:r>
          </a:p>
          <a:p>
            <a:pPr marL="0">
              <a:spcBef>
                <a:spcPts val="0"/>
              </a:spcBef>
            </a:pPr>
            <a:r>
              <a:rPr lang="en-US" sz="700" dirty="0"/>
              <a:t>      &lt;/div&gt;</a:t>
            </a:r>
          </a:p>
          <a:p>
            <a:pPr marL="0">
              <a:spcBef>
                <a:spcPts val="0"/>
              </a:spcBef>
            </a:pPr>
            <a:r>
              <a:rPr lang="en-US" sz="700" dirty="0"/>
              <a:t>      &lt;div class="form-group"&gt;</a:t>
            </a:r>
          </a:p>
          <a:p>
            <a:pPr marL="0">
              <a:spcBef>
                <a:spcPts val="0"/>
              </a:spcBef>
            </a:pPr>
            <a:r>
              <a:rPr lang="en-US" sz="700" dirty="0"/>
              <a:t>        &lt;label for="hobby"&gt;</a:t>
            </a:r>
            <a:r>
              <a:rPr lang="ru-RU" sz="700" dirty="0"/>
              <a:t>Ваши увлечения:&lt;/</a:t>
            </a:r>
            <a:r>
              <a:rPr lang="en-US" sz="700" dirty="0"/>
              <a:t>label&gt;</a:t>
            </a:r>
          </a:p>
          <a:p>
            <a:pPr marL="0">
              <a:spcBef>
                <a:spcPts val="0"/>
              </a:spcBef>
            </a:pPr>
            <a:r>
              <a:rPr lang="en-US" sz="700" dirty="0"/>
              <a:t>        &lt;select id="hobby" name="hobby" multiple size="4"&gt;</a:t>
            </a:r>
          </a:p>
          <a:p>
            <a:pPr marL="0">
              <a:spcBef>
                <a:spcPts val="0"/>
              </a:spcBef>
            </a:pPr>
            <a:r>
              <a:rPr lang="en-US" sz="700" dirty="0"/>
              <a:t>          &lt;option&gt;</a:t>
            </a:r>
            <a:r>
              <a:rPr lang="ru-RU" sz="700" dirty="0"/>
              <a:t>Программирование&lt;/</a:t>
            </a:r>
            <a:r>
              <a:rPr lang="en-US" sz="700" dirty="0"/>
              <a:t>option&gt;</a:t>
            </a:r>
          </a:p>
          <a:p>
            <a:pPr marL="0">
              <a:spcBef>
                <a:spcPts val="0"/>
              </a:spcBef>
            </a:pPr>
            <a:r>
              <a:rPr lang="en-US" sz="700" dirty="0"/>
              <a:t>          &lt;option&gt;</a:t>
            </a:r>
            <a:r>
              <a:rPr lang="ru-RU" sz="700" dirty="0"/>
              <a:t>Спорт&lt;/</a:t>
            </a:r>
            <a:r>
              <a:rPr lang="en-US" sz="700" dirty="0"/>
              <a:t>option&gt;</a:t>
            </a:r>
          </a:p>
          <a:p>
            <a:pPr marL="0">
              <a:spcBef>
                <a:spcPts val="0"/>
              </a:spcBef>
            </a:pPr>
            <a:r>
              <a:rPr lang="en-US" sz="700" dirty="0"/>
              <a:t>          &lt;option&gt;</a:t>
            </a:r>
            <a:r>
              <a:rPr lang="ru-RU" sz="700" dirty="0"/>
              <a:t>Музыка&lt;/</a:t>
            </a:r>
            <a:r>
              <a:rPr lang="en-US" sz="700" dirty="0"/>
              <a:t>option&gt;</a:t>
            </a:r>
          </a:p>
          <a:p>
            <a:pPr marL="0">
              <a:spcBef>
                <a:spcPts val="0"/>
              </a:spcBef>
            </a:pPr>
            <a:r>
              <a:rPr lang="en-US" sz="700" dirty="0"/>
              <a:t>          &lt;option&gt;</a:t>
            </a:r>
            <a:r>
              <a:rPr lang="ru-RU" sz="700" dirty="0"/>
              <a:t>Путешествия&lt;/</a:t>
            </a:r>
            <a:r>
              <a:rPr lang="en-US" sz="700" dirty="0"/>
              <a:t>option&gt;</a:t>
            </a:r>
          </a:p>
          <a:p>
            <a:pPr marL="0">
              <a:spcBef>
                <a:spcPts val="0"/>
              </a:spcBef>
            </a:pPr>
            <a:r>
              <a:rPr lang="en-US" sz="700" dirty="0"/>
              <a:t>          &lt;option&gt;</a:t>
            </a:r>
            <a:r>
              <a:rPr lang="ru-RU" sz="700" dirty="0"/>
              <a:t>Чтение&lt;/</a:t>
            </a:r>
            <a:r>
              <a:rPr lang="en-US" sz="700" dirty="0"/>
              <a:t>option&gt;</a:t>
            </a:r>
          </a:p>
          <a:p>
            <a:pPr marL="0">
              <a:spcBef>
                <a:spcPts val="0"/>
              </a:spcBef>
            </a:pPr>
            <a:r>
              <a:rPr lang="en-US" sz="700" dirty="0"/>
              <a:t>        &lt;/select&gt;</a:t>
            </a:r>
          </a:p>
          <a:p>
            <a:pPr marL="0">
              <a:spcBef>
                <a:spcPts val="0"/>
              </a:spcBef>
            </a:pPr>
            <a:r>
              <a:rPr lang="en-US" sz="700" dirty="0"/>
              <a:t>      &lt;/div&gt;</a:t>
            </a:r>
          </a:p>
          <a:p>
            <a:pPr marL="0">
              <a:spcBef>
                <a:spcPts val="0"/>
              </a:spcBef>
            </a:pPr>
            <a:r>
              <a:rPr lang="en-US" sz="700" dirty="0"/>
              <a:t>    &lt;/div&gt;</a:t>
            </a:r>
          </a:p>
        </p:txBody>
      </p:sp>
      <p:sp>
        <p:nvSpPr>
          <p:cNvPr id="10" name="TextBox 9">
            <a:extLst>
              <a:ext uri="{FF2B5EF4-FFF2-40B4-BE49-F238E27FC236}">
                <a16:creationId xmlns:a16="http://schemas.microsoft.com/office/drawing/2014/main" id="{FA70DE74-FCD5-AEE0-73DF-25806C646119}"/>
              </a:ext>
            </a:extLst>
          </p:cNvPr>
          <p:cNvSpPr txBox="1"/>
          <p:nvPr/>
        </p:nvSpPr>
        <p:spPr>
          <a:xfrm>
            <a:off x="7828091" y="10026"/>
            <a:ext cx="4834890" cy="6986528"/>
          </a:xfrm>
          <a:prstGeom prst="rect">
            <a:avLst/>
          </a:prstGeom>
          <a:noFill/>
        </p:spPr>
        <p:txBody>
          <a:bodyPr wrap="square">
            <a:spAutoFit/>
          </a:bodyPr>
          <a:lstStyle/>
          <a:p>
            <a:pPr marL="0">
              <a:spcBef>
                <a:spcPts val="0"/>
              </a:spcBef>
            </a:pPr>
            <a:r>
              <a:rPr lang="en-US" sz="800" dirty="0"/>
              <a:t>&lt;p class="error" id="</a:t>
            </a:r>
            <a:r>
              <a:rPr lang="en-US" sz="800" dirty="0" err="1"/>
              <a:t>errorMsg</a:t>
            </a:r>
            <a:r>
              <a:rPr lang="en-US" sz="800" dirty="0"/>
              <a:t>"&gt;&lt;/p&gt;</a:t>
            </a:r>
          </a:p>
          <a:p>
            <a:pPr marL="0">
              <a:spcBef>
                <a:spcPts val="0"/>
              </a:spcBef>
            </a:pPr>
            <a:r>
              <a:rPr lang="en-US" sz="800" dirty="0"/>
              <a:t>    &lt;div align="center"&gt;</a:t>
            </a:r>
          </a:p>
          <a:p>
            <a:pPr marL="0">
              <a:spcBef>
                <a:spcPts val="0"/>
              </a:spcBef>
            </a:pPr>
            <a:r>
              <a:rPr lang="en-US" sz="800" dirty="0"/>
              <a:t>      &lt;button type="button" onclick="</a:t>
            </a:r>
            <a:r>
              <a:rPr lang="en-US" sz="800" dirty="0" err="1"/>
              <a:t>saveToFile</a:t>
            </a:r>
            <a:r>
              <a:rPr lang="en-US" sz="800" dirty="0"/>
              <a:t>()"&gt;</a:t>
            </a:r>
            <a:r>
              <a:rPr lang="ru-RU" sz="800" dirty="0"/>
              <a:t>Сохранить&lt;/</a:t>
            </a:r>
            <a:r>
              <a:rPr lang="en-US" sz="800" dirty="0"/>
              <a:t>button&gt;</a:t>
            </a:r>
          </a:p>
          <a:p>
            <a:pPr marL="0">
              <a:spcBef>
                <a:spcPts val="0"/>
              </a:spcBef>
            </a:pPr>
            <a:r>
              <a:rPr lang="en-US" sz="800" dirty="0"/>
              <a:t>    &lt;/div&gt;</a:t>
            </a:r>
          </a:p>
          <a:p>
            <a:pPr marL="0">
              <a:spcBef>
                <a:spcPts val="0"/>
              </a:spcBef>
            </a:pPr>
            <a:r>
              <a:rPr lang="en-US" sz="800" dirty="0"/>
              <a:t>  &lt;/form&gt;</a:t>
            </a:r>
          </a:p>
          <a:p>
            <a:pPr marL="0">
              <a:spcBef>
                <a:spcPts val="0"/>
              </a:spcBef>
            </a:pPr>
            <a:r>
              <a:rPr lang="en-US" sz="800" dirty="0"/>
              <a:t>  &lt;script&gt;</a:t>
            </a:r>
          </a:p>
          <a:p>
            <a:pPr marL="0">
              <a:spcBef>
                <a:spcPts val="0"/>
              </a:spcBef>
            </a:pPr>
            <a:r>
              <a:rPr lang="en-US" sz="800" dirty="0"/>
              <a:t>function </a:t>
            </a:r>
            <a:r>
              <a:rPr lang="en-US" sz="800" dirty="0" err="1"/>
              <a:t>openTab</a:t>
            </a:r>
            <a:r>
              <a:rPr lang="en-US" sz="800" dirty="0"/>
              <a:t>(</a:t>
            </a:r>
            <a:r>
              <a:rPr lang="en-US" sz="800" dirty="0" err="1"/>
              <a:t>evt</a:t>
            </a:r>
            <a:r>
              <a:rPr lang="en-US" sz="800" dirty="0"/>
              <a:t>, </a:t>
            </a:r>
            <a:r>
              <a:rPr lang="en-US" sz="800" dirty="0" err="1"/>
              <a:t>tabName</a:t>
            </a:r>
            <a:r>
              <a:rPr lang="en-US" sz="800" dirty="0"/>
              <a:t>) {</a:t>
            </a:r>
          </a:p>
          <a:p>
            <a:pPr marL="0">
              <a:spcBef>
                <a:spcPts val="0"/>
              </a:spcBef>
            </a:pPr>
            <a:r>
              <a:rPr lang="en-US" sz="800" dirty="0"/>
              <a:t>      let tabs = </a:t>
            </a:r>
            <a:r>
              <a:rPr lang="en-US" sz="800" dirty="0" err="1"/>
              <a:t>document.getElementsByClassName</a:t>
            </a:r>
            <a:r>
              <a:rPr lang="en-US" sz="800" dirty="0"/>
              <a:t>("tab");</a:t>
            </a:r>
          </a:p>
          <a:p>
            <a:pPr marL="0">
              <a:spcBef>
                <a:spcPts val="0"/>
              </a:spcBef>
            </a:pPr>
            <a:r>
              <a:rPr lang="en-US" sz="800" dirty="0"/>
              <a:t>      let contents = </a:t>
            </a:r>
            <a:r>
              <a:rPr lang="en-US" sz="800" dirty="0" err="1"/>
              <a:t>document.getElementsByClassName</a:t>
            </a:r>
            <a:r>
              <a:rPr lang="en-US" sz="800" dirty="0"/>
              <a:t>("tab-content");</a:t>
            </a:r>
          </a:p>
          <a:p>
            <a:pPr marL="0">
              <a:spcBef>
                <a:spcPts val="0"/>
              </a:spcBef>
            </a:pPr>
            <a:r>
              <a:rPr lang="en-US" sz="800" dirty="0"/>
              <a:t>      for (let </a:t>
            </a:r>
            <a:r>
              <a:rPr lang="en-US" sz="800" dirty="0" err="1"/>
              <a:t>i</a:t>
            </a:r>
            <a:r>
              <a:rPr lang="en-US" sz="800" dirty="0"/>
              <a:t> = 0; </a:t>
            </a:r>
            <a:r>
              <a:rPr lang="en-US" sz="800" dirty="0" err="1"/>
              <a:t>i</a:t>
            </a:r>
            <a:r>
              <a:rPr lang="en-US" sz="800" dirty="0"/>
              <a:t> &lt; </a:t>
            </a:r>
            <a:r>
              <a:rPr lang="en-US" sz="800" dirty="0" err="1"/>
              <a:t>tabs.length</a:t>
            </a:r>
            <a:r>
              <a:rPr lang="en-US" sz="800" dirty="0"/>
              <a:t>; </a:t>
            </a:r>
            <a:r>
              <a:rPr lang="en-US" sz="800" dirty="0" err="1"/>
              <a:t>i</a:t>
            </a:r>
            <a:r>
              <a:rPr lang="en-US" sz="800" dirty="0"/>
              <a:t>++) {</a:t>
            </a:r>
          </a:p>
          <a:p>
            <a:pPr marL="0">
              <a:spcBef>
                <a:spcPts val="0"/>
              </a:spcBef>
            </a:pPr>
            <a:r>
              <a:rPr lang="en-US" sz="800" dirty="0"/>
              <a:t>        tabs[</a:t>
            </a:r>
            <a:r>
              <a:rPr lang="en-US" sz="800" dirty="0" err="1"/>
              <a:t>i</a:t>
            </a:r>
            <a:r>
              <a:rPr lang="en-US" sz="800" dirty="0"/>
              <a:t>].</a:t>
            </a:r>
            <a:r>
              <a:rPr lang="en-US" sz="800" dirty="0" err="1"/>
              <a:t>classList.remove</a:t>
            </a:r>
            <a:r>
              <a:rPr lang="en-US" sz="800" dirty="0"/>
              <a:t>("active");</a:t>
            </a:r>
          </a:p>
          <a:p>
            <a:pPr marL="0">
              <a:spcBef>
                <a:spcPts val="0"/>
              </a:spcBef>
            </a:pPr>
            <a:r>
              <a:rPr lang="en-US" sz="800" dirty="0"/>
              <a:t>        contents[</a:t>
            </a:r>
            <a:r>
              <a:rPr lang="en-US" sz="800" dirty="0" err="1"/>
              <a:t>i</a:t>
            </a:r>
            <a:r>
              <a:rPr lang="en-US" sz="800" dirty="0"/>
              <a:t>].</a:t>
            </a:r>
            <a:r>
              <a:rPr lang="en-US" sz="800" dirty="0" err="1"/>
              <a:t>classList.remove</a:t>
            </a:r>
            <a:r>
              <a:rPr lang="en-US" sz="800" dirty="0"/>
              <a:t>("active");</a:t>
            </a:r>
          </a:p>
          <a:p>
            <a:pPr marL="0">
              <a:spcBef>
                <a:spcPts val="0"/>
              </a:spcBef>
            </a:pPr>
            <a:r>
              <a:rPr lang="en-US" sz="800" dirty="0"/>
              <a:t>      }</a:t>
            </a:r>
          </a:p>
          <a:p>
            <a:pPr marL="0">
              <a:spcBef>
                <a:spcPts val="0"/>
              </a:spcBef>
            </a:pPr>
            <a:r>
              <a:rPr lang="en-US" sz="800" dirty="0"/>
              <a:t>      </a:t>
            </a:r>
            <a:r>
              <a:rPr lang="en-US" sz="800" dirty="0" err="1"/>
              <a:t>evt.currentTarget.classList.add</a:t>
            </a:r>
            <a:r>
              <a:rPr lang="en-US" sz="800" dirty="0"/>
              <a:t>("active");</a:t>
            </a:r>
          </a:p>
          <a:p>
            <a:pPr marL="0">
              <a:spcBef>
                <a:spcPts val="0"/>
              </a:spcBef>
            </a:pPr>
            <a:r>
              <a:rPr lang="en-US" sz="800" dirty="0"/>
              <a:t>      </a:t>
            </a:r>
            <a:r>
              <a:rPr lang="en-US" sz="800" dirty="0" err="1"/>
              <a:t>document.getElementById</a:t>
            </a:r>
            <a:r>
              <a:rPr lang="en-US" sz="800" dirty="0"/>
              <a:t>(</a:t>
            </a:r>
            <a:r>
              <a:rPr lang="en-US" sz="800" dirty="0" err="1"/>
              <a:t>tabName</a:t>
            </a:r>
            <a:r>
              <a:rPr lang="en-US" sz="800" dirty="0"/>
              <a:t>).</a:t>
            </a:r>
            <a:r>
              <a:rPr lang="en-US" sz="800" dirty="0" err="1"/>
              <a:t>classList.add</a:t>
            </a:r>
            <a:r>
              <a:rPr lang="en-US" sz="800" dirty="0"/>
              <a:t>("active");</a:t>
            </a:r>
          </a:p>
          <a:p>
            <a:pPr marL="0">
              <a:spcBef>
                <a:spcPts val="0"/>
              </a:spcBef>
            </a:pPr>
            <a:r>
              <a:rPr lang="en-US" sz="800" dirty="0"/>
              <a:t>    }</a:t>
            </a:r>
          </a:p>
          <a:p>
            <a:pPr marL="0">
              <a:spcBef>
                <a:spcPts val="0"/>
              </a:spcBef>
            </a:pPr>
            <a:r>
              <a:rPr lang="en-US" sz="800" dirty="0"/>
              <a:t>function </a:t>
            </a:r>
            <a:r>
              <a:rPr lang="en-US" sz="800" dirty="0" err="1"/>
              <a:t>saveToFile</a:t>
            </a:r>
            <a:r>
              <a:rPr lang="en-US" sz="800" dirty="0"/>
              <a:t>() {</a:t>
            </a:r>
          </a:p>
          <a:p>
            <a:pPr marL="0">
              <a:spcBef>
                <a:spcPts val="0"/>
              </a:spcBef>
            </a:pPr>
            <a:r>
              <a:rPr lang="en-US" sz="800" dirty="0"/>
              <a:t>      let </a:t>
            </a:r>
            <a:r>
              <a:rPr lang="en-US" sz="800" dirty="0" err="1"/>
              <a:t>fname</a:t>
            </a:r>
            <a:r>
              <a:rPr lang="en-US" sz="800" dirty="0"/>
              <a:t> = </a:t>
            </a:r>
            <a:r>
              <a:rPr lang="en-US" sz="800" dirty="0" err="1"/>
              <a:t>document.getElementById</a:t>
            </a:r>
            <a:r>
              <a:rPr lang="en-US" sz="800" dirty="0"/>
              <a:t>("</a:t>
            </a:r>
            <a:r>
              <a:rPr lang="en-US" sz="800" dirty="0" err="1"/>
              <a:t>fname</a:t>
            </a:r>
            <a:r>
              <a:rPr lang="en-US" sz="800" dirty="0"/>
              <a:t>").</a:t>
            </a:r>
            <a:r>
              <a:rPr lang="en-US" sz="800" dirty="0" err="1"/>
              <a:t>value.trim</a:t>
            </a:r>
            <a:r>
              <a:rPr lang="en-US" sz="800" dirty="0"/>
              <a:t>();</a:t>
            </a:r>
          </a:p>
          <a:p>
            <a:pPr marL="0">
              <a:spcBef>
                <a:spcPts val="0"/>
              </a:spcBef>
            </a:pPr>
            <a:r>
              <a:rPr lang="en-US" sz="800" dirty="0"/>
              <a:t>      let </a:t>
            </a:r>
            <a:r>
              <a:rPr lang="en-US" sz="800" dirty="0" err="1"/>
              <a:t>lname</a:t>
            </a:r>
            <a:r>
              <a:rPr lang="en-US" sz="800" dirty="0"/>
              <a:t> = </a:t>
            </a:r>
            <a:r>
              <a:rPr lang="en-US" sz="800" dirty="0" err="1"/>
              <a:t>document.getElementById</a:t>
            </a:r>
            <a:r>
              <a:rPr lang="en-US" sz="800" dirty="0"/>
              <a:t>("</a:t>
            </a:r>
            <a:r>
              <a:rPr lang="en-US" sz="800" dirty="0" err="1"/>
              <a:t>lname</a:t>
            </a:r>
            <a:r>
              <a:rPr lang="en-US" sz="800" dirty="0"/>
              <a:t>").</a:t>
            </a:r>
            <a:r>
              <a:rPr lang="en-US" sz="800" dirty="0" err="1"/>
              <a:t>value.trim</a:t>
            </a:r>
            <a:r>
              <a:rPr lang="en-US" sz="800" dirty="0"/>
              <a:t>();</a:t>
            </a:r>
          </a:p>
          <a:p>
            <a:pPr marL="0">
              <a:spcBef>
                <a:spcPts val="0"/>
              </a:spcBef>
            </a:pPr>
            <a:r>
              <a:rPr lang="en-US" sz="800" dirty="0"/>
              <a:t>      let email = </a:t>
            </a:r>
            <a:r>
              <a:rPr lang="en-US" sz="800" dirty="0" err="1"/>
              <a:t>document.getElementById</a:t>
            </a:r>
            <a:r>
              <a:rPr lang="en-US" sz="800" dirty="0"/>
              <a:t>("email").</a:t>
            </a:r>
            <a:r>
              <a:rPr lang="en-US" sz="800" dirty="0" err="1"/>
              <a:t>value.trim</a:t>
            </a:r>
            <a:r>
              <a:rPr lang="en-US" sz="800" dirty="0"/>
              <a:t>();</a:t>
            </a:r>
          </a:p>
          <a:p>
            <a:pPr marL="0">
              <a:spcBef>
                <a:spcPts val="0"/>
              </a:spcBef>
            </a:pPr>
            <a:r>
              <a:rPr lang="en-US" sz="800" dirty="0"/>
              <a:t>      let password = </a:t>
            </a:r>
            <a:r>
              <a:rPr lang="en-US" sz="800" dirty="0" err="1"/>
              <a:t>document.getElementById</a:t>
            </a:r>
            <a:r>
              <a:rPr lang="en-US" sz="800" dirty="0"/>
              <a:t>("password").</a:t>
            </a:r>
            <a:r>
              <a:rPr lang="en-US" sz="800" dirty="0" err="1"/>
              <a:t>value.trim</a:t>
            </a:r>
            <a:r>
              <a:rPr lang="en-US" sz="800" dirty="0"/>
              <a:t>();</a:t>
            </a:r>
          </a:p>
          <a:p>
            <a:pPr marL="0">
              <a:spcBef>
                <a:spcPts val="0"/>
              </a:spcBef>
            </a:pPr>
            <a:r>
              <a:rPr lang="en-US" sz="800" dirty="0"/>
              <a:t>      let age = </a:t>
            </a:r>
            <a:r>
              <a:rPr lang="en-US" sz="800" dirty="0" err="1"/>
              <a:t>document.getElementById</a:t>
            </a:r>
            <a:r>
              <a:rPr lang="en-US" sz="800" dirty="0"/>
              <a:t>("age").</a:t>
            </a:r>
            <a:r>
              <a:rPr lang="en-US" sz="800" dirty="0" err="1"/>
              <a:t>value.trim</a:t>
            </a:r>
            <a:r>
              <a:rPr lang="en-US" sz="800" dirty="0"/>
              <a:t>();</a:t>
            </a:r>
          </a:p>
          <a:p>
            <a:pPr marL="0">
              <a:spcBef>
                <a:spcPts val="0"/>
              </a:spcBef>
            </a:pPr>
            <a:r>
              <a:rPr lang="en-US" sz="800" dirty="0"/>
              <a:t>      let </a:t>
            </a:r>
            <a:r>
              <a:rPr lang="en-US" sz="800" dirty="0" err="1"/>
              <a:t>genderEls</a:t>
            </a:r>
            <a:r>
              <a:rPr lang="en-US" sz="800" dirty="0"/>
              <a:t> = </a:t>
            </a:r>
            <a:r>
              <a:rPr lang="en-US" sz="800" dirty="0" err="1"/>
              <a:t>document.getElementsByName</a:t>
            </a:r>
            <a:r>
              <a:rPr lang="en-US" sz="800" dirty="0"/>
              <a:t>("gender");</a:t>
            </a:r>
          </a:p>
          <a:p>
            <a:pPr marL="0">
              <a:spcBef>
                <a:spcPts val="0"/>
              </a:spcBef>
            </a:pPr>
            <a:r>
              <a:rPr lang="en-US" sz="800" dirty="0"/>
              <a:t>      let gender = "";</a:t>
            </a:r>
          </a:p>
          <a:p>
            <a:pPr marL="0">
              <a:spcBef>
                <a:spcPts val="0"/>
              </a:spcBef>
            </a:pPr>
            <a:r>
              <a:rPr lang="en-US" sz="800" dirty="0"/>
              <a:t>      for (let g of </a:t>
            </a:r>
            <a:r>
              <a:rPr lang="en-US" sz="800" dirty="0" err="1"/>
              <a:t>genderEls</a:t>
            </a:r>
            <a:r>
              <a:rPr lang="en-US" sz="800" dirty="0"/>
              <a:t>) {</a:t>
            </a:r>
          </a:p>
          <a:p>
            <a:pPr marL="0">
              <a:spcBef>
                <a:spcPts val="0"/>
              </a:spcBef>
            </a:pPr>
            <a:r>
              <a:rPr lang="en-US" sz="800" dirty="0"/>
              <a:t>        if (</a:t>
            </a:r>
            <a:r>
              <a:rPr lang="en-US" sz="800" dirty="0" err="1"/>
              <a:t>g.checked</a:t>
            </a:r>
            <a:r>
              <a:rPr lang="en-US" sz="800" dirty="0"/>
              <a:t>) gender = </a:t>
            </a:r>
            <a:r>
              <a:rPr lang="en-US" sz="800" dirty="0" err="1"/>
              <a:t>g.value</a:t>
            </a:r>
            <a:r>
              <a:rPr lang="en-US" sz="800" dirty="0"/>
              <a:t>;</a:t>
            </a:r>
          </a:p>
          <a:p>
            <a:pPr marL="0">
              <a:spcBef>
                <a:spcPts val="0"/>
              </a:spcBef>
            </a:pPr>
            <a:r>
              <a:rPr lang="en-US" sz="800" dirty="0"/>
              <a:t>      }</a:t>
            </a:r>
          </a:p>
          <a:p>
            <a:pPr marL="0">
              <a:spcBef>
                <a:spcPts val="0"/>
              </a:spcBef>
            </a:pPr>
            <a:r>
              <a:rPr lang="en-US" sz="800" dirty="0"/>
              <a:t>      let hobbies = </a:t>
            </a:r>
            <a:r>
              <a:rPr lang="en-US" sz="800" dirty="0" err="1"/>
              <a:t>Array.from</a:t>
            </a:r>
            <a:r>
              <a:rPr lang="en-US" sz="800" dirty="0"/>
              <a:t>(</a:t>
            </a:r>
            <a:r>
              <a:rPr lang="en-US" sz="800" dirty="0" err="1"/>
              <a:t>document.getElementById</a:t>
            </a:r>
            <a:r>
              <a:rPr lang="en-US" sz="800" dirty="0"/>
              <a:t>("hobby").</a:t>
            </a:r>
            <a:r>
              <a:rPr lang="en-US" sz="800" dirty="0" err="1"/>
              <a:t>selectedOptions</a:t>
            </a:r>
            <a:r>
              <a:rPr lang="en-US" sz="800" dirty="0"/>
              <a:t>).map(o =&gt; </a:t>
            </a:r>
            <a:r>
              <a:rPr lang="en-US" sz="800" dirty="0" err="1"/>
              <a:t>o.value</a:t>
            </a:r>
            <a:r>
              <a:rPr lang="en-US" sz="800" dirty="0"/>
              <a:t>).join(", ");</a:t>
            </a:r>
          </a:p>
          <a:p>
            <a:pPr marL="0">
              <a:spcBef>
                <a:spcPts val="0"/>
              </a:spcBef>
            </a:pPr>
            <a:r>
              <a:rPr lang="en-US" sz="800" dirty="0"/>
              <a:t>      let </a:t>
            </a:r>
            <a:r>
              <a:rPr lang="en-US" sz="800" dirty="0" err="1"/>
              <a:t>errorMsg</a:t>
            </a:r>
            <a:r>
              <a:rPr lang="en-US" sz="800" dirty="0"/>
              <a:t> = </a:t>
            </a:r>
            <a:r>
              <a:rPr lang="en-US" sz="800" dirty="0" err="1"/>
              <a:t>document.getElementById</a:t>
            </a:r>
            <a:r>
              <a:rPr lang="en-US" sz="800" dirty="0"/>
              <a:t>("</a:t>
            </a:r>
            <a:r>
              <a:rPr lang="en-US" sz="800" dirty="0" err="1"/>
              <a:t>errorMsg</a:t>
            </a:r>
            <a:r>
              <a:rPr lang="en-US" sz="800" dirty="0"/>
              <a:t>");</a:t>
            </a:r>
          </a:p>
          <a:p>
            <a:pPr marL="0">
              <a:spcBef>
                <a:spcPts val="0"/>
              </a:spcBef>
            </a:pPr>
            <a:r>
              <a:rPr lang="en-US" sz="800" dirty="0"/>
              <a:t>      </a:t>
            </a:r>
            <a:r>
              <a:rPr lang="en-US" sz="800" dirty="0" err="1"/>
              <a:t>errorMsg.innerHTML</a:t>
            </a:r>
            <a:r>
              <a:rPr lang="en-US" sz="800" dirty="0"/>
              <a:t> = "";</a:t>
            </a:r>
          </a:p>
          <a:p>
            <a:pPr marL="0">
              <a:spcBef>
                <a:spcPts val="0"/>
              </a:spcBef>
            </a:pPr>
            <a:r>
              <a:rPr lang="en-US" sz="800" dirty="0"/>
              <a:t>      if (!</a:t>
            </a:r>
            <a:r>
              <a:rPr lang="en-US" sz="800" dirty="0" err="1"/>
              <a:t>fname</a:t>
            </a:r>
            <a:r>
              <a:rPr lang="en-US" sz="800" dirty="0"/>
              <a:t> || !</a:t>
            </a:r>
            <a:r>
              <a:rPr lang="en-US" sz="800" dirty="0" err="1"/>
              <a:t>lname</a:t>
            </a:r>
            <a:r>
              <a:rPr lang="en-US" sz="800" dirty="0"/>
              <a:t> || !email || !password || !age || !gender) {</a:t>
            </a:r>
          </a:p>
          <a:p>
            <a:pPr marL="0">
              <a:spcBef>
                <a:spcPts val="0"/>
              </a:spcBef>
            </a:pPr>
            <a:r>
              <a:rPr lang="en-US" sz="800" dirty="0"/>
              <a:t>        </a:t>
            </a:r>
            <a:r>
              <a:rPr lang="en-US" sz="800" dirty="0" err="1"/>
              <a:t>errorMsg.innerHTML</a:t>
            </a:r>
            <a:r>
              <a:rPr lang="en-US" sz="800" dirty="0"/>
              <a:t> = "</a:t>
            </a:r>
            <a:r>
              <a:rPr lang="ru-RU" sz="800" dirty="0"/>
              <a:t>Заполните все обязательные поля!";</a:t>
            </a:r>
          </a:p>
          <a:p>
            <a:pPr marL="0">
              <a:spcBef>
                <a:spcPts val="0"/>
              </a:spcBef>
            </a:pPr>
            <a:r>
              <a:rPr lang="ru-RU" sz="800" dirty="0"/>
              <a:t>        </a:t>
            </a:r>
            <a:r>
              <a:rPr lang="en-US" sz="800" dirty="0"/>
              <a:t>return;</a:t>
            </a:r>
          </a:p>
          <a:p>
            <a:pPr marL="0">
              <a:spcBef>
                <a:spcPts val="0"/>
              </a:spcBef>
            </a:pPr>
            <a:r>
              <a:rPr lang="en-US" sz="800" dirty="0"/>
              <a:t>      }</a:t>
            </a:r>
          </a:p>
          <a:p>
            <a:pPr marL="0">
              <a:spcBef>
                <a:spcPts val="0"/>
              </a:spcBef>
            </a:pPr>
            <a:r>
              <a:rPr lang="en-US" sz="800" dirty="0"/>
              <a:t>      let </a:t>
            </a:r>
            <a:r>
              <a:rPr lang="en-US" sz="800" dirty="0" err="1"/>
              <a:t>emailPattern</a:t>
            </a:r>
            <a:r>
              <a:rPr lang="en-US" sz="800" dirty="0"/>
              <a:t> = /^[^ ]+@[^ ]+\.[a-z]{2,}$/;</a:t>
            </a:r>
          </a:p>
          <a:p>
            <a:pPr marL="0">
              <a:spcBef>
                <a:spcPts val="0"/>
              </a:spcBef>
            </a:pPr>
            <a:r>
              <a:rPr lang="en-US" sz="800" dirty="0"/>
              <a:t>      if (!</a:t>
            </a:r>
            <a:r>
              <a:rPr lang="en-US" sz="800" dirty="0" err="1"/>
              <a:t>email.match</a:t>
            </a:r>
            <a:r>
              <a:rPr lang="en-US" sz="800" dirty="0"/>
              <a:t>(</a:t>
            </a:r>
            <a:r>
              <a:rPr lang="en-US" sz="800" dirty="0" err="1"/>
              <a:t>emailPattern</a:t>
            </a:r>
            <a:r>
              <a:rPr lang="en-US" sz="800" dirty="0"/>
              <a:t>)) {</a:t>
            </a:r>
          </a:p>
          <a:p>
            <a:pPr marL="0">
              <a:spcBef>
                <a:spcPts val="0"/>
              </a:spcBef>
            </a:pPr>
            <a:r>
              <a:rPr lang="en-US" sz="800" dirty="0"/>
              <a:t>        </a:t>
            </a:r>
            <a:r>
              <a:rPr lang="en-US" sz="800" dirty="0" err="1"/>
              <a:t>errorMsg.innerHTML</a:t>
            </a:r>
            <a:r>
              <a:rPr lang="en-US" sz="800" dirty="0"/>
              <a:t> = "</a:t>
            </a:r>
            <a:r>
              <a:rPr lang="ru-RU" sz="800" dirty="0"/>
              <a:t>Введите корректный </a:t>
            </a:r>
            <a:r>
              <a:rPr lang="en-US" sz="800" dirty="0"/>
              <a:t>email!";</a:t>
            </a:r>
          </a:p>
          <a:p>
            <a:pPr marL="0">
              <a:spcBef>
                <a:spcPts val="0"/>
              </a:spcBef>
            </a:pPr>
            <a:r>
              <a:rPr lang="en-US" sz="800" dirty="0"/>
              <a:t>        return;</a:t>
            </a:r>
          </a:p>
          <a:p>
            <a:pPr marL="0">
              <a:spcBef>
                <a:spcPts val="0"/>
              </a:spcBef>
            </a:pPr>
            <a:r>
              <a:rPr lang="en-US" sz="800" dirty="0"/>
              <a:t>      }</a:t>
            </a:r>
          </a:p>
          <a:p>
            <a:pPr marL="0">
              <a:spcBef>
                <a:spcPts val="0"/>
              </a:spcBef>
            </a:pPr>
            <a:r>
              <a:rPr lang="en-US" sz="800" dirty="0"/>
              <a:t>      let data = </a:t>
            </a:r>
          </a:p>
          <a:p>
            <a:pPr marL="0">
              <a:spcBef>
                <a:spcPts val="0"/>
              </a:spcBef>
            </a:pPr>
            <a:r>
              <a:rPr lang="en-US" sz="800" dirty="0"/>
              <a:t>`</a:t>
            </a:r>
            <a:r>
              <a:rPr lang="ru-RU" sz="800" dirty="0"/>
              <a:t>Имя: ${</a:t>
            </a:r>
            <a:r>
              <a:rPr lang="en-US" sz="800" dirty="0" err="1"/>
              <a:t>fname</a:t>
            </a:r>
            <a:r>
              <a:rPr lang="en-US" sz="800" dirty="0"/>
              <a:t>}</a:t>
            </a:r>
          </a:p>
          <a:p>
            <a:pPr marL="0">
              <a:spcBef>
                <a:spcPts val="0"/>
              </a:spcBef>
            </a:pPr>
            <a:r>
              <a:rPr lang="ru-RU" sz="800" dirty="0"/>
              <a:t>Фамилия: ${</a:t>
            </a:r>
            <a:r>
              <a:rPr lang="en-US" sz="800" dirty="0" err="1"/>
              <a:t>lname</a:t>
            </a:r>
            <a:r>
              <a:rPr lang="en-US" sz="800" dirty="0"/>
              <a:t>}</a:t>
            </a:r>
          </a:p>
          <a:p>
            <a:pPr marL="0">
              <a:spcBef>
                <a:spcPts val="0"/>
              </a:spcBef>
            </a:pPr>
            <a:r>
              <a:rPr lang="ru-RU" sz="800" dirty="0"/>
              <a:t>Пол: ${</a:t>
            </a:r>
            <a:r>
              <a:rPr lang="en-US" sz="800" dirty="0"/>
              <a:t>gender}</a:t>
            </a:r>
          </a:p>
          <a:p>
            <a:pPr marL="0">
              <a:spcBef>
                <a:spcPts val="0"/>
              </a:spcBef>
            </a:pPr>
            <a:r>
              <a:rPr lang="en-US" sz="800" dirty="0"/>
              <a:t>Email: ${email}</a:t>
            </a:r>
          </a:p>
          <a:p>
            <a:pPr marL="0">
              <a:spcBef>
                <a:spcPts val="0"/>
              </a:spcBef>
            </a:pPr>
            <a:r>
              <a:rPr lang="ru-RU" sz="800" dirty="0"/>
              <a:t>Пароль: ${</a:t>
            </a:r>
            <a:r>
              <a:rPr lang="en-US" sz="800" dirty="0"/>
              <a:t>password}</a:t>
            </a:r>
          </a:p>
          <a:p>
            <a:pPr marL="0">
              <a:spcBef>
                <a:spcPts val="0"/>
              </a:spcBef>
            </a:pPr>
            <a:r>
              <a:rPr lang="ru-RU" sz="800" dirty="0"/>
              <a:t>Возраст: ${</a:t>
            </a:r>
            <a:r>
              <a:rPr lang="en-US" sz="800" dirty="0"/>
              <a:t>age}</a:t>
            </a:r>
          </a:p>
          <a:p>
            <a:pPr marL="0">
              <a:spcBef>
                <a:spcPts val="0"/>
              </a:spcBef>
            </a:pPr>
            <a:r>
              <a:rPr lang="ru-RU" sz="800" dirty="0"/>
              <a:t>Увлечения: ${</a:t>
            </a:r>
            <a:r>
              <a:rPr lang="en-US" sz="800" dirty="0"/>
              <a:t>hobbies}`;</a:t>
            </a:r>
          </a:p>
          <a:p>
            <a:pPr marL="0">
              <a:spcBef>
                <a:spcPts val="0"/>
              </a:spcBef>
            </a:pPr>
            <a:r>
              <a:rPr lang="en-US" sz="800" dirty="0"/>
              <a:t>      let blob = new Blob([data], {type: "text/plain"});</a:t>
            </a:r>
          </a:p>
          <a:p>
            <a:pPr marL="0">
              <a:spcBef>
                <a:spcPts val="0"/>
              </a:spcBef>
            </a:pPr>
            <a:r>
              <a:rPr lang="en-US" sz="800" dirty="0"/>
              <a:t>      let link = </a:t>
            </a:r>
            <a:r>
              <a:rPr lang="en-US" sz="800" dirty="0" err="1"/>
              <a:t>document.createElement</a:t>
            </a:r>
            <a:r>
              <a:rPr lang="en-US" sz="800" dirty="0"/>
              <a:t>("a");</a:t>
            </a:r>
          </a:p>
          <a:p>
            <a:pPr marL="0">
              <a:spcBef>
                <a:spcPts val="0"/>
              </a:spcBef>
            </a:pPr>
            <a:r>
              <a:rPr lang="en-US" sz="800" dirty="0"/>
              <a:t>      </a:t>
            </a:r>
            <a:r>
              <a:rPr lang="en-US" sz="800" dirty="0" err="1"/>
              <a:t>link.href</a:t>
            </a:r>
            <a:r>
              <a:rPr lang="en-US" sz="800" dirty="0"/>
              <a:t> = </a:t>
            </a:r>
            <a:r>
              <a:rPr lang="en-US" sz="800" dirty="0" err="1"/>
              <a:t>URL.createObjectURL</a:t>
            </a:r>
            <a:r>
              <a:rPr lang="en-US" sz="800" dirty="0"/>
              <a:t>(blob);</a:t>
            </a:r>
          </a:p>
          <a:p>
            <a:pPr marL="0">
              <a:spcBef>
                <a:spcPts val="0"/>
              </a:spcBef>
            </a:pPr>
            <a:r>
              <a:rPr lang="en-US" sz="800" dirty="0"/>
              <a:t>      </a:t>
            </a:r>
            <a:r>
              <a:rPr lang="en-US" sz="800" dirty="0" err="1"/>
              <a:t>link.download</a:t>
            </a:r>
            <a:r>
              <a:rPr lang="en-US" sz="800" dirty="0"/>
              <a:t> = "form-data.txt";</a:t>
            </a:r>
          </a:p>
          <a:p>
            <a:pPr marL="0">
              <a:spcBef>
                <a:spcPts val="0"/>
              </a:spcBef>
            </a:pPr>
            <a:r>
              <a:rPr lang="en-US" sz="800" dirty="0"/>
              <a:t>      </a:t>
            </a:r>
            <a:r>
              <a:rPr lang="en-US" sz="800" dirty="0" err="1"/>
              <a:t>link.click</a:t>
            </a:r>
            <a:r>
              <a:rPr lang="en-US" sz="800" dirty="0"/>
              <a:t>();</a:t>
            </a:r>
          </a:p>
          <a:p>
            <a:pPr marL="0">
              <a:spcBef>
                <a:spcPts val="0"/>
              </a:spcBef>
            </a:pPr>
            <a:r>
              <a:rPr lang="en-US" sz="800" dirty="0"/>
              <a:t>    }</a:t>
            </a:r>
          </a:p>
          <a:p>
            <a:pPr marL="0">
              <a:spcBef>
                <a:spcPts val="0"/>
              </a:spcBef>
            </a:pPr>
            <a:r>
              <a:rPr lang="en-US" sz="800" dirty="0"/>
              <a:t>  &lt;/script&gt;</a:t>
            </a:r>
          </a:p>
          <a:p>
            <a:pPr marL="0">
              <a:spcBef>
                <a:spcPts val="0"/>
              </a:spcBef>
            </a:pPr>
            <a:r>
              <a:rPr lang="en-US" sz="800" dirty="0"/>
              <a:t>&lt;/body&gt;</a:t>
            </a:r>
          </a:p>
          <a:p>
            <a:pPr marL="0">
              <a:spcBef>
                <a:spcPts val="0"/>
              </a:spcBef>
            </a:pPr>
            <a:r>
              <a:rPr lang="en-US" sz="800" dirty="0"/>
              <a:t>&lt;/html&gt;</a:t>
            </a:r>
          </a:p>
        </p:txBody>
      </p:sp>
    </p:spTree>
    <p:extLst>
      <p:ext uri="{BB962C8B-B14F-4D97-AF65-F5344CB8AC3E}">
        <p14:creationId xmlns:p14="http://schemas.microsoft.com/office/powerpoint/2010/main" val="404563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B2263B-F862-902F-65D9-DD90D2EFF933}"/>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DEECDB54-B198-92E1-FBB2-D49312D5B50D}"/>
              </a:ext>
            </a:extLst>
          </p:cNvPr>
          <p:cNvSpPr>
            <a:spLocks noGrp="1"/>
          </p:cNvSpPr>
          <p:nvPr>
            <p:ph idx="1"/>
          </p:nvPr>
        </p:nvSpPr>
        <p:spPr>
          <a:xfrm>
            <a:off x="199823" y="1203158"/>
            <a:ext cx="11754754" cy="5654842"/>
          </a:xfrm>
        </p:spPr>
        <p:txBody>
          <a:bodyPr>
            <a:normAutofit fontScale="62500" lnSpcReduction="20000"/>
          </a:bodyPr>
          <a:lstStyle/>
          <a:p>
            <a:pPr marL="342900" indent="-342900">
              <a:buFont typeface="+mj-lt"/>
              <a:buAutoNum type="arabicPeriod"/>
            </a:pPr>
            <a:r>
              <a:rPr lang="ru-RU" dirty="0">
                <a:cs typeface="Times New Roman" panose="02020603050405020304" pitchFamily="18" charset="0"/>
              </a:rPr>
              <a:t>Перечислите основные теги для создания HTML–форм: основные теги, используемые для создания HTML форм, - это тег &lt;</a:t>
            </a:r>
            <a:r>
              <a:rPr lang="ru-RU" dirty="0" err="1">
                <a:cs typeface="Times New Roman" panose="02020603050405020304" pitchFamily="18" charset="0"/>
              </a:rPr>
              <a:t>form</a:t>
            </a:r>
            <a:r>
              <a:rPr lang="ru-RU" dirty="0">
                <a:cs typeface="Times New Roman" panose="02020603050405020304" pitchFamily="18" charset="0"/>
              </a:rPr>
              <a:t>&gt;, тег &lt;</a:t>
            </a:r>
            <a:r>
              <a:rPr lang="ru-RU" dirty="0" err="1">
                <a:cs typeface="Times New Roman" panose="02020603050405020304" pitchFamily="18" charset="0"/>
              </a:rPr>
              <a:t>input</a:t>
            </a:r>
            <a:r>
              <a:rPr lang="ru-RU" dirty="0">
                <a:cs typeface="Times New Roman" panose="02020603050405020304" pitchFamily="18" charset="0"/>
              </a:rPr>
              <a:t>&gt;, тег &lt;</a:t>
            </a:r>
            <a:r>
              <a:rPr lang="ru-RU" dirty="0" err="1">
                <a:cs typeface="Times New Roman" panose="02020603050405020304" pitchFamily="18" charset="0"/>
              </a:rPr>
              <a:t>textarea</a:t>
            </a:r>
            <a:r>
              <a:rPr lang="ru-RU" dirty="0">
                <a:cs typeface="Times New Roman" panose="02020603050405020304" pitchFamily="18" charset="0"/>
              </a:rPr>
              <a:t>&gt;, тег &lt;</a:t>
            </a:r>
            <a:r>
              <a:rPr lang="ru-RU" dirty="0" err="1">
                <a:cs typeface="Times New Roman" panose="02020603050405020304" pitchFamily="18" charset="0"/>
              </a:rPr>
              <a:t>select</a:t>
            </a:r>
            <a:r>
              <a:rPr lang="ru-RU" dirty="0">
                <a:cs typeface="Times New Roman" panose="02020603050405020304" pitchFamily="18" charset="0"/>
              </a:rPr>
              <a:t>&gt; и тег &lt;</a:t>
            </a:r>
            <a:r>
              <a:rPr lang="ru-RU" dirty="0" err="1">
                <a:cs typeface="Times New Roman" panose="02020603050405020304" pitchFamily="18" charset="0"/>
              </a:rPr>
              <a:t>option</a:t>
            </a:r>
            <a:r>
              <a:rPr lang="ru-RU" dirty="0">
                <a:cs typeface="Times New Roman" panose="02020603050405020304" pitchFamily="18" charset="0"/>
              </a:rPr>
              <a:t>&gt;.</a:t>
            </a:r>
          </a:p>
          <a:p>
            <a:pPr marL="342900" indent="-342900">
              <a:buFont typeface="+mj-lt"/>
              <a:buAutoNum type="arabicPeriod"/>
            </a:pPr>
            <a:r>
              <a:rPr lang="ru-RU" dirty="0">
                <a:cs typeface="Times New Roman" panose="02020603050405020304" pitchFamily="18" charset="0"/>
              </a:rPr>
              <a:t>Тег (дескриптор) FORM: тег &lt;</a:t>
            </a:r>
            <a:r>
              <a:rPr lang="ru-RU" dirty="0" err="1">
                <a:cs typeface="Times New Roman" panose="02020603050405020304" pitchFamily="18" charset="0"/>
              </a:rPr>
              <a:t>form</a:t>
            </a:r>
            <a:r>
              <a:rPr lang="ru-RU" dirty="0">
                <a:cs typeface="Times New Roman" panose="02020603050405020304" pitchFamily="18" charset="0"/>
              </a:rPr>
              <a:t>&gt; устанавливает форму на веб-странице. Форма предназначена для обмена данными между пользователем и сервером. Область применения форм не ограничена отправкой данных на сервер, с помощью клиентских скриптов можно получить доступ к любому элементу формы, изменять его и применять по своему усмотрению.</a:t>
            </a:r>
          </a:p>
          <a:p>
            <a:pPr marL="342900" indent="-342900">
              <a:buFont typeface="+mj-lt"/>
              <a:buAutoNum type="arabicPeriod"/>
            </a:pPr>
            <a:r>
              <a:rPr lang="ru-RU" dirty="0">
                <a:cs typeface="Times New Roman" panose="02020603050405020304" pitchFamily="18" charset="0"/>
              </a:rPr>
              <a:t>Ввод информации в HTML–форму. Тег INPUT: тег &lt;</a:t>
            </a:r>
            <a:r>
              <a:rPr lang="ru-RU" dirty="0" err="1">
                <a:cs typeface="Times New Roman" panose="02020603050405020304" pitchFamily="18" charset="0"/>
              </a:rPr>
              <a:t>input</a:t>
            </a:r>
            <a:r>
              <a:rPr lang="ru-RU" dirty="0">
                <a:cs typeface="Times New Roman" panose="02020603050405020304" pitchFamily="18" charset="0"/>
              </a:rPr>
              <a:t>&gt; является одним из разносторонних элементов формы и позволяет создавать разные элементы интерфейса и обеспечить взаимодействие с пользователем. Главным образом &lt;</a:t>
            </a:r>
            <a:r>
              <a:rPr lang="ru-RU" dirty="0" err="1">
                <a:cs typeface="Times New Roman" panose="02020603050405020304" pitchFamily="18" charset="0"/>
              </a:rPr>
              <a:t>input</a:t>
            </a:r>
            <a:r>
              <a:rPr lang="ru-RU" dirty="0">
                <a:cs typeface="Times New Roman" panose="02020603050405020304" pitchFamily="18" charset="0"/>
              </a:rPr>
              <a:t>&gt; предназначен для создания текстовых полей, различных кнопок, переключателей и флажков. Хотя элемент &lt;</a:t>
            </a:r>
            <a:r>
              <a:rPr lang="ru-RU" dirty="0" err="1">
                <a:cs typeface="Times New Roman" panose="02020603050405020304" pitchFamily="18" charset="0"/>
              </a:rPr>
              <a:t>input</a:t>
            </a:r>
            <a:r>
              <a:rPr lang="ru-RU" dirty="0">
                <a:cs typeface="Times New Roman" panose="02020603050405020304" pitchFamily="18" charset="0"/>
              </a:rPr>
              <a:t>&gt; не требуется помещать внутрь контейнера &lt;</a:t>
            </a:r>
            <a:r>
              <a:rPr lang="ru-RU" dirty="0" err="1">
                <a:cs typeface="Times New Roman" panose="02020603050405020304" pitchFamily="18" charset="0"/>
              </a:rPr>
              <a:t>form</a:t>
            </a:r>
            <a:r>
              <a:rPr lang="ru-RU" dirty="0">
                <a:cs typeface="Times New Roman" panose="02020603050405020304" pitchFamily="18" charset="0"/>
              </a:rPr>
              <a:t>&gt;, определяющего форму, но если введенные пользователем данные должны быть отправлены на сервер, где их обрабатывает серверная программа, то указывать &lt;</a:t>
            </a:r>
            <a:r>
              <a:rPr lang="ru-RU" dirty="0" err="1">
                <a:cs typeface="Times New Roman" panose="02020603050405020304" pitchFamily="18" charset="0"/>
              </a:rPr>
              <a:t>form</a:t>
            </a:r>
            <a:r>
              <a:rPr lang="ru-RU" dirty="0">
                <a:cs typeface="Times New Roman" panose="02020603050405020304" pitchFamily="18" charset="0"/>
              </a:rPr>
              <a:t>&gt; обязательно. То же самое обстоит и в случае обработки данных с помощью клиентских приложений, например, скриптов на языке JavaScript. </a:t>
            </a:r>
          </a:p>
          <a:p>
            <a:pPr marL="342900" indent="-342900">
              <a:buFont typeface="+mj-lt"/>
              <a:buAutoNum type="arabicPeriod"/>
            </a:pPr>
            <a:r>
              <a:rPr lang="ru-RU" dirty="0">
                <a:cs typeface="Times New Roman" panose="02020603050405020304" pitchFamily="18" charset="0"/>
              </a:rPr>
              <a:t>Создание паролей в HTML–формах: поле для пароля — обычное текстовое поле, но отличается от него тем, что все вводимые символы отображаются звездочками, точками или другими знаками (это зависит от браузера). Поле предназначено для того, чтобы никто не подглядел вводимый пароль. Синтаксис создания следующий.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type</a:t>
            </a:r>
            <a:r>
              <a:rPr lang="ru-RU" dirty="0">
                <a:cs typeface="Times New Roman" panose="02020603050405020304" pitchFamily="18" charset="0"/>
              </a:rPr>
              <a:t>="</a:t>
            </a:r>
            <a:r>
              <a:rPr lang="ru-RU" dirty="0" err="1">
                <a:cs typeface="Times New Roman" panose="02020603050405020304" pitchFamily="18" charset="0"/>
              </a:rPr>
              <a:t>password</a:t>
            </a:r>
            <a:r>
              <a:rPr lang="ru-RU" dirty="0">
                <a:cs typeface="Times New Roman" panose="02020603050405020304" pitchFamily="18" charset="0"/>
              </a:rPr>
              <a:t>" атрибуты&gt;.</a:t>
            </a:r>
          </a:p>
          <a:p>
            <a:pPr marL="342900" indent="-342900">
              <a:buFont typeface="+mj-lt"/>
              <a:buAutoNum type="arabicPeriod"/>
            </a:pPr>
            <a:r>
              <a:rPr lang="ru-RU" dirty="0">
                <a:cs typeface="Times New Roman" panose="02020603050405020304" pitchFamily="18" charset="0"/>
              </a:rPr>
              <a:t>Осуществление выбора информации с помощью флажков и переключателей: флажки (жарг. чекбоксы) используют, когда необходимо выбрать любое количество вариантов из предложенного списка. Если требуется выбор лишь одного варианта, то для этого следует предпочесть переключатели (</a:t>
            </a:r>
            <a:r>
              <a:rPr lang="ru-RU" dirty="0" err="1">
                <a:cs typeface="Times New Roman" panose="02020603050405020304" pitchFamily="18" charset="0"/>
              </a:rPr>
              <a:t>radiobutton</a:t>
            </a:r>
            <a:r>
              <a:rPr lang="ru-RU" dirty="0">
                <a:cs typeface="Times New Roman" panose="02020603050405020304" pitchFamily="18" charset="0"/>
              </a:rPr>
              <a:t>). Флажок создается следующим образом.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type</a:t>
            </a:r>
            <a:r>
              <a:rPr lang="ru-RU" dirty="0">
                <a:cs typeface="Times New Roman" panose="02020603050405020304" pitchFamily="18" charset="0"/>
              </a:rPr>
              <a:t>="</a:t>
            </a:r>
            <a:r>
              <a:rPr lang="ru-RU" dirty="0" err="1">
                <a:cs typeface="Times New Roman" panose="02020603050405020304" pitchFamily="18" charset="0"/>
              </a:rPr>
              <a:t>checkbox</a:t>
            </a:r>
            <a:r>
              <a:rPr lang="ru-RU" dirty="0">
                <a:cs typeface="Times New Roman" panose="02020603050405020304" pitchFamily="18" charset="0"/>
              </a:rPr>
              <a:t>" атрибуты&gt;.</a:t>
            </a:r>
          </a:p>
          <a:p>
            <a:pPr marL="342900" indent="-342900">
              <a:buFont typeface="+mj-lt"/>
              <a:buAutoNum type="arabicPeriod"/>
            </a:pPr>
            <a:r>
              <a:rPr lang="ru-RU" dirty="0">
                <a:cs typeface="Times New Roman" panose="02020603050405020304" pitchFamily="18" charset="0"/>
              </a:rPr>
              <a:t>Назначение кнопки RESET: тип </a:t>
            </a:r>
            <a:r>
              <a:rPr lang="ru-RU" dirty="0" err="1">
                <a:cs typeface="Times New Roman" panose="02020603050405020304" pitchFamily="18" charset="0"/>
              </a:rPr>
              <a:t>reset</a:t>
            </a:r>
            <a:r>
              <a:rPr lang="ru-RU" dirty="0">
                <a:cs typeface="Times New Roman" panose="02020603050405020304" pitchFamily="18" charset="0"/>
              </a:rPr>
              <a:t> (от англ. "</a:t>
            </a:r>
            <a:r>
              <a:rPr lang="ru-RU" dirty="0" err="1">
                <a:cs typeface="Times New Roman" panose="02020603050405020304" pitchFamily="18" charset="0"/>
              </a:rPr>
              <a:t>reset</a:t>
            </a:r>
            <a:r>
              <a:rPr lang="ru-RU" dirty="0">
                <a:cs typeface="Times New Roman" panose="02020603050405020304" pitchFamily="18" charset="0"/>
              </a:rPr>
              <a:t>" ‒ «сброс») создаёт кнопку сброса. При активации данной кнопки происходит сброс всех введённых пользователем данных формы до первоначальных значений..</a:t>
            </a:r>
          </a:p>
        </p:txBody>
      </p:sp>
    </p:spTree>
    <p:extLst>
      <p:ext uri="{BB962C8B-B14F-4D97-AF65-F5344CB8AC3E}">
        <p14:creationId xmlns:p14="http://schemas.microsoft.com/office/powerpoint/2010/main" val="78666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764F4-719A-03A2-3121-466471158B6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416651-3D38-A182-B02C-002D0292C7ED}"/>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AD61AE63-89D1-8503-D578-D92AA11CB125}"/>
              </a:ext>
            </a:extLst>
          </p:cNvPr>
          <p:cNvSpPr>
            <a:spLocks noGrp="1"/>
          </p:cNvSpPr>
          <p:nvPr>
            <p:ph idx="1"/>
          </p:nvPr>
        </p:nvSpPr>
        <p:spPr>
          <a:xfrm>
            <a:off x="199823" y="1203158"/>
            <a:ext cx="11754754" cy="5654842"/>
          </a:xfrm>
        </p:spPr>
        <p:txBody>
          <a:bodyPr>
            <a:normAutofit fontScale="55000" lnSpcReduction="20000"/>
          </a:bodyPr>
          <a:lstStyle/>
          <a:p>
            <a:pPr marL="457200" indent="-457200">
              <a:buFont typeface="+mj-lt"/>
              <a:buAutoNum type="arabicPeriod" startAt="7"/>
            </a:pPr>
            <a:r>
              <a:rPr lang="ru-RU" dirty="0">
                <a:cs typeface="Times New Roman" panose="02020603050405020304" pitchFamily="18" charset="0"/>
              </a:rPr>
              <a:t>Назначение кнопки SUBMIT: тип </a:t>
            </a:r>
            <a:r>
              <a:rPr lang="ru-RU" dirty="0" err="1">
                <a:cs typeface="Times New Roman" panose="02020603050405020304" pitchFamily="18" charset="0"/>
              </a:rPr>
              <a:t>submit</a:t>
            </a:r>
            <a:r>
              <a:rPr lang="ru-RU" dirty="0">
                <a:cs typeface="Times New Roman" panose="02020603050405020304" pitchFamily="18" charset="0"/>
              </a:rPr>
              <a:t> (от англ. "</a:t>
            </a:r>
            <a:r>
              <a:rPr lang="ru-RU" dirty="0" err="1">
                <a:cs typeface="Times New Roman" panose="02020603050405020304" pitchFamily="18" charset="0"/>
              </a:rPr>
              <a:t>submit</a:t>
            </a:r>
            <a:r>
              <a:rPr lang="ru-RU" dirty="0">
                <a:cs typeface="Times New Roman" panose="02020603050405020304" pitchFamily="18" charset="0"/>
              </a:rPr>
              <a:t>" ‒ «отправить») создаёт кнопку отправки данных формы. При активации данной кнопки происходит отправка всех данных формы на сервер.</a:t>
            </a:r>
          </a:p>
          <a:p>
            <a:pPr marL="342900" indent="-342900">
              <a:buFont typeface="+mj-lt"/>
              <a:buAutoNum type="arabicPeriod" startAt="7"/>
            </a:pPr>
            <a:r>
              <a:rPr lang="ru-RU" dirty="0">
                <a:cs typeface="Times New Roman" panose="02020603050405020304" pitchFamily="18" charset="0"/>
              </a:rPr>
              <a:t>Выбор информации в HTML–форме. Основные теги и их характеристика: тег &lt;</a:t>
            </a:r>
            <a:r>
              <a:rPr lang="ru-RU" dirty="0" err="1">
                <a:cs typeface="Times New Roman" panose="02020603050405020304" pitchFamily="18" charset="0"/>
              </a:rPr>
              <a:t>select</a:t>
            </a:r>
            <a:r>
              <a:rPr lang="ru-RU" dirty="0">
                <a:cs typeface="Times New Roman" panose="02020603050405020304" pitchFamily="18" charset="0"/>
              </a:rPr>
              <a:t>&gt; позволяет создать элемент интерфейса в виде раскрывающегося списка, а также список с одним или множественным выбором, как показано далее. Конечный вид зависит от использования атрибута </a:t>
            </a:r>
            <a:r>
              <a:rPr lang="ru-RU" dirty="0" err="1">
                <a:cs typeface="Times New Roman" panose="02020603050405020304" pitchFamily="18" charset="0"/>
              </a:rPr>
              <a:t>size</a:t>
            </a:r>
            <a:r>
              <a:rPr lang="ru-RU" dirty="0">
                <a:cs typeface="Times New Roman" panose="02020603050405020304" pitchFamily="18" charset="0"/>
              </a:rPr>
              <a:t> тега &lt;</a:t>
            </a:r>
            <a:r>
              <a:rPr lang="ru-RU" dirty="0" err="1">
                <a:cs typeface="Times New Roman" panose="02020603050405020304" pitchFamily="18" charset="0"/>
              </a:rPr>
              <a:t>select</a:t>
            </a:r>
            <a:r>
              <a:rPr lang="ru-RU" dirty="0">
                <a:cs typeface="Times New Roman" panose="02020603050405020304" pitchFamily="18" charset="0"/>
              </a:rPr>
              <a:t>&gt;, который устанавливает высоту списка. Ширина списка определяется самым широким текстом, указанным в теге &lt;</a:t>
            </a:r>
            <a:r>
              <a:rPr lang="ru-RU" dirty="0" err="1">
                <a:cs typeface="Times New Roman" panose="02020603050405020304" pitchFamily="18" charset="0"/>
              </a:rPr>
              <a:t>option</a:t>
            </a:r>
            <a:r>
              <a:rPr lang="ru-RU" dirty="0">
                <a:cs typeface="Times New Roman" panose="02020603050405020304" pitchFamily="18" charset="0"/>
              </a:rPr>
              <a:t>&gt;, а также может изменяться с помощью стилей. Каждый пункт создается с помощью тега &lt;</a:t>
            </a:r>
            <a:r>
              <a:rPr lang="ru-RU" dirty="0" err="1">
                <a:cs typeface="Times New Roman" panose="02020603050405020304" pitchFamily="18" charset="0"/>
              </a:rPr>
              <a:t>option</a:t>
            </a:r>
            <a:r>
              <a:rPr lang="ru-RU" dirty="0">
                <a:cs typeface="Times New Roman" panose="02020603050405020304" pitchFamily="18" charset="0"/>
              </a:rPr>
              <a:t>&gt;, который должен быть вложен в контейнер &lt;</a:t>
            </a:r>
            <a:r>
              <a:rPr lang="ru-RU" dirty="0" err="1">
                <a:cs typeface="Times New Roman" panose="02020603050405020304" pitchFamily="18" charset="0"/>
              </a:rPr>
              <a:t>select</a:t>
            </a:r>
            <a:r>
              <a:rPr lang="ru-RU" dirty="0">
                <a:cs typeface="Times New Roman" panose="02020603050405020304" pitchFamily="18" charset="0"/>
              </a:rPr>
              <a:t>&gt;. Если планируется отправлять данные списка на сервер, то требуется поместить элемент &lt;</a:t>
            </a:r>
            <a:r>
              <a:rPr lang="ru-RU" dirty="0" err="1">
                <a:cs typeface="Times New Roman" panose="02020603050405020304" pitchFamily="18" charset="0"/>
              </a:rPr>
              <a:t>select</a:t>
            </a:r>
            <a:r>
              <a:rPr lang="ru-RU" dirty="0">
                <a:cs typeface="Times New Roman" panose="02020603050405020304" pitchFamily="18" charset="0"/>
              </a:rPr>
              <a:t>&gt; внутрь формы. Это также необходимо, когда к данным списка идет обращение через скрипты.</a:t>
            </a:r>
          </a:p>
          <a:p>
            <a:pPr marL="342900" indent="-342900">
              <a:buFont typeface="+mj-lt"/>
              <a:buAutoNum type="arabicPeriod" startAt="7"/>
            </a:pPr>
            <a:r>
              <a:rPr lang="ru-RU" dirty="0">
                <a:cs typeface="Times New Roman" panose="02020603050405020304" pitchFamily="18" charset="0"/>
              </a:rPr>
              <a:t>Характеристика дескриптора TEXTAREA: поле &lt;</a:t>
            </a:r>
            <a:r>
              <a:rPr lang="ru-RU" dirty="0" err="1">
                <a:cs typeface="Times New Roman" panose="02020603050405020304" pitchFamily="18" charset="0"/>
              </a:rPr>
              <a:t>textarea</a:t>
            </a:r>
            <a:r>
              <a:rPr lang="ru-RU" dirty="0">
                <a:cs typeface="Times New Roman" panose="02020603050405020304" pitchFamily="18" charset="0"/>
              </a:rPr>
              <a:t>&gt; представляет собой элемент формы для создания области, в которую можно вводить несколько строк текста. В отличие от тега &lt;</a:t>
            </a:r>
            <a:r>
              <a:rPr lang="ru-RU" dirty="0" err="1">
                <a:cs typeface="Times New Roman" panose="02020603050405020304" pitchFamily="18" charset="0"/>
              </a:rPr>
              <a:t>input</a:t>
            </a:r>
            <a:r>
              <a:rPr lang="ru-RU" dirty="0">
                <a:cs typeface="Times New Roman" panose="02020603050405020304" pitchFamily="18" charset="0"/>
              </a:rPr>
              <a:t>&gt; в текстовом поле допустимо делать переносы строк, они сохраняются при отправке данных на сервер. Между тегами &lt;</a:t>
            </a:r>
            <a:r>
              <a:rPr lang="ru-RU" dirty="0" err="1">
                <a:cs typeface="Times New Roman" panose="02020603050405020304" pitchFamily="18" charset="0"/>
              </a:rPr>
              <a:t>textarea</a:t>
            </a:r>
            <a:r>
              <a:rPr lang="ru-RU" dirty="0">
                <a:cs typeface="Times New Roman" panose="02020603050405020304" pitchFamily="18" charset="0"/>
              </a:rPr>
              <a:t>&gt; и &lt;/</a:t>
            </a:r>
            <a:r>
              <a:rPr lang="ru-RU" dirty="0" err="1">
                <a:cs typeface="Times New Roman" panose="02020603050405020304" pitchFamily="18" charset="0"/>
              </a:rPr>
              <a:t>textarea</a:t>
            </a:r>
            <a:r>
              <a:rPr lang="ru-RU" dirty="0">
                <a:cs typeface="Times New Roman" panose="02020603050405020304" pitchFamily="18" charset="0"/>
              </a:rPr>
              <a:t>&gt; можно поместить любой текст, который будет отображаться внутри поля.</a:t>
            </a:r>
          </a:p>
          <a:p>
            <a:pPr marL="342900" indent="-342900">
              <a:buFont typeface="+mj-lt"/>
              <a:buAutoNum type="arabicPeriod" startAt="7"/>
            </a:pPr>
            <a:r>
              <a:rPr lang="ru-RU" dirty="0">
                <a:cs typeface="Times New Roman" panose="02020603050405020304" pitchFamily="18" charset="0"/>
              </a:rPr>
              <a:t>Какой тег следует указывать при поиске из нескольких массивов информации?: на сайтах часто востребован поиск по ключевым словам, для ввода которых используется текстовое поле. В HTML5 для поиска добавлено новое поле, синтаксис его следующий: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type</a:t>
            </a:r>
            <a:r>
              <a:rPr lang="ru-RU" dirty="0">
                <a:cs typeface="Times New Roman" panose="02020603050405020304" pitchFamily="18" charset="0"/>
              </a:rPr>
              <a:t>="</a:t>
            </a:r>
            <a:r>
              <a:rPr lang="ru-RU" dirty="0" err="1">
                <a:cs typeface="Times New Roman" panose="02020603050405020304" pitchFamily="18" charset="0"/>
              </a:rPr>
              <a:t>search</a:t>
            </a:r>
            <a:r>
              <a:rPr lang="ru-RU" dirty="0">
                <a:cs typeface="Times New Roman" panose="02020603050405020304" pitchFamily="18" charset="0"/>
              </a:rPr>
              <a:t>" атрибуты&gt; Используемые атрибуты совпадают с текстовым полем. Разница между текстовым полем и полем для поиска состоит в стилистическом оформлении. На платформах, где поисковая форма имеет свой собственный уникальный вид, легко придать полю аналогичное оформлении. В большинстве браузеров поле для поиска по своему виду никак не отличается от текстового поля, за исключением </a:t>
            </a:r>
            <a:r>
              <a:rPr lang="ru-RU" dirty="0" err="1">
                <a:cs typeface="Times New Roman" panose="02020603050405020304" pitchFamily="18" charset="0"/>
              </a:rPr>
              <a:t>Chrome</a:t>
            </a:r>
            <a:r>
              <a:rPr lang="ru-RU" dirty="0">
                <a:cs typeface="Times New Roman" panose="02020603050405020304" pitchFamily="18" charset="0"/>
              </a:rPr>
              <a:t>, Safari и IE10, которые добавляют небольшой крестик в правой части для быстрой очистки введённого текста.</a:t>
            </a:r>
          </a:p>
          <a:p>
            <a:pPr marL="342900" indent="-342900">
              <a:buFont typeface="+mj-lt"/>
              <a:buAutoNum type="arabicPeriod" startAt="7"/>
            </a:pPr>
            <a:r>
              <a:rPr lang="ru-RU" dirty="0">
                <a:cs typeface="Times New Roman" panose="02020603050405020304" pitchFamily="18" charset="0"/>
              </a:rPr>
              <a:t>Если форма, проектируемая пользователем достаточно велика, то какой способ используют для размещения информации?: элемент &lt;</a:t>
            </a:r>
            <a:r>
              <a:rPr lang="ru-RU" dirty="0" err="1">
                <a:cs typeface="Times New Roman" panose="02020603050405020304" pitchFamily="18" charset="0"/>
              </a:rPr>
              <a:t>fieldset</a:t>
            </a:r>
            <a:r>
              <a:rPr lang="ru-RU" dirty="0">
                <a:cs typeface="Times New Roman" panose="02020603050405020304" pitchFamily="18" charset="0"/>
              </a:rPr>
              <a:t>&gt; - это удобный способ стилистической и семантической группировки элементов формы. Вы можете установить заголовок &lt;</a:t>
            </a:r>
            <a:r>
              <a:rPr lang="ru-RU" dirty="0" err="1">
                <a:cs typeface="Times New Roman" panose="02020603050405020304" pitchFamily="18" charset="0"/>
              </a:rPr>
              <a:t>fieldset</a:t>
            </a:r>
            <a:r>
              <a:rPr lang="ru-RU" dirty="0">
                <a:cs typeface="Times New Roman" panose="02020603050405020304" pitchFamily="18" charset="0"/>
              </a:rPr>
              <a:t>&gt;, добавив элемент &lt;</a:t>
            </a:r>
            <a:r>
              <a:rPr lang="ru-RU" dirty="0" err="1">
                <a:cs typeface="Times New Roman" panose="02020603050405020304" pitchFamily="18" charset="0"/>
              </a:rPr>
              <a:t>legend</a:t>
            </a:r>
            <a:r>
              <a:rPr lang="ru-RU" dirty="0">
                <a:cs typeface="Times New Roman" panose="02020603050405020304" pitchFamily="18" charset="0"/>
              </a:rPr>
              <a:t>&gt; сразу после открывающего тега &lt;</a:t>
            </a:r>
            <a:r>
              <a:rPr lang="ru-RU" dirty="0" err="1">
                <a:cs typeface="Times New Roman" panose="02020603050405020304" pitchFamily="18" charset="0"/>
              </a:rPr>
              <a:t>fieldset</a:t>
            </a:r>
            <a:r>
              <a:rPr lang="ru-RU" dirty="0">
                <a:cs typeface="Times New Roman" panose="02020603050405020304" pitchFamily="18" charset="0"/>
              </a:rPr>
              <a:t>&gt;. Текст элемента &lt;</a:t>
            </a:r>
            <a:r>
              <a:rPr lang="ru-RU" dirty="0" err="1">
                <a:cs typeface="Times New Roman" panose="02020603050405020304" pitchFamily="18" charset="0"/>
              </a:rPr>
              <a:t>legend</a:t>
            </a:r>
            <a:r>
              <a:rPr lang="ru-RU" dirty="0">
                <a:cs typeface="Times New Roman" panose="02020603050405020304" pitchFamily="18" charset="0"/>
              </a:rPr>
              <a:t>&gt; формально описывает назначение содержимого &lt;</a:t>
            </a:r>
            <a:r>
              <a:rPr lang="ru-RU" dirty="0" err="1">
                <a:cs typeface="Times New Roman" panose="02020603050405020304" pitchFamily="18" charset="0"/>
              </a:rPr>
              <a:t>fieldset</a:t>
            </a:r>
            <a:r>
              <a:rPr lang="ru-RU" dirty="0">
                <a:cs typeface="Times New Roman" panose="02020603050405020304" pitchFamily="18" charset="0"/>
              </a:rPr>
              <a:t>&gt;. Различные вспомогательные технологии будут использовать &lt;</a:t>
            </a:r>
            <a:r>
              <a:rPr lang="ru-RU" dirty="0" err="1">
                <a:cs typeface="Times New Roman" panose="02020603050405020304" pitchFamily="18" charset="0"/>
              </a:rPr>
              <a:t>legend</a:t>
            </a:r>
            <a:r>
              <a:rPr lang="ru-RU" dirty="0">
                <a:cs typeface="Times New Roman" panose="02020603050405020304" pitchFamily="18" charset="0"/>
              </a:rPr>
              <a:t>&gt; как часть метки </a:t>
            </a:r>
            <a:r>
              <a:rPr lang="ru-RU" dirty="0" err="1">
                <a:cs typeface="Times New Roman" panose="02020603050405020304" pitchFamily="18" charset="0"/>
              </a:rPr>
              <a:t>label</a:t>
            </a:r>
            <a:r>
              <a:rPr lang="ru-RU" dirty="0">
                <a:cs typeface="Times New Roman" panose="02020603050405020304" pitchFamily="18" charset="0"/>
              </a:rPr>
              <a:t> всех элементов внутри &lt;</a:t>
            </a:r>
            <a:r>
              <a:rPr lang="ru-RU" dirty="0" err="1">
                <a:cs typeface="Times New Roman" panose="02020603050405020304" pitchFamily="18" charset="0"/>
              </a:rPr>
              <a:t>fieldset</a:t>
            </a:r>
            <a:r>
              <a:rPr lang="ru-RU" dirty="0">
                <a:cs typeface="Times New Roman" panose="02020603050405020304" pitchFamily="18" charset="0"/>
              </a:rPr>
              <a:t>&gt;. Например, такие экранные дикторы как </a:t>
            </a:r>
            <a:r>
              <a:rPr lang="ru-RU" dirty="0" err="1">
                <a:cs typeface="Times New Roman" panose="02020603050405020304" pitchFamily="18" charset="0"/>
              </a:rPr>
              <a:t>Jaws</a:t>
            </a:r>
            <a:r>
              <a:rPr lang="ru-RU" dirty="0">
                <a:cs typeface="Times New Roman" panose="02020603050405020304" pitchFamily="18" charset="0"/>
              </a:rPr>
              <a:t> или NVDA произносят заголовок формы &lt;</a:t>
            </a:r>
            <a:r>
              <a:rPr lang="ru-RU" dirty="0" err="1">
                <a:cs typeface="Times New Roman" panose="02020603050405020304" pitchFamily="18" charset="0"/>
              </a:rPr>
              <a:t>legend</a:t>
            </a:r>
            <a:r>
              <a:rPr lang="ru-RU" dirty="0">
                <a:cs typeface="Times New Roman" panose="02020603050405020304" pitchFamily="18" charset="0"/>
              </a:rPr>
              <a:t>&gt; перед произношением названия меток элементов.</a:t>
            </a:r>
          </a:p>
        </p:txBody>
      </p:sp>
    </p:spTree>
    <p:extLst>
      <p:ext uri="{BB962C8B-B14F-4D97-AF65-F5344CB8AC3E}">
        <p14:creationId xmlns:p14="http://schemas.microsoft.com/office/powerpoint/2010/main" val="312991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2FAF4-53ED-E700-B944-292FEC521EA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1C9B75-4ADC-2D7C-47D7-51D2A9643382}"/>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484B4D2F-B4E2-CAC7-6FDD-1DCAE960E265}"/>
              </a:ext>
            </a:extLst>
          </p:cNvPr>
          <p:cNvSpPr>
            <a:spLocks noGrp="1"/>
          </p:cNvSpPr>
          <p:nvPr>
            <p:ph idx="1"/>
          </p:nvPr>
        </p:nvSpPr>
        <p:spPr>
          <a:xfrm>
            <a:off x="199823" y="1203158"/>
            <a:ext cx="11754754" cy="5654842"/>
          </a:xfrm>
        </p:spPr>
        <p:txBody>
          <a:bodyPr>
            <a:normAutofit fontScale="62500" lnSpcReduction="20000"/>
          </a:bodyPr>
          <a:lstStyle/>
          <a:p>
            <a:pPr marL="457200" indent="-457200">
              <a:buFont typeface="+mj-lt"/>
              <a:buAutoNum type="arabicPeriod" startAt="12"/>
            </a:pPr>
            <a:r>
              <a:rPr lang="ru-RU" dirty="0">
                <a:cs typeface="Times New Roman" panose="02020603050405020304" pitchFamily="18" charset="0"/>
              </a:rPr>
              <a:t>Какой тег используется для формирования горизонтальной строки?: тег &lt;</a:t>
            </a:r>
            <a:r>
              <a:rPr lang="ru-RU" dirty="0" err="1">
                <a:cs typeface="Times New Roman" panose="02020603050405020304" pitchFamily="18" charset="0"/>
              </a:rPr>
              <a:t>hr</a:t>
            </a:r>
            <a:r>
              <a:rPr lang="ru-RU" dirty="0">
                <a:cs typeface="Times New Roman" panose="02020603050405020304" pitchFamily="18" charset="0"/>
              </a:rPr>
              <a:t>&gt; рисует горизонтальную линию, которая по своему виду зависит от используемых параметров, а также браузера. Тег &lt;</a:t>
            </a:r>
            <a:r>
              <a:rPr lang="ru-RU" dirty="0" err="1">
                <a:cs typeface="Times New Roman" panose="02020603050405020304" pitchFamily="18" charset="0"/>
              </a:rPr>
              <a:t>hr</a:t>
            </a:r>
            <a:r>
              <a:rPr lang="ru-RU" dirty="0">
                <a:cs typeface="Times New Roman" panose="02020603050405020304" pitchFamily="18" charset="0"/>
              </a:rPr>
              <a:t>&gt; относится к блочным элементам, линия всегда начинается с новой строки, а после нее все элементы отображаются на следующей строке.</a:t>
            </a:r>
          </a:p>
          <a:p>
            <a:pPr marL="457200" indent="-457200">
              <a:buFont typeface="+mj-lt"/>
              <a:buAutoNum type="arabicPeriod" startAt="12"/>
            </a:pPr>
            <a:r>
              <a:rPr lang="ru-RU" dirty="0">
                <a:cs typeface="Times New Roman" panose="02020603050405020304" pitchFamily="18" charset="0"/>
              </a:rPr>
              <a:t>Какой тег используют для перевода строки?: HTML-элемент &lt;</a:t>
            </a:r>
            <a:r>
              <a:rPr lang="ru-RU" dirty="0" err="1">
                <a:cs typeface="Times New Roman" panose="02020603050405020304" pitchFamily="18" charset="0"/>
              </a:rPr>
              <a:t>br</a:t>
            </a:r>
            <a:r>
              <a:rPr lang="ru-RU" dirty="0">
                <a:cs typeface="Times New Roman" panose="02020603050405020304" pitchFamily="18" charset="0"/>
              </a:rPr>
              <a:t>&gt; устанавливает перевод строки в тексте (возврат каретки). Он полезен при написании поэмы или адреса, где важно деление на строки.</a:t>
            </a:r>
          </a:p>
          <a:p>
            <a:pPr marL="457200" indent="-457200">
              <a:buFont typeface="+mj-lt"/>
              <a:buAutoNum type="arabicPeriod" startAt="12"/>
            </a:pPr>
            <a:r>
              <a:rPr lang="ru-RU" dirty="0">
                <a:cs typeface="Times New Roman" panose="02020603050405020304" pitchFamily="18" charset="0"/>
              </a:rPr>
              <a:t>Что улучшает совместное использование в Web документе таблиц и форм?: таблицы состоят из родительского элемента &lt;</a:t>
            </a:r>
            <a:r>
              <a:rPr lang="ru-RU" dirty="0" err="1">
                <a:cs typeface="Times New Roman" panose="02020603050405020304" pitchFamily="18" charset="0"/>
              </a:rPr>
              <a:t>table</a:t>
            </a:r>
            <a:r>
              <a:rPr lang="ru-RU" dirty="0">
                <a:cs typeface="Times New Roman" panose="02020603050405020304" pitchFamily="18" charset="0"/>
              </a:rPr>
              <a:t>&gt;, а также вложенных элементов &lt;</a:t>
            </a:r>
            <a:r>
              <a:rPr lang="ru-RU" dirty="0" err="1">
                <a:cs typeface="Times New Roman" panose="02020603050405020304" pitchFamily="18" charset="0"/>
              </a:rPr>
              <a:t>th</a:t>
            </a:r>
            <a:r>
              <a:rPr lang="ru-RU" dirty="0">
                <a:cs typeface="Times New Roman" panose="02020603050405020304" pitchFamily="18" charset="0"/>
              </a:rPr>
              <a:t>&gt; или &lt;</a:t>
            </a:r>
            <a:r>
              <a:rPr lang="ru-RU" dirty="0" err="1">
                <a:cs typeface="Times New Roman" panose="02020603050405020304" pitchFamily="18" charset="0"/>
              </a:rPr>
              <a:t>td</a:t>
            </a:r>
            <a:r>
              <a:rPr lang="ru-RU" dirty="0">
                <a:cs typeface="Times New Roman" panose="02020603050405020304" pitchFamily="18" charset="0"/>
              </a:rPr>
              <a:t>&gt;. Когда мы устанавливаем границы к этим элементам, то границы вокруг одного элемента начинают соединяться с границами другого элемента. Например, если положить </a:t>
            </a:r>
            <a:r>
              <a:rPr lang="ru-RU" dirty="0" err="1">
                <a:cs typeface="Times New Roman" panose="02020603050405020304" pitchFamily="18" charset="0"/>
              </a:rPr>
              <a:t>двухпиксельную</a:t>
            </a:r>
            <a:r>
              <a:rPr lang="ru-RU" dirty="0">
                <a:cs typeface="Times New Roman" panose="02020603050405020304" pitchFamily="18" charset="0"/>
              </a:rPr>
              <a:t> границу вокруг всей таблицы, а затем дополнительно </a:t>
            </a:r>
            <a:r>
              <a:rPr lang="ru-RU" dirty="0" err="1">
                <a:cs typeface="Times New Roman" panose="02020603050405020304" pitchFamily="18" charset="0"/>
              </a:rPr>
              <a:t>двухпиксельную</a:t>
            </a:r>
            <a:r>
              <a:rPr lang="ru-RU" dirty="0">
                <a:cs typeface="Times New Roman" panose="02020603050405020304" pitchFamily="18" charset="0"/>
              </a:rPr>
              <a:t> границу вокруг каждой ячейки таблицы, то получится </a:t>
            </a:r>
            <a:r>
              <a:rPr lang="ru-RU" dirty="0" err="1">
                <a:cs typeface="Times New Roman" panose="02020603050405020304" pitchFamily="18" charset="0"/>
              </a:rPr>
              <a:t>четырёхпиксельная</a:t>
            </a:r>
            <a:r>
              <a:rPr lang="ru-RU" dirty="0">
                <a:cs typeface="Times New Roman" panose="02020603050405020304" pitchFamily="18" charset="0"/>
              </a:rPr>
              <a:t> граница вокруг каждой ячейки в таблице. Свойство </a:t>
            </a:r>
            <a:r>
              <a:rPr lang="ru-RU" dirty="0" err="1">
                <a:cs typeface="Times New Roman" panose="02020603050405020304" pitchFamily="18" charset="0"/>
              </a:rPr>
              <a:t>border-collapse</a:t>
            </a:r>
            <a:r>
              <a:rPr lang="ru-RU" dirty="0">
                <a:cs typeface="Times New Roman" panose="02020603050405020304" pitchFamily="18" charset="0"/>
              </a:rPr>
              <a:t> определяет модель границы в таблице. Есть три значения для свойства </a:t>
            </a:r>
            <a:r>
              <a:rPr lang="ru-RU" dirty="0" err="1">
                <a:cs typeface="Times New Roman" panose="02020603050405020304" pitchFamily="18" charset="0"/>
              </a:rPr>
              <a:t>border-collapse</a:t>
            </a:r>
            <a:r>
              <a:rPr lang="ru-RU" dirty="0">
                <a:cs typeface="Times New Roman" panose="02020603050405020304" pitchFamily="18" charset="0"/>
              </a:rPr>
              <a:t>: </a:t>
            </a:r>
            <a:r>
              <a:rPr lang="ru-RU" dirty="0" err="1">
                <a:cs typeface="Times New Roman" panose="02020603050405020304" pitchFamily="18" charset="0"/>
              </a:rPr>
              <a:t>collapse</a:t>
            </a:r>
            <a:r>
              <a:rPr lang="ru-RU" dirty="0">
                <a:cs typeface="Times New Roman" panose="02020603050405020304" pitchFamily="18" charset="0"/>
              </a:rPr>
              <a:t>, </a:t>
            </a:r>
            <a:r>
              <a:rPr lang="ru-RU" dirty="0" err="1">
                <a:cs typeface="Times New Roman" panose="02020603050405020304" pitchFamily="18" charset="0"/>
              </a:rPr>
              <a:t>separate</a:t>
            </a:r>
            <a:r>
              <a:rPr lang="ru-RU" dirty="0">
                <a:cs typeface="Times New Roman" panose="02020603050405020304" pitchFamily="18" charset="0"/>
              </a:rPr>
              <a:t> и </a:t>
            </a:r>
            <a:r>
              <a:rPr lang="ru-RU" dirty="0" err="1">
                <a:cs typeface="Times New Roman" panose="02020603050405020304" pitchFamily="18" charset="0"/>
              </a:rPr>
              <a:t>inherit</a:t>
            </a:r>
            <a:r>
              <a:rPr lang="ru-RU" dirty="0">
                <a:cs typeface="Times New Roman" panose="02020603050405020304" pitchFamily="18" charset="0"/>
              </a:rPr>
              <a:t>. Значение по умолчанию </a:t>
            </a:r>
            <a:r>
              <a:rPr lang="ru-RU" dirty="0" err="1">
                <a:cs typeface="Times New Roman" panose="02020603050405020304" pitchFamily="18" charset="0"/>
              </a:rPr>
              <a:t>separate</a:t>
            </a:r>
            <a:r>
              <a:rPr lang="ru-RU" dirty="0">
                <a:cs typeface="Times New Roman" panose="02020603050405020304" pitchFamily="18" charset="0"/>
              </a:rPr>
              <a:t> у свойства </a:t>
            </a:r>
            <a:r>
              <a:rPr lang="ru-RU" dirty="0" err="1">
                <a:cs typeface="Times New Roman" panose="02020603050405020304" pitchFamily="18" charset="0"/>
              </a:rPr>
              <a:t>border-collapse</a:t>
            </a:r>
            <a:r>
              <a:rPr lang="ru-RU" dirty="0">
                <a:cs typeface="Times New Roman" panose="02020603050405020304" pitchFamily="18" charset="0"/>
              </a:rPr>
              <a:t> означает, что все разные границы складываются друг с другом, как описано выше. Значение </a:t>
            </a:r>
            <a:r>
              <a:rPr lang="ru-RU" dirty="0" err="1">
                <a:cs typeface="Times New Roman" panose="02020603050405020304" pitchFamily="18" charset="0"/>
              </a:rPr>
              <a:t>collapse</a:t>
            </a:r>
            <a:r>
              <a:rPr lang="ru-RU" dirty="0">
                <a:cs typeface="Times New Roman" panose="02020603050405020304" pitchFamily="18" charset="0"/>
              </a:rPr>
              <a:t>, с другой стороны, сжимает границы в одну, выбирая ячейку таблицы в качестве основной.</a:t>
            </a:r>
          </a:p>
          <a:p>
            <a:pPr marL="457200" indent="-457200">
              <a:buFont typeface="+mj-lt"/>
              <a:buAutoNum type="arabicPeriod" startAt="12"/>
            </a:pPr>
            <a:r>
              <a:rPr lang="ru-RU" dirty="0">
                <a:cs typeface="Times New Roman" panose="02020603050405020304" pitchFamily="18" charset="0"/>
              </a:rPr>
              <a:t>Какие элементы управления позволяют передать данные с компьютера клиента на сервер?: для того чтобы можно было загружать на сервер один или несколько файлов, в форме применяется специальное поле. В браузерах Firefox, IE и Opera такой элемент отображается как текстовое поле, рядом с которым располагается кнопка с надписью «Обзор...». При нажатии на кнопку открывается окно для выбора файла, где можно указать, какой файл пользователь желает использовать. Синтаксис поля для отправки файла следующий.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type</a:t>
            </a:r>
            <a:r>
              <a:rPr lang="ru-RU" dirty="0">
                <a:cs typeface="Times New Roman" panose="02020603050405020304" pitchFamily="18" charset="0"/>
              </a:rPr>
              <a:t>="</a:t>
            </a:r>
            <a:r>
              <a:rPr lang="ru-RU" dirty="0" err="1">
                <a:cs typeface="Times New Roman" panose="02020603050405020304" pitchFamily="18" charset="0"/>
              </a:rPr>
              <a:t>file</a:t>
            </a:r>
            <a:r>
              <a:rPr lang="ru-RU" dirty="0">
                <a:cs typeface="Times New Roman" panose="02020603050405020304" pitchFamily="18" charset="0"/>
              </a:rPr>
              <a:t>" атрибуты&gt;.</a:t>
            </a:r>
          </a:p>
          <a:p>
            <a:pPr marL="457200" indent="-457200">
              <a:buFont typeface="+mj-lt"/>
              <a:buAutoNum type="arabicPeriod" startAt="12"/>
            </a:pPr>
            <a:r>
              <a:rPr lang="ru-RU" dirty="0">
                <a:cs typeface="Times New Roman" panose="02020603050405020304" pitchFamily="18" charset="0"/>
              </a:rPr>
              <a:t>Напишите пример одновременного использования HTML-форм, таблиц и кнопки передачи запроса: &lt;</a:t>
            </a:r>
            <a:r>
              <a:rPr lang="ru-RU" dirty="0" err="1">
                <a:cs typeface="Times New Roman" panose="02020603050405020304" pitchFamily="18" charset="0"/>
              </a:rPr>
              <a:t>form</a:t>
            </a:r>
            <a:r>
              <a:rPr lang="ru-RU" dirty="0">
                <a:cs typeface="Times New Roman" panose="02020603050405020304" pitchFamily="18" charset="0"/>
              </a:rPr>
              <a:t> </a:t>
            </a:r>
            <a:r>
              <a:rPr lang="ru-RU" dirty="0" err="1">
                <a:cs typeface="Times New Roman" panose="02020603050405020304" pitchFamily="18" charset="0"/>
              </a:rPr>
              <a:t>action</a:t>
            </a:r>
            <a:r>
              <a:rPr lang="ru-RU" dirty="0">
                <a:cs typeface="Times New Roman" panose="02020603050405020304" pitchFamily="18" charset="0"/>
              </a:rPr>
              <a:t>="http://foo.com" </a:t>
            </a:r>
            <a:r>
              <a:rPr lang="ru-RU" dirty="0" err="1">
                <a:cs typeface="Times New Roman" panose="02020603050405020304" pitchFamily="18" charset="0"/>
              </a:rPr>
              <a:t>method</a:t>
            </a:r>
            <a:r>
              <a:rPr lang="ru-RU" dirty="0">
                <a:cs typeface="Times New Roman" panose="02020603050405020304" pitchFamily="18" charset="0"/>
              </a:rPr>
              <a:t>="</a:t>
            </a:r>
            <a:r>
              <a:rPr lang="ru-RU" dirty="0" err="1">
                <a:cs typeface="Times New Roman" panose="02020603050405020304" pitchFamily="18" charset="0"/>
              </a:rPr>
              <a:t>get</a:t>
            </a:r>
            <a:r>
              <a:rPr lang="ru-RU" dirty="0">
                <a:cs typeface="Times New Roman" panose="02020603050405020304" pitchFamily="18" charset="0"/>
              </a:rPr>
              <a:t>"&gt;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label</a:t>
            </a:r>
            <a:r>
              <a:rPr lang="ru-RU" dirty="0">
                <a:cs typeface="Times New Roman" panose="02020603050405020304" pitchFamily="18" charset="0"/>
              </a:rPr>
              <a:t> </a:t>
            </a:r>
            <a:r>
              <a:rPr lang="ru-RU" dirty="0" err="1">
                <a:cs typeface="Times New Roman" panose="02020603050405020304" pitchFamily="18" charset="0"/>
              </a:rPr>
              <a:t>for</a:t>
            </a:r>
            <a:r>
              <a:rPr lang="ru-RU" dirty="0">
                <a:cs typeface="Times New Roman" panose="02020603050405020304" pitchFamily="18" charset="0"/>
              </a:rPr>
              <a:t>="</a:t>
            </a:r>
            <a:r>
              <a:rPr lang="ru-RU" dirty="0" err="1">
                <a:cs typeface="Times New Roman" panose="02020603050405020304" pitchFamily="18" charset="0"/>
              </a:rPr>
              <a:t>say</a:t>
            </a:r>
            <a:r>
              <a:rPr lang="ru-RU" dirty="0">
                <a:cs typeface="Times New Roman" panose="02020603050405020304" pitchFamily="18" charset="0"/>
              </a:rPr>
              <a:t>"&gt;What </a:t>
            </a:r>
            <a:r>
              <a:rPr lang="ru-RU" dirty="0" err="1">
                <a:cs typeface="Times New Roman" panose="02020603050405020304" pitchFamily="18" charset="0"/>
              </a:rPr>
              <a:t>greeting</a:t>
            </a:r>
            <a:r>
              <a:rPr lang="ru-RU" dirty="0">
                <a:cs typeface="Times New Roman" panose="02020603050405020304" pitchFamily="18" charset="0"/>
              </a:rPr>
              <a:t> </a:t>
            </a:r>
            <a:r>
              <a:rPr lang="ru-RU" dirty="0" err="1">
                <a:cs typeface="Times New Roman" panose="02020603050405020304" pitchFamily="18" charset="0"/>
              </a:rPr>
              <a:t>do</a:t>
            </a:r>
            <a:r>
              <a:rPr lang="ru-RU" dirty="0">
                <a:cs typeface="Times New Roman" panose="02020603050405020304" pitchFamily="18" charset="0"/>
              </a:rPr>
              <a:t> </a:t>
            </a:r>
            <a:r>
              <a:rPr lang="ru-RU" dirty="0" err="1">
                <a:cs typeface="Times New Roman" panose="02020603050405020304" pitchFamily="18" charset="0"/>
              </a:rPr>
              <a:t>you</a:t>
            </a:r>
            <a:r>
              <a:rPr lang="ru-RU" dirty="0">
                <a:cs typeface="Times New Roman" panose="02020603050405020304" pitchFamily="18" charset="0"/>
              </a:rPr>
              <a:t> </a:t>
            </a:r>
            <a:r>
              <a:rPr lang="ru-RU" dirty="0" err="1">
                <a:cs typeface="Times New Roman" panose="02020603050405020304" pitchFamily="18" charset="0"/>
              </a:rPr>
              <a:t>want</a:t>
            </a:r>
            <a:r>
              <a:rPr lang="ru-RU" dirty="0">
                <a:cs typeface="Times New Roman" panose="02020603050405020304" pitchFamily="18" charset="0"/>
              </a:rPr>
              <a:t> </a:t>
            </a:r>
            <a:r>
              <a:rPr lang="ru-RU" dirty="0" err="1">
                <a:cs typeface="Times New Roman" panose="02020603050405020304" pitchFamily="18" charset="0"/>
              </a:rPr>
              <a:t>to</a:t>
            </a:r>
            <a:r>
              <a:rPr lang="ru-RU" dirty="0">
                <a:cs typeface="Times New Roman" panose="02020603050405020304" pitchFamily="18" charset="0"/>
              </a:rPr>
              <a:t> </a:t>
            </a:r>
            <a:r>
              <a:rPr lang="ru-RU" dirty="0" err="1">
                <a:cs typeface="Times New Roman" panose="02020603050405020304" pitchFamily="18" charset="0"/>
              </a:rPr>
              <a:t>say</a:t>
            </a:r>
            <a:r>
              <a:rPr lang="ru-RU" dirty="0">
                <a:cs typeface="Times New Roman" panose="02020603050405020304" pitchFamily="18" charset="0"/>
              </a:rPr>
              <a:t>?&lt;/</a:t>
            </a:r>
            <a:r>
              <a:rPr lang="ru-RU" dirty="0" err="1">
                <a:cs typeface="Times New Roman" panose="02020603050405020304" pitchFamily="18" charset="0"/>
              </a:rPr>
              <a:t>label</a:t>
            </a:r>
            <a:r>
              <a:rPr lang="ru-RU" dirty="0">
                <a:cs typeface="Times New Roman" panose="02020603050405020304" pitchFamily="18" charset="0"/>
              </a:rPr>
              <a:t>&gt;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name</a:t>
            </a:r>
            <a:r>
              <a:rPr lang="ru-RU" dirty="0">
                <a:cs typeface="Times New Roman" panose="02020603050405020304" pitchFamily="18" charset="0"/>
              </a:rPr>
              <a:t>="</a:t>
            </a:r>
            <a:r>
              <a:rPr lang="ru-RU" dirty="0" err="1">
                <a:cs typeface="Times New Roman" panose="02020603050405020304" pitchFamily="18" charset="0"/>
              </a:rPr>
              <a:t>say</a:t>
            </a:r>
            <a:r>
              <a:rPr lang="ru-RU" dirty="0">
                <a:cs typeface="Times New Roman" panose="02020603050405020304" pitchFamily="18" charset="0"/>
              </a:rPr>
              <a:t>" </a:t>
            </a:r>
            <a:r>
              <a:rPr lang="ru-RU" dirty="0" err="1">
                <a:cs typeface="Times New Roman" panose="02020603050405020304" pitchFamily="18" charset="0"/>
              </a:rPr>
              <a:t>id</a:t>
            </a:r>
            <a:r>
              <a:rPr lang="ru-RU" dirty="0">
                <a:cs typeface="Times New Roman" panose="02020603050405020304" pitchFamily="18" charset="0"/>
              </a:rPr>
              <a:t>="</a:t>
            </a:r>
            <a:r>
              <a:rPr lang="ru-RU" dirty="0" err="1">
                <a:cs typeface="Times New Roman" panose="02020603050405020304" pitchFamily="18" charset="0"/>
              </a:rPr>
              <a:t>say</a:t>
            </a:r>
            <a:r>
              <a:rPr lang="ru-RU" dirty="0">
                <a:cs typeface="Times New Roman" panose="02020603050405020304" pitchFamily="18" charset="0"/>
              </a:rPr>
              <a:t>" </a:t>
            </a:r>
            <a:r>
              <a:rPr lang="ru-RU" dirty="0" err="1">
                <a:cs typeface="Times New Roman" panose="02020603050405020304" pitchFamily="18" charset="0"/>
              </a:rPr>
              <a:t>value</a:t>
            </a:r>
            <a:r>
              <a:rPr lang="ru-RU" dirty="0">
                <a:cs typeface="Times New Roman" panose="02020603050405020304" pitchFamily="18" charset="0"/>
              </a:rPr>
              <a:t>="Hi"&gt;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label</a:t>
            </a:r>
            <a:r>
              <a:rPr lang="ru-RU" dirty="0">
                <a:cs typeface="Times New Roman" panose="02020603050405020304" pitchFamily="18" charset="0"/>
              </a:rPr>
              <a:t> </a:t>
            </a:r>
            <a:r>
              <a:rPr lang="ru-RU" dirty="0" err="1">
                <a:cs typeface="Times New Roman" panose="02020603050405020304" pitchFamily="18" charset="0"/>
              </a:rPr>
              <a:t>for</a:t>
            </a:r>
            <a:r>
              <a:rPr lang="ru-RU" dirty="0">
                <a:cs typeface="Times New Roman" panose="02020603050405020304" pitchFamily="18" charset="0"/>
              </a:rPr>
              <a:t>="</a:t>
            </a:r>
            <a:r>
              <a:rPr lang="ru-RU" dirty="0" err="1">
                <a:cs typeface="Times New Roman" panose="02020603050405020304" pitchFamily="18" charset="0"/>
              </a:rPr>
              <a:t>to</a:t>
            </a:r>
            <a:r>
              <a:rPr lang="ru-RU" dirty="0">
                <a:cs typeface="Times New Roman" panose="02020603050405020304" pitchFamily="18" charset="0"/>
              </a:rPr>
              <a:t>"&gt;Who </a:t>
            </a:r>
            <a:r>
              <a:rPr lang="ru-RU" dirty="0" err="1">
                <a:cs typeface="Times New Roman" panose="02020603050405020304" pitchFamily="18" charset="0"/>
              </a:rPr>
              <a:t>do</a:t>
            </a:r>
            <a:r>
              <a:rPr lang="ru-RU" dirty="0">
                <a:cs typeface="Times New Roman" panose="02020603050405020304" pitchFamily="18" charset="0"/>
              </a:rPr>
              <a:t> </a:t>
            </a:r>
            <a:r>
              <a:rPr lang="ru-RU" dirty="0" err="1">
                <a:cs typeface="Times New Roman" panose="02020603050405020304" pitchFamily="18" charset="0"/>
              </a:rPr>
              <a:t>you</a:t>
            </a:r>
            <a:r>
              <a:rPr lang="ru-RU" dirty="0">
                <a:cs typeface="Times New Roman" panose="02020603050405020304" pitchFamily="18" charset="0"/>
              </a:rPr>
              <a:t> </a:t>
            </a:r>
            <a:r>
              <a:rPr lang="ru-RU" dirty="0" err="1">
                <a:cs typeface="Times New Roman" panose="02020603050405020304" pitchFamily="18" charset="0"/>
              </a:rPr>
              <a:t>want</a:t>
            </a:r>
            <a:r>
              <a:rPr lang="ru-RU" dirty="0">
                <a:cs typeface="Times New Roman" panose="02020603050405020304" pitchFamily="18" charset="0"/>
              </a:rPr>
              <a:t> </a:t>
            </a:r>
            <a:r>
              <a:rPr lang="ru-RU" dirty="0" err="1">
                <a:cs typeface="Times New Roman" panose="02020603050405020304" pitchFamily="18" charset="0"/>
              </a:rPr>
              <a:t>to</a:t>
            </a:r>
            <a:r>
              <a:rPr lang="ru-RU" dirty="0">
                <a:cs typeface="Times New Roman" panose="02020603050405020304" pitchFamily="18" charset="0"/>
              </a:rPr>
              <a:t> </a:t>
            </a:r>
            <a:r>
              <a:rPr lang="ru-RU" dirty="0" err="1">
                <a:cs typeface="Times New Roman" panose="02020603050405020304" pitchFamily="18" charset="0"/>
              </a:rPr>
              <a:t>say</a:t>
            </a:r>
            <a:r>
              <a:rPr lang="ru-RU" dirty="0">
                <a:cs typeface="Times New Roman" panose="02020603050405020304" pitchFamily="18" charset="0"/>
              </a:rPr>
              <a:t> </a:t>
            </a:r>
            <a:r>
              <a:rPr lang="ru-RU" dirty="0" err="1">
                <a:cs typeface="Times New Roman" panose="02020603050405020304" pitchFamily="18" charset="0"/>
              </a:rPr>
              <a:t>it</a:t>
            </a:r>
            <a:r>
              <a:rPr lang="ru-RU" dirty="0">
                <a:cs typeface="Times New Roman" panose="02020603050405020304" pitchFamily="18" charset="0"/>
              </a:rPr>
              <a:t> </a:t>
            </a:r>
            <a:r>
              <a:rPr lang="ru-RU" dirty="0" err="1">
                <a:cs typeface="Times New Roman" panose="02020603050405020304" pitchFamily="18" charset="0"/>
              </a:rPr>
              <a:t>to</a:t>
            </a:r>
            <a:r>
              <a:rPr lang="ru-RU" dirty="0">
                <a:cs typeface="Times New Roman" panose="02020603050405020304" pitchFamily="18" charset="0"/>
              </a:rPr>
              <a:t>?&lt;/</a:t>
            </a:r>
            <a:r>
              <a:rPr lang="ru-RU" dirty="0" err="1">
                <a:cs typeface="Times New Roman" panose="02020603050405020304" pitchFamily="18" charset="0"/>
              </a:rPr>
              <a:t>label</a:t>
            </a:r>
            <a:r>
              <a:rPr lang="ru-RU" dirty="0">
                <a:cs typeface="Times New Roman" panose="02020603050405020304" pitchFamily="18" charset="0"/>
              </a:rPr>
              <a:t>&gt; &lt;</a:t>
            </a:r>
            <a:r>
              <a:rPr lang="ru-RU" dirty="0" err="1">
                <a:cs typeface="Times New Roman" panose="02020603050405020304" pitchFamily="18" charset="0"/>
              </a:rPr>
              <a:t>input</a:t>
            </a:r>
            <a:r>
              <a:rPr lang="ru-RU" dirty="0">
                <a:cs typeface="Times New Roman" panose="02020603050405020304" pitchFamily="18" charset="0"/>
              </a:rPr>
              <a:t> </a:t>
            </a:r>
            <a:r>
              <a:rPr lang="ru-RU" dirty="0" err="1">
                <a:cs typeface="Times New Roman" panose="02020603050405020304" pitchFamily="18" charset="0"/>
              </a:rPr>
              <a:t>name</a:t>
            </a:r>
            <a:r>
              <a:rPr lang="ru-RU" dirty="0">
                <a:cs typeface="Times New Roman" panose="02020603050405020304" pitchFamily="18" charset="0"/>
              </a:rPr>
              <a:t>="</a:t>
            </a:r>
            <a:r>
              <a:rPr lang="ru-RU" dirty="0" err="1">
                <a:cs typeface="Times New Roman" panose="02020603050405020304" pitchFamily="18" charset="0"/>
              </a:rPr>
              <a:t>to</a:t>
            </a:r>
            <a:r>
              <a:rPr lang="ru-RU" dirty="0">
                <a:cs typeface="Times New Roman" panose="02020603050405020304" pitchFamily="18" charset="0"/>
              </a:rPr>
              <a:t>" </a:t>
            </a:r>
            <a:r>
              <a:rPr lang="ru-RU" dirty="0" err="1">
                <a:cs typeface="Times New Roman" panose="02020603050405020304" pitchFamily="18" charset="0"/>
              </a:rPr>
              <a:t>id</a:t>
            </a:r>
            <a:r>
              <a:rPr lang="ru-RU" dirty="0">
                <a:cs typeface="Times New Roman" panose="02020603050405020304" pitchFamily="18" charset="0"/>
              </a:rPr>
              <a:t>="</a:t>
            </a:r>
            <a:r>
              <a:rPr lang="ru-RU" dirty="0" err="1">
                <a:cs typeface="Times New Roman" panose="02020603050405020304" pitchFamily="18" charset="0"/>
              </a:rPr>
              <a:t>to</a:t>
            </a:r>
            <a:r>
              <a:rPr lang="ru-RU" dirty="0">
                <a:cs typeface="Times New Roman" panose="02020603050405020304" pitchFamily="18" charset="0"/>
              </a:rPr>
              <a:t>" </a:t>
            </a:r>
            <a:r>
              <a:rPr lang="ru-RU" dirty="0" err="1">
                <a:cs typeface="Times New Roman" panose="02020603050405020304" pitchFamily="18" charset="0"/>
              </a:rPr>
              <a:t>value</a:t>
            </a:r>
            <a:r>
              <a:rPr lang="ru-RU" dirty="0">
                <a:cs typeface="Times New Roman" panose="02020603050405020304" pitchFamily="18" charset="0"/>
              </a:rPr>
              <a:t>="</a:t>
            </a:r>
            <a:r>
              <a:rPr lang="ru-RU" dirty="0" err="1">
                <a:cs typeface="Times New Roman" panose="02020603050405020304" pitchFamily="18" charset="0"/>
              </a:rPr>
              <a:t>Mom</a:t>
            </a:r>
            <a:r>
              <a:rPr lang="ru-RU" dirty="0">
                <a:cs typeface="Times New Roman" panose="02020603050405020304" pitchFamily="18" charset="0"/>
              </a:rPr>
              <a:t>"&gt;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button</a:t>
            </a:r>
            <a:r>
              <a:rPr lang="ru-RU" dirty="0">
                <a:cs typeface="Times New Roman" panose="02020603050405020304" pitchFamily="18" charset="0"/>
              </a:rPr>
              <a:t>&gt;</a:t>
            </a:r>
            <a:r>
              <a:rPr lang="ru-RU" dirty="0" err="1">
                <a:cs typeface="Times New Roman" panose="02020603050405020304" pitchFamily="18" charset="0"/>
              </a:rPr>
              <a:t>Send</a:t>
            </a:r>
            <a:r>
              <a:rPr lang="ru-RU" dirty="0">
                <a:cs typeface="Times New Roman" panose="02020603050405020304" pitchFamily="18" charset="0"/>
              </a:rPr>
              <a:t> </a:t>
            </a:r>
            <a:r>
              <a:rPr lang="ru-RU" dirty="0" err="1">
                <a:cs typeface="Times New Roman" panose="02020603050405020304" pitchFamily="18" charset="0"/>
              </a:rPr>
              <a:t>my</a:t>
            </a:r>
            <a:r>
              <a:rPr lang="ru-RU" dirty="0">
                <a:cs typeface="Times New Roman" panose="02020603050405020304" pitchFamily="18" charset="0"/>
              </a:rPr>
              <a:t> </a:t>
            </a:r>
            <a:r>
              <a:rPr lang="ru-RU" dirty="0" err="1">
                <a:cs typeface="Times New Roman" panose="02020603050405020304" pitchFamily="18" charset="0"/>
              </a:rPr>
              <a:t>greetings</a:t>
            </a:r>
            <a:r>
              <a:rPr lang="ru-RU" dirty="0">
                <a:cs typeface="Times New Roman" panose="02020603050405020304" pitchFamily="18" charset="0"/>
              </a:rPr>
              <a:t>&lt;/</a:t>
            </a:r>
            <a:r>
              <a:rPr lang="ru-RU" dirty="0" err="1">
                <a:cs typeface="Times New Roman" panose="02020603050405020304" pitchFamily="18" charset="0"/>
              </a:rPr>
              <a:t>button</a:t>
            </a:r>
            <a:r>
              <a:rPr lang="ru-RU" dirty="0">
                <a:cs typeface="Times New Roman" panose="02020603050405020304" pitchFamily="18" charset="0"/>
              </a:rPr>
              <a:t>&gt; &lt;/</a:t>
            </a:r>
            <a:r>
              <a:rPr lang="ru-RU" dirty="0" err="1">
                <a:cs typeface="Times New Roman" panose="02020603050405020304" pitchFamily="18" charset="0"/>
              </a:rPr>
              <a:t>div</a:t>
            </a:r>
            <a:r>
              <a:rPr lang="ru-RU" dirty="0">
                <a:cs typeface="Times New Roman" panose="02020603050405020304" pitchFamily="18" charset="0"/>
              </a:rPr>
              <a:t>&gt; &lt;/</a:t>
            </a:r>
            <a:r>
              <a:rPr lang="ru-RU" dirty="0" err="1">
                <a:cs typeface="Times New Roman" panose="02020603050405020304" pitchFamily="18" charset="0"/>
              </a:rPr>
              <a:t>form</a:t>
            </a:r>
            <a:r>
              <a:rPr lang="ru-RU" dirty="0">
                <a:cs typeface="Times New Roman" panose="02020603050405020304" pitchFamily="18" charset="0"/>
              </a:rPr>
              <a:t>&gt;</a:t>
            </a:r>
          </a:p>
        </p:txBody>
      </p:sp>
    </p:spTree>
    <p:extLst>
      <p:ext uri="{BB962C8B-B14F-4D97-AF65-F5344CB8AC3E}">
        <p14:creationId xmlns:p14="http://schemas.microsoft.com/office/powerpoint/2010/main" val="92806896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TotalTime>
  <Words>2826</Words>
  <Application>Microsoft Office PowerPoint</Application>
  <PresentationFormat>Широкоэкранный</PresentationFormat>
  <Paragraphs>200</Paragraphs>
  <Slides>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7</vt:i4>
      </vt:variant>
    </vt:vector>
  </HeadingPairs>
  <TitlesOfParts>
    <vt:vector size="13" baseType="lpstr">
      <vt:lpstr>Aptos</vt:lpstr>
      <vt:lpstr>Aptos Display</vt:lpstr>
      <vt:lpstr>Arial</vt:lpstr>
      <vt:lpstr>DejaVu Sans</vt:lpstr>
      <vt:lpstr>Times New Roman</vt:lpstr>
      <vt:lpstr>Тема Office</vt:lpstr>
      <vt:lpstr>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№8 Формы.</vt:lpstr>
      <vt:lpstr>Цель работы и задания</vt:lpstr>
      <vt:lpstr>Ход работы. Задание 1</vt:lpstr>
      <vt:lpstr>Ход работы. Задание 1</vt:lpstr>
      <vt:lpstr>Контрольные вопросы</vt:lpstr>
      <vt:lpstr>Контрольные вопросы</vt:lpstr>
      <vt:lpstr>Контрольные 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№2 Форматирование текста.</dc:title>
  <dc:creator>Артём Лыков</dc:creator>
  <cp:lastModifiedBy>Ярослав Давков</cp:lastModifiedBy>
  <cp:revision>51</cp:revision>
  <dcterms:created xsi:type="dcterms:W3CDTF">2025-09-05T14:29:14Z</dcterms:created>
  <dcterms:modified xsi:type="dcterms:W3CDTF">2025-12-11T17:46:46Z</dcterms:modified>
</cp:coreProperties>
</file>