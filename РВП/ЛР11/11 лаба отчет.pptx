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66" r:id="rId4"/>
    <p:sldId id="261" r:id="rId5"/>
    <p:sldId id="267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3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A8622-4CE3-3737-4D8B-347560ECB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D3771D-087D-68E3-1444-F9CFE4385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60B1D1-20B9-8128-AC09-2611B9AA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FCBEBB-AD97-D8C6-EC31-17EB64CE6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15B5D1-4283-92BC-9905-8BC60741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00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2DB3C-1BE7-BC2A-F4C5-F62604BA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EF3AA1-2CDE-F0A3-8EAB-D88F2E969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77A891-54CA-9EB6-A6C5-E657B067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40E644-3CA7-6FE1-30E0-D9A4055EC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CD6204-7813-1ED4-0A25-1306F9E4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99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E2EF1E-D4BA-C71F-7200-1B7AC00A1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3AA94A-5553-0484-D99E-6C007808A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2FD8AC-F51F-C0AB-0591-D31C60B91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2982C2-4294-070B-7A61-60EB823A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CED876-1FFF-12F6-DB70-26346749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842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E927D-39A4-4289-68AF-DB38FAAB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BF0853-DA26-ED89-838D-4278071A2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EAD61F-0BA8-2082-3F8E-5DB203E84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4C137C-B0FB-1EA8-379A-B4B734C46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728938-B53A-85E7-F33D-CB4EC025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8A0A5E-913A-CF23-9858-4896BE86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19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1EBE0-D2E0-FE09-8432-2FCBD5EE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367FD3-4DA7-40C8-4848-9609EE505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4F67D5-8DDF-D4CD-D12B-508F12F2F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4C860F-1C5B-BDBE-AE7E-F23891DD92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744BAAB-CE22-5DB9-D3A9-FE30100B0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CDFD668-B03B-75F5-9D1B-1E3F1E317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37EB0EE-AC67-0B82-A83A-99E9BE20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35E1662-CFF9-C553-567F-0DC07CA1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5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3845B-E403-7408-EA3D-FECAED33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1B1BF0D-6B22-48AC-BCD5-6962CC63A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68E0352-3A7D-7B50-CA25-BFD39781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948604-9289-41D9-D75D-1F13FDC3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175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08FB91-6127-97BA-B836-78F12840D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05890C2-9E79-F6C5-B83D-24F884351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06330D-4FFB-0E6F-0AA4-C16888BB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241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5B0001-ADF6-4A3A-75CD-057E47D6A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98C392-F732-2847-410B-72FD4073D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DE9823-AD1C-A6E0-6071-D60AF660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0A77CB-7DEB-300B-B9C8-B57D8B0AC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E5AF5A-34C6-F036-4185-E04AC848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25C114-25D2-AECF-4E3E-2DC306C2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79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6AF717-8E56-08ED-191C-B6E0C91BA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CE753AE-254F-EFE8-996D-528168D7D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D4D77A-D298-BDE4-EB53-E56FE668C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6E5C72-C79A-1F30-EC00-0D6F17EA4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8B6209-79BE-FE44-D5CF-7B0637D7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019EBD-5DF4-C059-2B0C-1BAA56B0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42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43BDA-5838-5FDC-710D-51A617D5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7E2F37-F4CE-F321-762A-1E946448B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AE7248-1212-CBF3-EB5B-28D5CF4D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ED622F-13F3-2BDF-FBF8-724AE8298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0A2571-8E24-30D3-342D-E0479A2F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93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9BD518-F277-6588-91A1-9BA5166CB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FF7048-4969-B945-5E59-E1A57EC76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4C90F0-EF62-9EFF-6FB4-5BA3E60DC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EE5DBB-117A-3D57-FA7E-B9E60BC9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73872A-F23F-77AE-3EC9-C2146FCC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38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BDB626-35A9-26E7-82CD-9D4AD697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F80F9D-9869-65B8-624B-792B1C931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03E86F-FBCA-041D-011A-8A9D1107F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F37B94-AC56-2798-C710-9CD72B263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F7997B-B2AB-837C-23F6-84C6F93D3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20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B358B5E-2BFB-DBDE-D00F-7117B3462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850" y="500514"/>
            <a:ext cx="10782300" cy="3089709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  <a:t>ФГБОУ ВО «Кубанский государственный технологический университет»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  <a:t>(ФГБОУ ВО «</a:t>
            </a:r>
            <a:r>
              <a:rPr kumimoji="0" lang="ru-RU" sz="2800" b="1" i="0" u="none" strike="noStrike" kern="1200" cap="none" spc="-1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  <a:t>КубГТУ</a:t>
            </a: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  <a:t>»)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  <a:t>Факультет: Информационных технологий и кибербезопасности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  <a:t>Кафедра: Информационных систем и программирования</a:t>
            </a: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</a:b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</a:br>
            <a:r>
              <a:rPr lang="ru-RU" sz="2800" b="1" spc="-1" dirty="0">
                <a:solidFill>
                  <a:schemeClr val="tx1"/>
                </a:solidFill>
                <a:ea typeface="DejaVu Sans"/>
              </a:rPr>
              <a:t>РАЗРАБОТКА ВЕБ-ПРИЛОЖЕНИЙ</a:t>
            </a:r>
            <a:b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</a:b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  <a:t>ЛАБОРАТОРНАЯ РАБОТА №</a:t>
            </a:r>
            <a:r>
              <a:rPr lang="ru-RU" sz="2800" b="1" spc="-1" dirty="0">
                <a:solidFill>
                  <a:schemeClr val="tx1"/>
                </a:solidFill>
                <a:ea typeface="DejaVu Sans"/>
              </a:rPr>
              <a:t>11</a:t>
            </a: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DejaVu Sans"/>
                <a:cs typeface="+mj-cs"/>
              </a:rPr>
              <a:t>Создание формы</a:t>
            </a:r>
            <a:r>
              <a:rPr lang="en-US" sz="2800" b="1" spc="-1" dirty="0">
                <a:solidFill>
                  <a:schemeClr val="tx1"/>
                </a:solidFill>
                <a:ea typeface="DejaVu Sans"/>
              </a:rPr>
              <a:t>.</a:t>
            </a:r>
            <a:endParaRPr lang="ru-RU" sz="11500" b="1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D05EC2-26A9-7905-4B24-EED6B5648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2939" y="4659264"/>
            <a:ext cx="9228201" cy="164592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dirty="0">
                <a:solidFill>
                  <a:schemeClr val="tx1"/>
                </a:solidFill>
              </a:rPr>
              <a:t>Выполнил студент 23-КБ-ПР3</a:t>
            </a:r>
          </a:p>
          <a:p>
            <a:pPr algn="r"/>
            <a:r>
              <a:rPr lang="ru-RU" dirty="0">
                <a:solidFill>
                  <a:schemeClr val="tx1"/>
                </a:solidFill>
              </a:rPr>
              <a:t>Давков Ярослав</a:t>
            </a:r>
          </a:p>
          <a:p>
            <a:pPr algn="r"/>
            <a:r>
              <a:rPr lang="ru-RU" dirty="0">
                <a:solidFill>
                  <a:schemeClr val="tx1"/>
                </a:solidFill>
              </a:rPr>
              <a:t>Проверил </a:t>
            </a:r>
            <a:r>
              <a:rPr lang="ru-RU" spc="-1" dirty="0" err="1">
                <a:solidFill>
                  <a:schemeClr val="tx1"/>
                </a:solidFill>
                <a:ea typeface="DejaVu Sans"/>
              </a:rPr>
              <a:t>ст</a:t>
            </a:r>
            <a:r>
              <a:rPr lang="en-US" spc="-1" dirty="0">
                <a:solidFill>
                  <a:schemeClr val="tx1"/>
                </a:solidFill>
                <a:ea typeface="DejaVu Sans"/>
              </a:rPr>
              <a:t>.</a:t>
            </a:r>
            <a:r>
              <a:rPr lang="ru-RU" spc="-1" dirty="0">
                <a:solidFill>
                  <a:schemeClr val="tx1"/>
                </a:solidFill>
                <a:ea typeface="DejaVu Sans"/>
              </a:rPr>
              <a:t> преподаватель </a:t>
            </a:r>
          </a:p>
          <a:p>
            <a:pPr algn="r"/>
            <a:r>
              <a:rPr lang="ru-RU" spc="-1" dirty="0">
                <a:solidFill>
                  <a:schemeClr val="tx1"/>
                </a:solidFill>
                <a:ea typeface="DejaVu Sans"/>
              </a:rPr>
              <a:t>Кушнир Надежда Владимировна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25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1EDE4-BCF3-95EA-4CB8-49B1DC9B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566" y="1926"/>
            <a:ext cx="10484209" cy="1658198"/>
          </a:xfrm>
        </p:spPr>
        <p:txBody>
          <a:bodyPr/>
          <a:lstStyle/>
          <a:p>
            <a:r>
              <a:rPr lang="ru-RU" dirty="0"/>
              <a:t>Цель работы и 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1C9885-6667-6B03-04C5-B8F6DD4EB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566" y="1562469"/>
            <a:ext cx="11756910" cy="639192"/>
          </a:xfrm>
        </p:spPr>
        <p:txBody>
          <a:bodyPr>
            <a:normAutofit lnSpcReduction="10000"/>
          </a:bodyPr>
          <a:lstStyle/>
          <a:p>
            <a:r>
              <a:rPr lang="ru-RU" sz="2000" dirty="0"/>
              <a:t>Цель работы</a:t>
            </a:r>
            <a:r>
              <a:rPr lang="en-US" sz="2000" dirty="0"/>
              <a:t>:</a:t>
            </a:r>
            <a:r>
              <a:rPr lang="ru-RU" sz="2000" dirty="0"/>
              <a:t> Создать форму и ознакомится с основами создания и размещения форм на веб-странице.</a:t>
            </a:r>
            <a:endParaRPr lang="en-US" sz="2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9766D13-22DE-4951-8B9C-AF6ECFACB0D8}"/>
              </a:ext>
            </a:extLst>
          </p:cNvPr>
          <p:cNvSpPr txBox="1">
            <a:spLocks/>
          </p:cNvSpPr>
          <p:nvPr/>
        </p:nvSpPr>
        <p:spPr>
          <a:xfrm>
            <a:off x="443883" y="2152837"/>
            <a:ext cx="11601593" cy="21084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Задание 1. Выполните задание по варианту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Реализуйте форму для опроса, где респонденты могут выбирать несколько вариантов ответов (</a:t>
            </a:r>
            <a:r>
              <a:rPr lang="ru-RU" sz="1800" dirty="0" err="1">
                <a:cs typeface="Times New Roman" panose="02020603050405020304" pitchFamily="18" charset="0"/>
              </a:rPr>
              <a:t>чекбоксы</a:t>
            </a:r>
            <a:r>
              <a:rPr lang="ru-RU" sz="1800" dirty="0">
                <a:cs typeface="Times New Roman" panose="02020603050405020304" pitchFamily="18" charset="0"/>
              </a:rPr>
              <a:t>) по разным вопросам. После отправки отображайте результаты опроса.</a:t>
            </a:r>
          </a:p>
          <a:p>
            <a:pPr marL="0" indent="0">
              <a:spcBef>
                <a:spcPts val="200"/>
              </a:spcBef>
              <a:buNone/>
            </a:pPr>
            <a:endParaRPr lang="ru-RU" sz="1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24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52" y="80666"/>
            <a:ext cx="9365241" cy="1113763"/>
          </a:xfrm>
        </p:spPr>
        <p:txBody>
          <a:bodyPr/>
          <a:lstStyle/>
          <a:p>
            <a:r>
              <a:rPr lang="ru-RU" dirty="0"/>
              <a:t>Ход работы</a:t>
            </a:r>
            <a:r>
              <a:rPr lang="en-US" dirty="0"/>
              <a:t>. </a:t>
            </a:r>
            <a:r>
              <a:rPr lang="ru-RU" dirty="0"/>
              <a:t>Задание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3611" y="875798"/>
            <a:ext cx="2720871" cy="6211574"/>
          </a:xfrm>
        </p:spPr>
        <p:txBody>
          <a:bodyPr>
            <a:normAutofit fontScale="92500" lnSpcReduction="20000"/>
          </a:bodyPr>
          <a:lstStyle/>
          <a:p>
            <a:pPr marL="0">
              <a:spcBef>
                <a:spcPts val="0"/>
              </a:spcBef>
            </a:pPr>
            <a:r>
              <a:rPr lang="en-US" sz="1200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&lt;html lang="</a:t>
            </a:r>
            <a:r>
              <a:rPr lang="en-US" sz="1200" dirty="0" err="1"/>
              <a:t>ru</a:t>
            </a:r>
            <a:r>
              <a:rPr lang="en-US" sz="1200" dirty="0"/>
              <a:t>"&gt;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&lt;head&gt;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&lt;meta charset="UTF-8"&gt;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&lt;title&gt;</a:t>
            </a:r>
            <a:r>
              <a:rPr lang="ru-RU" sz="1200" dirty="0"/>
              <a:t>ЛР11. Опрос с </a:t>
            </a:r>
            <a:r>
              <a:rPr lang="ru-RU" sz="1200" dirty="0" err="1"/>
              <a:t>чекбоксами</a:t>
            </a:r>
            <a:r>
              <a:rPr lang="ru-RU" sz="1200" dirty="0"/>
              <a:t>&lt;/</a:t>
            </a:r>
            <a:r>
              <a:rPr lang="en-US" sz="1200" dirty="0"/>
              <a:t>title&gt;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&lt;style&gt;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body {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font-family: Arial, sans-serif;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background: #f5f5f5;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padding: 20px;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}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h1 {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text-align: center;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color: #333;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}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form {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max-width: 600px;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margin: auto;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background: #fff;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padding: 20px;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border-radius: 10px;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box-shadow: 0 0 10px </a:t>
            </a:r>
            <a:r>
              <a:rPr lang="en-US" sz="1200" dirty="0" err="1"/>
              <a:t>rgba</a:t>
            </a:r>
            <a:r>
              <a:rPr lang="en-US" sz="1200" dirty="0"/>
              <a:t>(0,0,0,0.1);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}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.question {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margin-bottom: 20px;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}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button {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background: #0066cc;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color: #fff;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padding: 10px 20px;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border: none;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border-radius: 5px;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cursor: pointer;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}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</a:t>
            </a:r>
            <a:r>
              <a:rPr lang="en-US" sz="1200" dirty="0" err="1"/>
              <a:t>button:hover</a:t>
            </a:r>
            <a:r>
              <a:rPr lang="en-US" sz="1200" dirty="0"/>
              <a:t> { background: #004c99; }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#results {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max-width: 600px;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margin: 20px auto;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background: #e8ffe8;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border: 1px solid #8bc34a;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padding: 15px;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border-radius: 10px;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  display: none;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  }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  &lt;/style&gt;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&lt;/head&gt;</a:t>
            </a:r>
          </a:p>
          <a:p>
            <a:pPr marL="0">
              <a:spcBef>
                <a:spcPts val="0"/>
              </a:spcBef>
            </a:pPr>
            <a:r>
              <a:rPr lang="en-US" sz="1200" dirty="0"/>
              <a:t>&lt;body&gt;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6C89F-C7DA-4123-998D-CD47F56A46FE}"/>
              </a:ext>
            </a:extLst>
          </p:cNvPr>
          <p:cNvSpPr txBox="1"/>
          <p:nvPr/>
        </p:nvSpPr>
        <p:spPr>
          <a:xfrm>
            <a:off x="6622742" y="148856"/>
            <a:ext cx="6780319" cy="670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&lt;h1&gt;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Опрос&lt;/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h1&gt;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&lt;form id="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surveyForm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"&gt;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&lt;div class="question"&gt;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&lt;p&gt;&lt;b&gt;1. 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Какие языки программирования вы знаете?&lt;/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b&gt;&lt;/p&gt;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langs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" value="Python"&gt; Python&lt;/label&gt;&lt;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br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langs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" value="JavaScript"&gt; JavaScript&lt;/label&gt;&lt;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br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langs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" value="C++"&gt; C++&lt;/label&gt;&lt;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br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langs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" value="C#"&gt; C#&lt;/label&gt;&lt;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br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langs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" value="C"&gt; C&lt;/label&gt;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&lt;/div&gt;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&lt;div class="question"&gt;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&lt;p&gt;&lt;b&gt;2. 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Какие виды спорта вам нравятся?&lt;/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b&gt;&lt;/p&gt;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name="sports" value="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Футбол"&gt; Футбол&lt;/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label&gt;&lt;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br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name="sports" value="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Баскетбол"&gt; Баскетбол&lt;/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label&gt;&lt;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br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name="sports" value="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Плавание"&gt; Плавание&lt;/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label&gt;&lt;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br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name="sports" value="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Теннис"&gt; Теннис&lt;/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label&gt;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&lt;/div&gt;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&lt;div class="question"&gt;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&lt;p&gt;&lt;b&gt;3. 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Ваши любимые жанры музыки?&lt;/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b&gt;&lt;/p&gt;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name="music" value="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Рок"&gt; Рок&lt;/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label&gt;&lt;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br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name="music" value="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Поп"&gt; Поп&lt;/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label&gt;&lt;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br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name="music" value="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Классика"&gt; Классика&lt;/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label&gt;&lt;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br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&lt;label&gt;&lt;input type="checkbox" name="music" value="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Электронная"&gt; Электронная&lt;/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label&gt;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&lt;/div&gt;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&lt;div align="center"&gt;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&lt;button type="button" onclick="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showResults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()"&gt;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Отправить&lt;/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button&gt;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&lt;/div&gt;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&lt;/form&gt;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&lt;div id="results"&gt;&lt;/div&gt;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&lt;script&gt;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function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showResults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() {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let form =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document.getElementById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("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surveyForm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");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let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resultsDiv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=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document.getElementById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("results");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let output = "&lt;h2&gt;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Результаты опроса:&lt;/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h2&gt;";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let questions = ["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langs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", "sports", "music"];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let labels = ["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Языки программирования", "Виды спорта", "Музыкальные жанры"];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for (let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i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= 0;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i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&lt;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questions.length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;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i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++) {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  let checkboxes =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form.querySelectorAll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("input[name='" + questions[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i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] + "']:checked");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  let values =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Array.from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(checkboxes).map(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cb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=&gt;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cb.value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);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  output += "&lt;p&gt;&lt;b&gt;" + labels[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i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] + ":&lt;/b&gt; " + (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values.length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?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values.join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(", ") : "</a:t>
            </a:r>
            <a:r>
              <a:rPr lang="ru-RU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не выбрано") + "&lt;/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p&gt;";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}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resultsDiv.innerHTML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= output;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resultsDiv.style.display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= "block";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 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window.scrollTo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(0, </a:t>
            </a:r>
            <a:r>
              <a:rPr lang="en-US" sz="1050" kern="1200" dirty="0" err="1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resultsDiv.offsetTop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);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  }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  &lt;/script&gt;</a:t>
            </a:r>
            <a:endParaRPr lang="ru-RU" sz="1050" dirty="0">
              <a:effectLst/>
            </a:endParaRPr>
          </a:p>
          <a:p>
            <a:pPr marL="0" indent="-91440" algn="l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50" dirty="0">
                <a:effectLst/>
                <a:latin typeface="Arial" panose="020B0604020202020204" pitchFamily="34" charset="0"/>
              </a:rPr>
              <a:t> </a:t>
            </a:r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&lt;/body&gt;</a:t>
            </a:r>
            <a:endParaRPr lang="ru-RU" sz="1050" dirty="0">
              <a:effectLst/>
            </a:endParaRPr>
          </a:p>
          <a:p>
            <a:r>
              <a:rPr lang="en-US" sz="1050" kern="1200" dirty="0">
                <a:solidFill>
                  <a:srgbClr val="262626"/>
                </a:solidFill>
                <a:effectLst/>
                <a:latin typeface="Calibri Light" panose="020F0302020204030204" pitchFamily="34" charset="0"/>
                <a:ea typeface="+mn-ea"/>
                <a:cs typeface="+mn-cs"/>
              </a:rPr>
              <a:t>&lt;/html&gt;</a:t>
            </a:r>
            <a:endParaRPr lang="en-US" sz="1050" dirty="0"/>
          </a:p>
        </p:txBody>
      </p:sp>
      <p:pic>
        <p:nvPicPr>
          <p:cNvPr id="6" name="Рисунок 5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6383E0C-CA89-7114-4949-9BD1C0E24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52" y="1194429"/>
            <a:ext cx="4065759" cy="488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385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2263B-F862-902F-65D9-DD90D2EF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73" y="-158817"/>
            <a:ext cx="10772775" cy="1658198"/>
          </a:xfrm>
        </p:spPr>
        <p:txBody>
          <a:bodyPr/>
          <a:lstStyle/>
          <a:p>
            <a:r>
              <a:rPr lang="ru-RU" dirty="0"/>
              <a:t>Контрольные 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ECDB54-B198-92E1-FBB2-D49312D5B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73" y="1354077"/>
            <a:ext cx="11754754" cy="5752497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400" dirty="0">
                <a:cs typeface="Times New Roman" panose="02020603050405020304" pitchFamily="18" charset="0"/>
              </a:rPr>
              <a:t>Какая разница между HTML и JavaScript ?</a:t>
            </a:r>
            <a:br>
              <a:rPr lang="ru-RU" sz="1400" dirty="0">
                <a:cs typeface="Times New Roman" panose="02020603050405020304" pitchFamily="18" charset="0"/>
              </a:rPr>
            </a:br>
            <a:r>
              <a:rPr lang="ru-RU" sz="1400" dirty="0">
                <a:cs typeface="Times New Roman" panose="02020603050405020304" pitchFamily="18" charset="0"/>
              </a:rPr>
              <a:t>В веб-разработке HTML используется для создания структуры и содержимого веб-страницы, а JavaScript используется для добавления динамических функций веб-страницам. HTML — это язык разметки, который используется для создания структуры и содержимого веб-страницы. По определению, HTML не является языком программирования. С другой стороны, JavaScript — это язык программирования, который можно использовать для добавления динамических функций к HTML-страницам. JavaScript позволяет создавать интерактивные элементы, такие как раскрывающиеся меню и скрытие определенных элементов на странице.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cs typeface="Times New Roman" panose="02020603050405020304" pitchFamily="18" charset="0"/>
              </a:rPr>
              <a:t>Опишите работу с датами?</a:t>
            </a:r>
            <a:br>
              <a:rPr lang="ru-RU" sz="1400" dirty="0">
                <a:cs typeface="Times New Roman" panose="02020603050405020304" pitchFamily="18" charset="0"/>
              </a:rPr>
            </a:br>
            <a:r>
              <a:rPr lang="ru-RU" sz="1400" dirty="0">
                <a:cs typeface="Times New Roman" panose="02020603050405020304" pitchFamily="18" charset="0"/>
              </a:rPr>
              <a:t>Для создания нового объекта типа </a:t>
            </a:r>
            <a:r>
              <a:rPr lang="ru-RU" sz="1400" dirty="0" err="1">
                <a:cs typeface="Times New Roman" panose="02020603050405020304" pitchFamily="18" charset="0"/>
              </a:rPr>
              <a:t>Date</a:t>
            </a:r>
            <a:r>
              <a:rPr lang="ru-RU" sz="1400" dirty="0">
                <a:cs typeface="Times New Roman" panose="02020603050405020304" pitchFamily="18" charset="0"/>
              </a:rPr>
              <a:t> используется один из синтаксисов: </a:t>
            </a:r>
            <a:r>
              <a:rPr lang="ru-RU" sz="1400" dirty="0" err="1">
                <a:cs typeface="Times New Roman" panose="02020603050405020304" pitchFamily="18" charset="0"/>
              </a:rPr>
              <a:t>new</a:t>
            </a:r>
            <a:r>
              <a:rPr lang="ru-RU" sz="1400" dirty="0"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cs typeface="Times New Roman" panose="02020603050405020304" pitchFamily="18" charset="0"/>
              </a:rPr>
              <a:t>Date</a:t>
            </a:r>
            <a:r>
              <a:rPr lang="ru-RU" sz="1400" dirty="0">
                <a:cs typeface="Times New Roman" panose="02020603050405020304" pitchFamily="18" charset="0"/>
              </a:rPr>
              <a:t>() Создаёт объект </a:t>
            </a:r>
            <a:r>
              <a:rPr lang="ru-RU" sz="1400" dirty="0" err="1">
                <a:cs typeface="Times New Roman" panose="02020603050405020304" pitchFamily="18" charset="0"/>
              </a:rPr>
              <a:t>Date</a:t>
            </a:r>
            <a:r>
              <a:rPr lang="ru-RU" sz="1400" dirty="0">
                <a:cs typeface="Times New Roman" panose="02020603050405020304" pitchFamily="18" charset="0"/>
              </a:rPr>
              <a:t> с текущей датой и временем. </a:t>
            </a:r>
            <a:r>
              <a:rPr lang="ru-RU" sz="1400" dirty="0" err="1">
                <a:cs typeface="Times New Roman" panose="02020603050405020304" pitchFamily="18" charset="0"/>
              </a:rPr>
              <a:t>new</a:t>
            </a:r>
            <a:r>
              <a:rPr lang="ru-RU" sz="1400" dirty="0"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cs typeface="Times New Roman" panose="02020603050405020304" pitchFamily="18" charset="0"/>
              </a:rPr>
              <a:t>Date</a:t>
            </a:r>
            <a:r>
              <a:rPr lang="ru-RU" sz="1400" dirty="0"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cs typeface="Times New Roman" panose="02020603050405020304" pitchFamily="18" charset="0"/>
              </a:rPr>
              <a:t>milliseconds</a:t>
            </a:r>
            <a:r>
              <a:rPr lang="ru-RU" sz="1400" dirty="0">
                <a:cs typeface="Times New Roman" panose="02020603050405020304" pitchFamily="18" charset="0"/>
              </a:rPr>
              <a:t>) Создаёт объект </a:t>
            </a:r>
            <a:r>
              <a:rPr lang="ru-RU" sz="1400" dirty="0" err="1">
                <a:cs typeface="Times New Roman" panose="02020603050405020304" pitchFamily="18" charset="0"/>
              </a:rPr>
              <a:t>Date</a:t>
            </a:r>
            <a:r>
              <a:rPr lang="ru-RU" sz="1400" dirty="0">
                <a:cs typeface="Times New Roman" panose="02020603050405020304" pitchFamily="18" charset="0"/>
              </a:rPr>
              <a:t>, значение которого равно количеству миллисекунд (1/1000 секунды), прошедших с 1 января 1970 года GMT+0. </a:t>
            </a:r>
            <a:r>
              <a:rPr lang="ru-RU" sz="1400" dirty="0" err="1">
                <a:cs typeface="Times New Roman" panose="02020603050405020304" pitchFamily="18" charset="0"/>
              </a:rPr>
              <a:t>new</a:t>
            </a:r>
            <a:r>
              <a:rPr lang="ru-RU" sz="1400" dirty="0"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cs typeface="Times New Roman" panose="02020603050405020304" pitchFamily="18" charset="0"/>
              </a:rPr>
              <a:t>Date</a:t>
            </a:r>
            <a:r>
              <a:rPr lang="ru-RU" sz="1400" dirty="0"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cs typeface="Times New Roman" panose="02020603050405020304" pitchFamily="18" charset="0"/>
              </a:rPr>
              <a:t>datestring</a:t>
            </a:r>
            <a:r>
              <a:rPr lang="ru-RU" sz="1400" dirty="0">
                <a:cs typeface="Times New Roman" panose="02020603050405020304" pitchFamily="18" charset="0"/>
              </a:rPr>
              <a:t>) Если единственный аргумент – строка, используется вызов </a:t>
            </a:r>
            <a:r>
              <a:rPr lang="ru-RU" sz="1400" dirty="0" err="1">
                <a:cs typeface="Times New Roman" panose="02020603050405020304" pitchFamily="18" charset="0"/>
              </a:rPr>
              <a:t>Date.parse</a:t>
            </a:r>
            <a:r>
              <a:rPr lang="ru-RU" sz="1400" dirty="0">
                <a:cs typeface="Times New Roman" panose="02020603050405020304" pitchFamily="18" charset="0"/>
              </a:rPr>
              <a:t> (см. далее) для чтения даты из неё. </a:t>
            </a:r>
            <a:r>
              <a:rPr lang="ru-RU" sz="1400" dirty="0" err="1">
                <a:cs typeface="Times New Roman" panose="02020603050405020304" pitchFamily="18" charset="0"/>
              </a:rPr>
              <a:t>new</a:t>
            </a:r>
            <a:r>
              <a:rPr lang="ru-RU" sz="1400" dirty="0"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cs typeface="Times New Roman" panose="02020603050405020304" pitchFamily="18" charset="0"/>
              </a:rPr>
              <a:t>Date</a:t>
            </a:r>
            <a:r>
              <a:rPr lang="ru-RU" sz="1400" dirty="0"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cs typeface="Times New Roman" panose="02020603050405020304" pitchFamily="18" charset="0"/>
              </a:rPr>
              <a:t>year</a:t>
            </a:r>
            <a:r>
              <a:rPr lang="ru-RU" sz="1400" dirty="0"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cs typeface="Times New Roman" panose="02020603050405020304" pitchFamily="18" charset="0"/>
              </a:rPr>
              <a:t>month</a:t>
            </a:r>
            <a:r>
              <a:rPr lang="ru-RU" sz="1400" dirty="0"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cs typeface="Times New Roman" panose="02020603050405020304" pitchFamily="18" charset="0"/>
              </a:rPr>
              <a:t>date</a:t>
            </a:r>
            <a:r>
              <a:rPr lang="ru-RU" sz="1400" dirty="0"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cs typeface="Times New Roman" panose="02020603050405020304" pitchFamily="18" charset="0"/>
              </a:rPr>
              <a:t>hours</a:t>
            </a:r>
            <a:r>
              <a:rPr lang="ru-RU" sz="1400" dirty="0"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cs typeface="Times New Roman" panose="02020603050405020304" pitchFamily="18" charset="0"/>
              </a:rPr>
              <a:t>minutes</a:t>
            </a:r>
            <a:r>
              <a:rPr lang="ru-RU" sz="1400" dirty="0"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cs typeface="Times New Roman" panose="02020603050405020304" pitchFamily="18" charset="0"/>
              </a:rPr>
              <a:t>seconds</a:t>
            </a:r>
            <a:r>
              <a:rPr lang="ru-RU" sz="1400" dirty="0"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cs typeface="Times New Roman" panose="02020603050405020304" pitchFamily="18" charset="0"/>
              </a:rPr>
              <a:t>ms</a:t>
            </a:r>
            <a:r>
              <a:rPr lang="ru-RU" sz="1400" dirty="0">
                <a:cs typeface="Times New Roman" panose="02020603050405020304" pitchFamily="18" charset="0"/>
              </a:rPr>
              <a:t>) Дату можно создать, используя компоненты в местной временной зоне. Для этого формата обязательны только первые два аргумента. Отсутствующие параметры, начиная с </a:t>
            </a:r>
            <a:r>
              <a:rPr lang="ru-RU" sz="1400" dirty="0" err="1">
                <a:cs typeface="Times New Roman" panose="02020603050405020304" pitchFamily="18" charset="0"/>
              </a:rPr>
              <a:t>hours</a:t>
            </a:r>
            <a:r>
              <a:rPr lang="ru-RU" sz="1400" dirty="0">
                <a:cs typeface="Times New Roman" panose="02020603050405020304" pitchFamily="18" charset="0"/>
              </a:rPr>
              <a:t> считаются равными нулю, а </a:t>
            </a:r>
            <a:r>
              <a:rPr lang="ru-RU" sz="1400" dirty="0" err="1">
                <a:cs typeface="Times New Roman" panose="02020603050405020304" pitchFamily="18" charset="0"/>
              </a:rPr>
              <a:t>date</a:t>
            </a:r>
            <a:r>
              <a:rPr lang="ru-RU" sz="1400" dirty="0">
                <a:cs typeface="Times New Roman" panose="02020603050405020304" pitchFamily="18" charset="0"/>
              </a:rPr>
              <a:t> – единице.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cs typeface="Times New Roman" panose="02020603050405020304" pitchFamily="18" charset="0"/>
              </a:rPr>
              <a:t>Опишите работу с мышью.</a:t>
            </a:r>
            <a:br>
              <a:rPr lang="ru-RU" sz="1400" dirty="0">
                <a:cs typeface="Times New Roman" panose="02020603050405020304" pitchFamily="18" charset="0"/>
              </a:rPr>
            </a:br>
            <a:r>
              <a:rPr lang="ru-RU" sz="1400" dirty="0">
                <a:cs typeface="Times New Roman" panose="02020603050405020304" pitchFamily="18" charset="0"/>
              </a:rPr>
              <a:t>Например, клик мышью вначале вызывает </a:t>
            </a:r>
            <a:r>
              <a:rPr lang="ru-RU" sz="1400" dirty="0" err="1">
                <a:cs typeface="Times New Roman" panose="02020603050405020304" pitchFamily="18" charset="0"/>
              </a:rPr>
              <a:t>mousedown</a:t>
            </a:r>
            <a:r>
              <a:rPr lang="ru-RU" sz="1400" dirty="0">
                <a:cs typeface="Times New Roman" panose="02020603050405020304" pitchFamily="18" charset="0"/>
              </a:rPr>
              <a:t>, когда кнопка нажата, затем </a:t>
            </a:r>
            <a:r>
              <a:rPr lang="ru-RU" sz="1400" dirty="0" err="1">
                <a:cs typeface="Times New Roman" panose="02020603050405020304" pitchFamily="18" charset="0"/>
              </a:rPr>
              <a:t>mouseup</a:t>
            </a:r>
            <a:r>
              <a:rPr lang="ru-RU" sz="1400" dirty="0">
                <a:cs typeface="Times New Roman" panose="02020603050405020304" pitchFamily="18" charset="0"/>
              </a:rPr>
              <a:t> и </a:t>
            </a:r>
            <a:r>
              <a:rPr lang="ru-RU" sz="1400" dirty="0" err="1">
                <a:cs typeface="Times New Roman" panose="02020603050405020304" pitchFamily="18" charset="0"/>
              </a:rPr>
              <a:t>click</a:t>
            </a:r>
            <a:r>
              <a:rPr lang="ru-RU" sz="1400" dirty="0">
                <a:cs typeface="Times New Roman" panose="02020603050405020304" pitchFamily="18" charset="0"/>
              </a:rPr>
              <a:t>, когда она отпущена. В случае, когда одно действие инициирует несколько событий, порядок их выполнения фиксирован. То есть обработчики событий вызываются в следующем порядке: </a:t>
            </a:r>
            <a:r>
              <a:rPr lang="ru-RU" sz="1400" dirty="0" err="1">
                <a:cs typeface="Times New Roman" panose="02020603050405020304" pitchFamily="18" charset="0"/>
              </a:rPr>
              <a:t>mousedown</a:t>
            </a:r>
            <a:r>
              <a:rPr lang="ru-RU" sz="1400" dirty="0">
                <a:cs typeface="Times New Roman" panose="02020603050405020304" pitchFamily="18" charset="0"/>
              </a:rPr>
              <a:t> → </a:t>
            </a:r>
            <a:r>
              <a:rPr lang="ru-RU" sz="1400" dirty="0" err="1">
                <a:cs typeface="Times New Roman" panose="02020603050405020304" pitchFamily="18" charset="0"/>
              </a:rPr>
              <a:t>mouseup</a:t>
            </a:r>
            <a:r>
              <a:rPr lang="ru-RU" sz="1400" dirty="0">
                <a:cs typeface="Times New Roman" panose="02020603050405020304" pitchFamily="18" charset="0"/>
              </a:rPr>
              <a:t> → </a:t>
            </a:r>
            <a:r>
              <a:rPr lang="ru-RU" sz="1400" dirty="0" err="1">
                <a:cs typeface="Times New Roman" panose="02020603050405020304" pitchFamily="18" charset="0"/>
              </a:rPr>
              <a:t>click</a:t>
            </a:r>
            <a:r>
              <a:rPr lang="ru-RU" sz="1400" dirty="0">
                <a:cs typeface="Times New Roman" panose="02020603050405020304" pitchFamily="18" charset="0"/>
              </a:rPr>
              <a:t>. События, связанные с кликом, всегда имеют свойство </a:t>
            </a:r>
            <a:r>
              <a:rPr lang="ru-RU" sz="1400" dirty="0" err="1">
                <a:cs typeface="Times New Roman" panose="02020603050405020304" pitchFamily="18" charset="0"/>
              </a:rPr>
              <a:t>button</a:t>
            </a:r>
            <a:r>
              <a:rPr lang="ru-RU" sz="1400" dirty="0">
                <a:cs typeface="Times New Roman" panose="02020603050405020304" pitchFamily="18" charset="0"/>
              </a:rPr>
              <a:t>, которое позволяет получить конкретную кнопку мыши. Обычно мы не используем его для событий </a:t>
            </a:r>
            <a:r>
              <a:rPr lang="ru-RU" sz="1400" dirty="0" err="1">
                <a:cs typeface="Times New Roman" panose="02020603050405020304" pitchFamily="18" charset="0"/>
              </a:rPr>
              <a:t>click</a:t>
            </a:r>
            <a:r>
              <a:rPr lang="ru-RU" sz="1400" dirty="0">
                <a:cs typeface="Times New Roman" panose="02020603050405020304" pitchFamily="18" charset="0"/>
              </a:rPr>
              <a:t> и </a:t>
            </a:r>
            <a:r>
              <a:rPr lang="ru-RU" sz="1400" dirty="0" err="1">
                <a:cs typeface="Times New Roman" panose="02020603050405020304" pitchFamily="18" charset="0"/>
              </a:rPr>
              <a:t>contextmenu</a:t>
            </a:r>
            <a:r>
              <a:rPr lang="ru-RU" sz="1400" dirty="0">
                <a:cs typeface="Times New Roman" panose="02020603050405020304" pitchFamily="18" charset="0"/>
              </a:rPr>
              <a:t>, потому что первое происходит только при щелчке левой кнопкой мыши, а второе – только при щелчке правой кнопкой мыши. С другой стороны, обработчикам </a:t>
            </a:r>
            <a:r>
              <a:rPr lang="ru-RU" sz="1400" dirty="0" err="1">
                <a:cs typeface="Times New Roman" panose="02020603050405020304" pitchFamily="18" charset="0"/>
              </a:rPr>
              <a:t>mousedown</a:t>
            </a:r>
            <a:r>
              <a:rPr lang="ru-RU" sz="1400" dirty="0">
                <a:cs typeface="Times New Roman" panose="02020603050405020304" pitchFamily="18" charset="0"/>
              </a:rPr>
              <a:t> и </a:t>
            </a:r>
            <a:r>
              <a:rPr lang="ru-RU" sz="1400" dirty="0" err="1">
                <a:cs typeface="Times New Roman" panose="02020603050405020304" pitchFamily="18" charset="0"/>
              </a:rPr>
              <a:t>mouseup</a:t>
            </a:r>
            <a:r>
              <a:rPr lang="ru-RU" sz="1400" dirty="0">
                <a:cs typeface="Times New Roman" panose="02020603050405020304" pitchFamily="18" charset="0"/>
              </a:rPr>
              <a:t> может потребоваться </a:t>
            </a:r>
            <a:r>
              <a:rPr lang="ru-RU" sz="1400" dirty="0" err="1">
                <a:cs typeface="Times New Roman" panose="02020603050405020304" pitchFamily="18" charset="0"/>
              </a:rPr>
              <a:t>event.button</a:t>
            </a:r>
            <a:r>
              <a:rPr lang="ru-RU" sz="1400" dirty="0">
                <a:cs typeface="Times New Roman" panose="02020603050405020304" pitchFamily="18" charset="0"/>
              </a:rPr>
              <a:t>, потому что эти события срабатывают на любую кнопку, таким образом </a:t>
            </a:r>
            <a:r>
              <a:rPr lang="ru-RU" sz="1400" dirty="0" err="1">
                <a:cs typeface="Times New Roman" panose="02020603050405020304" pitchFamily="18" charset="0"/>
              </a:rPr>
              <a:t>button</a:t>
            </a:r>
            <a:r>
              <a:rPr lang="ru-RU" sz="1400" dirty="0">
                <a:cs typeface="Times New Roman" panose="02020603050405020304" pitchFamily="18" charset="0"/>
              </a:rPr>
              <a:t> позволяет различать «нажатие правой кнопки» и «нажатие левой кнопки».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cs typeface="Times New Roman" panose="02020603050405020304" pitchFamily="18" charset="0"/>
              </a:rPr>
              <a:t>Опишите команду </a:t>
            </a:r>
            <a:r>
              <a:rPr lang="ru-RU" sz="1400" dirty="0" err="1">
                <a:cs typeface="Times New Roman" panose="02020603050405020304" pitchFamily="18" charset="0"/>
              </a:rPr>
              <a:t>onClick</a:t>
            </a:r>
            <a:r>
              <a:rPr lang="ru-RU" sz="1400" dirty="0">
                <a:cs typeface="Times New Roman" panose="02020603050405020304" pitchFamily="18" charset="0"/>
              </a:rPr>
              <a:t>.</a:t>
            </a:r>
            <a:br>
              <a:rPr lang="ru-RU" sz="1400" dirty="0">
                <a:cs typeface="Times New Roman" panose="02020603050405020304" pitchFamily="18" charset="0"/>
              </a:rPr>
            </a:br>
            <a:r>
              <a:rPr lang="ru-RU" sz="1400" dirty="0">
                <a:cs typeface="Times New Roman" panose="02020603050405020304" pitchFamily="18" charset="0"/>
              </a:rPr>
              <a:t>Такое простое событие, как </a:t>
            </a:r>
            <a:r>
              <a:rPr lang="ru-RU" sz="1400" dirty="0" err="1">
                <a:cs typeface="Times New Roman" panose="02020603050405020304" pitchFamily="18" charset="0"/>
              </a:rPr>
              <a:t>onclick</a:t>
            </a:r>
            <a:r>
              <a:rPr lang="ru-RU" sz="1400" dirty="0">
                <a:cs typeface="Times New Roman" panose="02020603050405020304" pitchFamily="18" charset="0"/>
              </a:rPr>
              <a:t> в </a:t>
            </a:r>
            <a:r>
              <a:rPr lang="ru-RU" sz="1400" dirty="0" err="1">
                <a:cs typeface="Times New Roman" panose="02020603050405020304" pitchFamily="18" charset="0"/>
              </a:rPr>
              <a:t>javascript</a:t>
            </a:r>
            <a:r>
              <a:rPr lang="ru-RU" sz="1400" dirty="0">
                <a:cs typeface="Times New Roman" panose="02020603050405020304" pitchFamily="18" charset="0"/>
              </a:rPr>
              <a:t>, может быть вызвано несколькими способами и </a:t>
            </a:r>
            <a:r>
              <a:rPr lang="ru-RU" sz="1400" dirty="0" err="1">
                <a:cs typeface="Times New Roman" panose="02020603050405020304" pitchFamily="18" charset="0"/>
              </a:rPr>
              <a:t>скрыает</a:t>
            </a:r>
            <a:r>
              <a:rPr lang="ru-RU" sz="1400" dirty="0">
                <a:cs typeface="Times New Roman" panose="02020603050405020304" pitchFamily="18" charset="0"/>
              </a:rPr>
              <a:t> некоторые тонкости. Событие происходит при клике по элементу левой кнопкой мыши. Стоит заметить, что при клике происходит так же ещё два события, а именно нажатие на кнопку мыши и её отпускание.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cs typeface="Times New Roman" panose="02020603050405020304" pitchFamily="18" charset="0"/>
              </a:rPr>
              <a:t>Опишите команду </a:t>
            </a:r>
            <a:r>
              <a:rPr lang="en-US" sz="1400" dirty="0" err="1">
                <a:cs typeface="Times New Roman" panose="02020603050405020304" pitchFamily="18" charset="0"/>
              </a:rPr>
              <a:t>onFocus</a:t>
            </a:r>
            <a:r>
              <a:rPr lang="en-US" sz="1400" dirty="0">
                <a:cs typeface="Times New Roman" panose="02020603050405020304" pitchFamily="18" charset="0"/>
              </a:rPr>
              <a:t>.</a:t>
            </a:r>
            <a:br>
              <a:rPr lang="en-US" sz="1400" dirty="0">
                <a:cs typeface="Times New Roman" panose="02020603050405020304" pitchFamily="18" charset="0"/>
              </a:rPr>
            </a:br>
            <a:r>
              <a:rPr lang="ru-RU" sz="1400" dirty="0">
                <a:cs typeface="Times New Roman" panose="02020603050405020304" pitchFamily="18" charset="0"/>
              </a:rPr>
              <a:t>Событие </a:t>
            </a:r>
            <a:r>
              <a:rPr lang="en-US" sz="1400" dirty="0" err="1">
                <a:cs typeface="Times New Roman" panose="02020603050405020304" pitchFamily="18" charset="0"/>
              </a:rPr>
              <a:t>OnFocus</a:t>
            </a:r>
            <a:r>
              <a:rPr lang="en-US" sz="1400" dirty="0">
                <a:cs typeface="Times New Roman" panose="02020603050405020304" pitchFamily="18" charset="0"/>
              </a:rPr>
              <a:t> </a:t>
            </a:r>
            <a:r>
              <a:rPr lang="ru-RU" sz="1400" dirty="0">
                <a:cs typeface="Times New Roman" panose="02020603050405020304" pitchFamily="18" charset="0"/>
              </a:rPr>
              <a:t>происходит, когда элемент получает фокус. Событие </a:t>
            </a:r>
            <a:r>
              <a:rPr lang="en-US" sz="1400" dirty="0" err="1">
                <a:cs typeface="Times New Roman" panose="02020603050405020304" pitchFamily="18" charset="0"/>
              </a:rPr>
              <a:t>OnFocus</a:t>
            </a:r>
            <a:r>
              <a:rPr lang="en-US" sz="1400" dirty="0">
                <a:cs typeface="Times New Roman" panose="02020603050405020304" pitchFamily="18" charset="0"/>
              </a:rPr>
              <a:t> </a:t>
            </a:r>
            <a:r>
              <a:rPr lang="ru-RU" sz="1400" dirty="0">
                <a:cs typeface="Times New Roman" panose="02020603050405020304" pitchFamily="18" charset="0"/>
              </a:rPr>
              <a:t>чаще всего используется с &lt;ввод&gt;, &lt;</a:t>
            </a:r>
            <a:r>
              <a:rPr lang="en-US" sz="1400" dirty="0">
                <a:cs typeface="Times New Roman" panose="02020603050405020304" pitchFamily="18" charset="0"/>
              </a:rPr>
              <a:t>SELECT&gt; </a:t>
            </a:r>
            <a:r>
              <a:rPr lang="ru-RU" sz="1400" dirty="0">
                <a:cs typeface="Times New Roman" panose="02020603050405020304" pitchFamily="18" charset="0"/>
              </a:rPr>
              <a:t>и &lt;</a:t>
            </a:r>
            <a:r>
              <a:rPr lang="en-US" sz="1400" dirty="0">
                <a:cs typeface="Times New Roman" panose="02020603050405020304" pitchFamily="18" charset="0"/>
              </a:rPr>
              <a:t>a&gt; . </a:t>
            </a:r>
            <a:r>
              <a:rPr lang="en-US" sz="1400" dirty="0" err="1">
                <a:cs typeface="Times New Roman" panose="02020603050405020304" pitchFamily="18" charset="0"/>
              </a:rPr>
              <a:t>OnFocus</a:t>
            </a:r>
            <a:r>
              <a:rPr lang="en-US" sz="1400" dirty="0">
                <a:cs typeface="Times New Roman" panose="02020603050405020304" pitchFamily="18" charset="0"/>
              </a:rPr>
              <a:t> </a:t>
            </a:r>
            <a:r>
              <a:rPr lang="ru-RU" sz="1400" dirty="0">
                <a:cs typeface="Times New Roman" panose="02020603050405020304" pitchFamily="18" charset="0"/>
              </a:rPr>
              <a:t>событие похоже на </a:t>
            </a:r>
            <a:r>
              <a:rPr lang="en-US" sz="1400" dirty="0" err="1">
                <a:cs typeface="Times New Roman" panose="02020603050405020304" pitchFamily="18" charset="0"/>
              </a:rPr>
              <a:t>onfocusin</a:t>
            </a:r>
            <a:r>
              <a:rPr lang="en-US" sz="1400" dirty="0">
                <a:cs typeface="Times New Roman" panose="02020603050405020304" pitchFamily="18" charset="0"/>
              </a:rPr>
              <a:t> </a:t>
            </a:r>
            <a:r>
              <a:rPr lang="ru-RU" sz="1400" dirty="0">
                <a:cs typeface="Times New Roman" panose="02020603050405020304" pitchFamily="18" charset="0"/>
              </a:rPr>
              <a:t>события. Основное отличие заключается в том, что событие </a:t>
            </a:r>
            <a:r>
              <a:rPr lang="en-US" sz="1400" dirty="0" err="1">
                <a:cs typeface="Times New Roman" panose="02020603050405020304" pitchFamily="18" charset="0"/>
              </a:rPr>
              <a:t>OnFocus</a:t>
            </a:r>
            <a:r>
              <a:rPr lang="en-US" sz="1400" dirty="0">
                <a:cs typeface="Times New Roman" panose="02020603050405020304" pitchFamily="18" charset="0"/>
              </a:rPr>
              <a:t> </a:t>
            </a:r>
            <a:r>
              <a:rPr lang="ru-RU" sz="1400" dirty="0">
                <a:cs typeface="Times New Roman" panose="02020603050405020304" pitchFamily="18" charset="0"/>
              </a:rPr>
              <a:t>не пузырь. Поэтому, если вы хотите, чтобы выяснить, получает ли элемент или его ребенок в центре внимания, вы могли бы использовать </a:t>
            </a:r>
            <a:r>
              <a:rPr lang="en-US" sz="1400" dirty="0" err="1">
                <a:cs typeface="Times New Roman" panose="02020603050405020304" pitchFamily="18" charset="0"/>
              </a:rPr>
              <a:t>onfocusin</a:t>
            </a:r>
            <a:r>
              <a:rPr lang="en-US" sz="1400" dirty="0">
                <a:cs typeface="Times New Roman" panose="02020603050405020304" pitchFamily="18" charset="0"/>
              </a:rPr>
              <a:t> </a:t>
            </a:r>
            <a:r>
              <a:rPr lang="ru-RU" sz="1400" dirty="0">
                <a:cs typeface="Times New Roman" panose="02020603050405020304" pitchFamily="18" charset="0"/>
              </a:rPr>
              <a:t>событие. Тем не менее, вы можете достичь этого, используя дополнительный параметр </a:t>
            </a:r>
            <a:r>
              <a:rPr lang="en-US" sz="1400" dirty="0" err="1">
                <a:cs typeface="Times New Roman" panose="02020603050405020304" pitchFamily="18" charset="0"/>
              </a:rPr>
              <a:t>useCapture</a:t>
            </a:r>
            <a:r>
              <a:rPr lang="en-US" sz="1400" dirty="0">
                <a:cs typeface="Times New Roman" panose="02020603050405020304" pitchFamily="18" charset="0"/>
              </a:rPr>
              <a:t> </a:t>
            </a:r>
            <a:r>
              <a:rPr lang="ru-RU" sz="1400" dirty="0">
                <a:cs typeface="Times New Roman" panose="02020603050405020304" pitchFamily="18" charset="0"/>
              </a:rPr>
              <a:t>в </a:t>
            </a:r>
            <a:r>
              <a:rPr lang="en-US" sz="1400" dirty="0" err="1">
                <a:cs typeface="Times New Roman" panose="02020603050405020304" pitchFamily="18" charset="0"/>
              </a:rPr>
              <a:t>addEventListener</a:t>
            </a:r>
            <a:r>
              <a:rPr lang="en-US" sz="1400" dirty="0">
                <a:cs typeface="Times New Roman" panose="02020603050405020304" pitchFamily="18" charset="0"/>
              </a:rPr>
              <a:t>() </a:t>
            </a:r>
            <a:r>
              <a:rPr lang="ru-RU" sz="1400" dirty="0">
                <a:cs typeface="Times New Roman" panose="02020603050405020304" pitchFamily="18" charset="0"/>
              </a:rPr>
              <a:t>метод для события </a:t>
            </a:r>
            <a:r>
              <a:rPr lang="en-US" sz="1400" dirty="0" err="1">
                <a:cs typeface="Times New Roman" panose="02020603050405020304" pitchFamily="18" charset="0"/>
              </a:rPr>
              <a:t>OnFocus</a:t>
            </a:r>
            <a:r>
              <a:rPr lang="en-US" sz="1400" dirty="0">
                <a:cs typeface="Times New Roman" panose="02020603050405020304" pitchFamily="18" charset="0"/>
              </a:rPr>
              <a:t>. </a:t>
            </a:r>
            <a:r>
              <a:rPr lang="ru-RU" sz="1400" dirty="0">
                <a:cs typeface="Times New Roman" panose="02020603050405020304" pitchFamily="18" charset="0"/>
              </a:rPr>
              <a:t>Пример: в </a:t>
            </a:r>
            <a:r>
              <a:rPr lang="en-US" sz="1400" dirty="0">
                <a:cs typeface="Times New Roman" panose="02020603050405020304" pitchFamily="18" charset="0"/>
              </a:rPr>
              <a:t>JavaScript, </a:t>
            </a:r>
            <a:r>
              <a:rPr lang="ru-RU" sz="1400" dirty="0">
                <a:cs typeface="Times New Roman" panose="02020603050405020304" pitchFamily="18" charset="0"/>
              </a:rPr>
              <a:t>используя </a:t>
            </a:r>
            <a:r>
              <a:rPr lang="en-US" sz="1400" dirty="0" err="1">
                <a:cs typeface="Times New Roman" panose="02020603050405020304" pitchFamily="18" charset="0"/>
              </a:rPr>
              <a:t>addEventListener</a:t>
            </a:r>
            <a:r>
              <a:rPr lang="en-US" sz="1400" dirty="0">
                <a:cs typeface="Times New Roman" panose="02020603050405020304" pitchFamily="18" charset="0"/>
              </a:rPr>
              <a:t>() </a:t>
            </a:r>
            <a:r>
              <a:rPr lang="ru-RU" sz="1400" dirty="0">
                <a:cs typeface="Times New Roman" panose="02020603050405020304" pitchFamily="18" charset="0"/>
              </a:rPr>
              <a:t>метод: </a:t>
            </a:r>
            <a:r>
              <a:rPr lang="en-US" sz="1400" dirty="0">
                <a:cs typeface="Times New Roman" panose="02020603050405020304" pitchFamily="18" charset="0"/>
              </a:rPr>
              <a:t>object .</a:t>
            </a:r>
            <a:r>
              <a:rPr lang="en-US" sz="1400" dirty="0" err="1">
                <a:cs typeface="Times New Roman" panose="02020603050405020304" pitchFamily="18" charset="0"/>
              </a:rPr>
              <a:t>addEventListener</a:t>
            </a:r>
            <a:r>
              <a:rPr lang="en-US" sz="1400" dirty="0">
                <a:cs typeface="Times New Roman" panose="02020603050405020304" pitchFamily="18" charset="0"/>
              </a:rPr>
              <a:t>("focus", </a:t>
            </a:r>
            <a:r>
              <a:rPr lang="en-US" sz="1400" dirty="0" err="1">
                <a:cs typeface="Times New Roman" panose="02020603050405020304" pitchFamily="18" charset="0"/>
              </a:rPr>
              <a:t>myScript</a:t>
            </a:r>
            <a:r>
              <a:rPr lang="en-US" sz="1400" dirty="0">
                <a:cs typeface="Times New Roman" panose="02020603050405020304" pitchFamily="18" charset="0"/>
              </a:rPr>
              <a:t> );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cs typeface="Times New Roman" panose="02020603050405020304" pitchFamily="18" charset="0"/>
              </a:rPr>
              <a:t>Опишите команду </a:t>
            </a:r>
            <a:r>
              <a:rPr lang="en-US" sz="1400" dirty="0" err="1">
                <a:cs typeface="Times New Roman" panose="02020603050405020304" pitchFamily="18" charset="0"/>
              </a:rPr>
              <a:t>onBlur</a:t>
            </a:r>
            <a:r>
              <a:rPr lang="en-US" sz="1400" dirty="0">
                <a:cs typeface="Times New Roman" panose="02020603050405020304" pitchFamily="18" charset="0"/>
              </a:rPr>
              <a:t>.</a:t>
            </a:r>
            <a:br>
              <a:rPr lang="en-US" sz="1400" dirty="0">
                <a:cs typeface="Times New Roman" panose="02020603050405020304" pitchFamily="18" charset="0"/>
              </a:rPr>
            </a:br>
            <a:r>
              <a:rPr lang="ru-RU" sz="1400" dirty="0">
                <a:cs typeface="Times New Roman" panose="02020603050405020304" pitchFamily="18" charset="0"/>
              </a:rPr>
              <a:t>Свойство </a:t>
            </a:r>
            <a:r>
              <a:rPr lang="en-US" sz="1400" dirty="0" err="1">
                <a:cs typeface="Times New Roman" panose="02020603050405020304" pitchFamily="18" charset="0"/>
              </a:rPr>
              <a:t>onblur</a:t>
            </a:r>
            <a:r>
              <a:rPr lang="en-US" sz="1400" dirty="0">
                <a:cs typeface="Times New Roman" panose="02020603050405020304" pitchFamily="18" charset="0"/>
              </a:rPr>
              <a:t> </a:t>
            </a:r>
            <a:r>
              <a:rPr lang="ru-RU" sz="1400" dirty="0">
                <a:cs typeface="Times New Roman" panose="02020603050405020304" pitchFamily="18" charset="0"/>
              </a:rPr>
              <a:t>из </a:t>
            </a:r>
            <a:r>
              <a:rPr lang="en-US" sz="1400" dirty="0" err="1">
                <a:cs typeface="Times New Roman" panose="02020603050405020304" pitchFamily="18" charset="0"/>
              </a:rPr>
              <a:t>GlobalEventHandlers</a:t>
            </a:r>
            <a:r>
              <a:rPr lang="en-US" sz="1400" dirty="0">
                <a:cs typeface="Times New Roman" panose="02020603050405020304" pitchFamily="18" charset="0"/>
              </a:rPr>
              <a:t> </a:t>
            </a:r>
            <a:r>
              <a:rPr lang="ru-RU" sz="1400" dirty="0">
                <a:cs typeface="Times New Roman" panose="02020603050405020304" pitchFamily="18" charset="0"/>
              </a:rPr>
              <a:t>событий </a:t>
            </a:r>
            <a:r>
              <a:rPr lang="en-US" sz="1400" dirty="0">
                <a:cs typeface="Times New Roman" panose="02020603050405020304" pitchFamily="18" charset="0"/>
              </a:rPr>
              <a:t>event handler </a:t>
            </a:r>
            <a:r>
              <a:rPr lang="ru-RU" sz="1400" dirty="0">
                <a:cs typeface="Times New Roman" panose="02020603050405020304" pitchFamily="18" charset="0"/>
              </a:rPr>
              <a:t>для </a:t>
            </a:r>
            <a:r>
              <a:rPr lang="en-US" sz="1400" dirty="0">
                <a:cs typeface="Times New Roman" panose="02020603050405020304" pitchFamily="18" charset="0"/>
              </a:rPr>
              <a:t>blur (</a:t>
            </a:r>
            <a:r>
              <a:rPr lang="en-US" sz="1400" dirty="0" err="1">
                <a:cs typeface="Times New Roman" panose="02020603050405020304" pitchFamily="18" charset="0"/>
              </a:rPr>
              <a:t>en</a:t>
            </a:r>
            <a:r>
              <a:rPr lang="en-US" sz="1400" dirty="0">
                <a:cs typeface="Times New Roman" panose="02020603050405020304" pitchFamily="18" charset="0"/>
              </a:rPr>
              <a:t>-US) </a:t>
            </a:r>
            <a:r>
              <a:rPr lang="ru-RU" sz="1400" dirty="0">
                <a:cs typeface="Times New Roman" panose="02020603050405020304" pitchFamily="18" charset="0"/>
              </a:rPr>
              <a:t>события. Оно доступно для</a:t>
            </a:r>
            <a:r>
              <a:rPr lang="en-US" sz="1400" dirty="0">
                <a:cs typeface="Times New Roman" panose="02020603050405020304" pitchFamily="18" charset="0"/>
              </a:rPr>
              <a:t>Element, Document </a:t>
            </a:r>
            <a:r>
              <a:rPr lang="ru-RU" sz="1400" dirty="0">
                <a:cs typeface="Times New Roman" panose="02020603050405020304" pitchFamily="18" charset="0"/>
              </a:rPr>
              <a:t>и </a:t>
            </a:r>
            <a:r>
              <a:rPr lang="en-US" sz="1400" dirty="0">
                <a:cs typeface="Times New Roman" panose="02020603050405020304" pitchFamily="18" charset="0"/>
              </a:rPr>
              <a:t>Window. </a:t>
            </a:r>
            <a:r>
              <a:rPr lang="ru-RU" sz="1400" dirty="0">
                <a:cs typeface="Times New Roman" panose="02020603050405020304" pitchFamily="18" charset="0"/>
              </a:rPr>
              <a:t>Событие </a:t>
            </a:r>
            <a:r>
              <a:rPr lang="en-US" sz="1400" dirty="0">
                <a:cs typeface="Times New Roman" panose="02020603050405020304" pitchFamily="18" charset="0"/>
              </a:rPr>
              <a:t>blur </a:t>
            </a:r>
            <a:r>
              <a:rPr lang="ru-RU" sz="1400" dirty="0">
                <a:cs typeface="Times New Roman" panose="02020603050405020304" pitchFamily="18" charset="0"/>
              </a:rPr>
              <a:t>возникает когда элемент теряет фокус. Пример: </a:t>
            </a:r>
            <a:r>
              <a:rPr lang="en-US" sz="1400" dirty="0" err="1">
                <a:cs typeface="Times New Roman" panose="02020603050405020304" pitchFamily="18" charset="0"/>
              </a:rPr>
              <a:t>target.onblur</a:t>
            </a:r>
            <a:r>
              <a:rPr lang="en-US" sz="1400" dirty="0"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cs typeface="Times New Roman" panose="02020603050405020304" pitchFamily="18" charset="0"/>
              </a:rPr>
              <a:t>functionRef</a:t>
            </a:r>
            <a:r>
              <a:rPr lang="en-US" sz="1400" dirty="0"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86660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2263B-F862-902F-65D9-DD90D2EF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73" y="-158817"/>
            <a:ext cx="10772775" cy="1658198"/>
          </a:xfrm>
        </p:spPr>
        <p:txBody>
          <a:bodyPr/>
          <a:lstStyle/>
          <a:p>
            <a:r>
              <a:rPr lang="ru-RU" dirty="0"/>
              <a:t>Контрольные 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ECDB54-B198-92E1-FBB2-D49312D5B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5503"/>
            <a:ext cx="11754754" cy="575249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ru-RU" sz="1400" dirty="0">
                <a:cs typeface="Times New Roman" panose="02020603050405020304" pitchFamily="18" charset="0"/>
              </a:rPr>
              <a:t>Опишите команду </a:t>
            </a:r>
            <a:r>
              <a:rPr lang="en-US" sz="1400" dirty="0" err="1">
                <a:cs typeface="Times New Roman" panose="02020603050405020304" pitchFamily="18" charset="0"/>
              </a:rPr>
              <a:t>onChange</a:t>
            </a:r>
            <a:r>
              <a:rPr lang="en-US" sz="1400" dirty="0">
                <a:cs typeface="Times New Roman" panose="02020603050405020304" pitchFamily="18" charset="0"/>
              </a:rPr>
              <a:t>.</a:t>
            </a:r>
            <a:br>
              <a:rPr lang="en-US" sz="1400" dirty="0">
                <a:cs typeface="Times New Roman" panose="02020603050405020304" pitchFamily="18" charset="0"/>
              </a:rPr>
            </a:br>
            <a:r>
              <a:rPr lang="ru-RU" sz="1400" dirty="0">
                <a:cs typeface="Times New Roman" panose="02020603050405020304" pitchFamily="18" charset="0"/>
              </a:rPr>
              <a:t>Событие </a:t>
            </a:r>
            <a:r>
              <a:rPr lang="en-US" sz="1400" dirty="0" err="1">
                <a:cs typeface="Times New Roman" panose="02020603050405020304" pitchFamily="18" charset="0"/>
              </a:rPr>
              <a:t>onchange</a:t>
            </a:r>
            <a:r>
              <a:rPr lang="en-US" sz="1400" dirty="0">
                <a:cs typeface="Times New Roman" panose="02020603050405020304" pitchFamily="18" charset="0"/>
              </a:rPr>
              <a:t> JavaScript </a:t>
            </a:r>
            <a:r>
              <a:rPr lang="ru-RU" sz="1400" dirty="0">
                <a:cs typeface="Times New Roman" panose="02020603050405020304" pitchFamily="18" charset="0"/>
              </a:rPr>
              <a:t>происходит, когда изменяется первоначальное состояние или содержимое элемента. В некоторых случаях событие возникает, когда элемент выходит из фокуса ввода. Пример: </a:t>
            </a:r>
            <a:r>
              <a:rPr lang="en-US" sz="1400" dirty="0" err="1">
                <a:cs typeface="Times New Roman" panose="02020603050405020304" pitchFamily="18" charset="0"/>
              </a:rPr>
              <a:t>object.onchange</a:t>
            </a:r>
            <a:r>
              <a:rPr lang="en-US" sz="1400" dirty="0">
                <a:cs typeface="Times New Roman" panose="02020603050405020304" pitchFamily="18" charset="0"/>
              </a:rPr>
              <a:t> = handler; (IE, Google Chrome, Firefox, Opera, Safari). </a:t>
            </a:r>
            <a:r>
              <a:rPr lang="en-US" sz="1400" dirty="0" err="1">
                <a:cs typeface="Times New Roman" panose="02020603050405020304" pitchFamily="18" charset="0"/>
              </a:rPr>
              <a:t>object.addEventListener</a:t>
            </a:r>
            <a:r>
              <a:rPr lang="en-US" sz="1400" dirty="0">
                <a:cs typeface="Times New Roman" panose="02020603050405020304" pitchFamily="18" charset="0"/>
              </a:rPr>
              <a:t> ("change", handler, </a:t>
            </a:r>
            <a:r>
              <a:rPr lang="en-US" sz="1400" dirty="0" err="1">
                <a:cs typeface="Times New Roman" panose="02020603050405020304" pitchFamily="18" charset="0"/>
              </a:rPr>
              <a:t>useCapture</a:t>
            </a:r>
            <a:r>
              <a:rPr lang="en-US" sz="1400" dirty="0">
                <a:cs typeface="Times New Roman" panose="02020603050405020304" pitchFamily="18" charset="0"/>
              </a:rPr>
              <a:t>); (IE - </a:t>
            </a:r>
            <a:r>
              <a:rPr lang="ru-RU" sz="1400" dirty="0">
                <a:cs typeface="Times New Roman" panose="02020603050405020304" pitchFamily="18" charset="0"/>
              </a:rPr>
              <a:t>с версии 9, </a:t>
            </a:r>
            <a:r>
              <a:rPr lang="en-US" sz="1400" dirty="0">
                <a:cs typeface="Times New Roman" panose="02020603050405020304" pitchFamily="18" charset="0"/>
              </a:rPr>
              <a:t>Google Chrome, Firefox, Opera, Safari). </a:t>
            </a:r>
            <a:r>
              <a:rPr lang="en-US" sz="1400" dirty="0" err="1">
                <a:cs typeface="Times New Roman" panose="02020603050405020304" pitchFamily="18" charset="0"/>
              </a:rPr>
              <a:t>object.attachEvent</a:t>
            </a:r>
            <a:r>
              <a:rPr lang="en-US" sz="1400" dirty="0">
                <a:cs typeface="Times New Roman" panose="02020603050405020304" pitchFamily="18" charset="0"/>
              </a:rPr>
              <a:t> ("</a:t>
            </a:r>
            <a:r>
              <a:rPr lang="en-US" sz="1400" dirty="0" err="1">
                <a:cs typeface="Times New Roman" panose="02020603050405020304" pitchFamily="18" charset="0"/>
              </a:rPr>
              <a:t>onchange</a:t>
            </a:r>
            <a:r>
              <a:rPr lang="en-US" sz="1400" dirty="0">
                <a:cs typeface="Times New Roman" panose="02020603050405020304" pitchFamily="18" charset="0"/>
              </a:rPr>
              <a:t>", handler); (IE, Opera). JavaScript select </a:t>
            </a:r>
            <a:r>
              <a:rPr lang="en-US" sz="1400" dirty="0" err="1">
                <a:cs typeface="Times New Roman" panose="02020603050405020304" pitchFamily="18" charset="0"/>
              </a:rPr>
              <a:t>onchange</a:t>
            </a:r>
            <a:r>
              <a:rPr lang="en-US" sz="1400" dirty="0">
                <a:cs typeface="Times New Roman" panose="02020603050405020304" pitchFamily="18" charset="0"/>
              </a:rPr>
              <a:t> - </a:t>
            </a:r>
            <a:r>
              <a:rPr lang="ru-RU" sz="1400" dirty="0">
                <a:cs typeface="Times New Roman" panose="02020603050405020304" pitchFamily="18" charset="0"/>
              </a:rPr>
              <a:t>событие </a:t>
            </a:r>
            <a:r>
              <a:rPr lang="en-US" sz="1400" dirty="0" err="1">
                <a:cs typeface="Times New Roman" panose="02020603050405020304" pitchFamily="18" charset="0"/>
              </a:rPr>
              <a:t>onchange</a:t>
            </a:r>
            <a:r>
              <a:rPr lang="en-US" sz="1400" dirty="0">
                <a:cs typeface="Times New Roman" panose="02020603050405020304" pitchFamily="18" charset="0"/>
              </a:rPr>
              <a:t> </a:t>
            </a:r>
            <a:r>
              <a:rPr lang="ru-RU" sz="1400" dirty="0">
                <a:cs typeface="Times New Roman" panose="02020603050405020304" pitchFamily="18" charset="0"/>
              </a:rPr>
              <a:t>происходит, когда изменяется выделение;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ru-RU" sz="1400" dirty="0">
                <a:cs typeface="Times New Roman" panose="02020603050405020304" pitchFamily="18" charset="0"/>
              </a:rPr>
              <a:t>Опишите команду </a:t>
            </a:r>
            <a:r>
              <a:rPr lang="en-US" sz="1400" dirty="0" err="1">
                <a:cs typeface="Times New Roman" panose="02020603050405020304" pitchFamily="18" charset="0"/>
              </a:rPr>
              <a:t>onSubmit</a:t>
            </a:r>
            <a:r>
              <a:rPr lang="en-US" sz="1400" dirty="0">
                <a:cs typeface="Times New Roman" panose="02020603050405020304" pitchFamily="18" charset="0"/>
              </a:rPr>
              <a:t>.</a:t>
            </a:r>
            <a:br>
              <a:rPr lang="en-US" sz="1400" dirty="0">
                <a:cs typeface="Times New Roman" panose="02020603050405020304" pitchFamily="18" charset="0"/>
              </a:rPr>
            </a:br>
            <a:r>
              <a:rPr lang="ru-RU" sz="1400" dirty="0">
                <a:cs typeface="Times New Roman" panose="02020603050405020304" pitchFamily="18" charset="0"/>
              </a:rPr>
              <a:t>При отправке формы срабатывает событие </a:t>
            </a:r>
            <a:r>
              <a:rPr lang="en-US" sz="1400" dirty="0">
                <a:cs typeface="Times New Roman" panose="02020603050405020304" pitchFamily="18" charset="0"/>
              </a:rPr>
              <a:t>submit, </a:t>
            </a:r>
            <a:r>
              <a:rPr lang="ru-RU" sz="1400" dirty="0">
                <a:cs typeface="Times New Roman" panose="02020603050405020304" pitchFamily="18" charset="0"/>
              </a:rPr>
              <a:t>оно обычно используется для проверки (валидации) формы перед её отправкой на сервер или для предотвращения отправки и обработки её с помощью </a:t>
            </a:r>
            <a:r>
              <a:rPr lang="en-US" sz="1400" dirty="0">
                <a:cs typeface="Times New Roman" panose="02020603050405020304" pitchFamily="18" charset="0"/>
              </a:rPr>
              <a:t>JavaScript. </a:t>
            </a:r>
            <a:r>
              <a:rPr lang="ru-RU" sz="1400" dirty="0">
                <a:cs typeface="Times New Roman" panose="02020603050405020304" pitchFamily="18" charset="0"/>
              </a:rPr>
              <a:t>Метод </a:t>
            </a:r>
            <a:r>
              <a:rPr lang="en-US" sz="1400" dirty="0" err="1">
                <a:cs typeface="Times New Roman" panose="02020603050405020304" pitchFamily="18" charset="0"/>
              </a:rPr>
              <a:t>form.submit</a:t>
            </a:r>
            <a:r>
              <a:rPr lang="en-US" sz="1400" dirty="0">
                <a:cs typeface="Times New Roman" panose="02020603050405020304" pitchFamily="18" charset="0"/>
              </a:rPr>
              <a:t>() </a:t>
            </a:r>
            <a:r>
              <a:rPr lang="ru-RU" sz="1400" dirty="0">
                <a:cs typeface="Times New Roman" panose="02020603050405020304" pitchFamily="18" charset="0"/>
              </a:rPr>
              <a:t>позволяет инициировать отправку формы из </a:t>
            </a:r>
            <a:r>
              <a:rPr lang="en-US" sz="1400" dirty="0">
                <a:cs typeface="Times New Roman" panose="02020603050405020304" pitchFamily="18" charset="0"/>
              </a:rPr>
              <a:t>JavaScript. </a:t>
            </a:r>
            <a:r>
              <a:rPr lang="ru-RU" sz="1400" dirty="0">
                <a:cs typeface="Times New Roman" panose="02020603050405020304" pitchFamily="18" charset="0"/>
              </a:rPr>
              <a:t>Мы можем использовать его для динамического создания и отправки наших собственных форм на сервер. Есть два основных способа отправить форму: Первый – нажать кнопку &lt;</a:t>
            </a:r>
            <a:r>
              <a:rPr lang="en-US" sz="1400" dirty="0">
                <a:cs typeface="Times New Roman" panose="02020603050405020304" pitchFamily="18" charset="0"/>
              </a:rPr>
              <a:t>input type="submit"&gt; </a:t>
            </a:r>
            <a:r>
              <a:rPr lang="ru-RU" sz="1400" dirty="0">
                <a:cs typeface="Times New Roman" panose="02020603050405020304" pitchFamily="18" charset="0"/>
              </a:rPr>
              <a:t>или &lt;</a:t>
            </a:r>
            <a:r>
              <a:rPr lang="en-US" sz="1400" dirty="0">
                <a:cs typeface="Times New Roman" panose="02020603050405020304" pitchFamily="18" charset="0"/>
              </a:rPr>
              <a:t>input type="image"&gt;. </a:t>
            </a:r>
            <a:r>
              <a:rPr lang="ru-RU" sz="1400" dirty="0">
                <a:cs typeface="Times New Roman" panose="02020603050405020304" pitchFamily="18" charset="0"/>
              </a:rPr>
              <a:t>Второй – нажать </a:t>
            </a:r>
            <a:r>
              <a:rPr lang="en-US" sz="1400" dirty="0">
                <a:cs typeface="Times New Roman" panose="02020603050405020304" pitchFamily="18" charset="0"/>
              </a:rPr>
              <a:t>Enter, </a:t>
            </a:r>
            <a:r>
              <a:rPr lang="ru-RU" sz="1400" dirty="0">
                <a:cs typeface="Times New Roman" panose="02020603050405020304" pitchFamily="18" charset="0"/>
              </a:rPr>
              <a:t>находясь на каком-нибудь поле. Оба действия сгенерируют событие </a:t>
            </a:r>
            <a:r>
              <a:rPr lang="en-US" sz="1400" dirty="0">
                <a:cs typeface="Times New Roman" panose="02020603050405020304" pitchFamily="18" charset="0"/>
              </a:rPr>
              <a:t>submit.</a:t>
            </a:r>
            <a:endParaRPr lang="ru-RU" sz="1400" dirty="0"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7"/>
            </a:pPr>
            <a:r>
              <a:rPr lang="ru-RU" sz="1400" dirty="0">
                <a:cs typeface="Times New Roman" panose="02020603050405020304" pitchFamily="18" charset="0"/>
              </a:rPr>
              <a:t>Как получить информацию от пользователя?</a:t>
            </a:r>
            <a:br>
              <a:rPr lang="ru-RU" sz="1400" dirty="0">
                <a:cs typeface="Times New Roman" panose="02020603050405020304" pitchFamily="18" charset="0"/>
              </a:rPr>
            </a:br>
            <a:r>
              <a:rPr lang="ru-RU" sz="1400" dirty="0">
                <a:cs typeface="Times New Roman" panose="02020603050405020304" pitchFamily="18" charset="0"/>
              </a:rPr>
              <a:t>Базовые UI операции: </a:t>
            </a:r>
            <a:r>
              <a:rPr lang="ru-RU" sz="1400" dirty="0" err="1">
                <a:cs typeface="Times New Roman" panose="02020603050405020304" pitchFamily="18" charset="0"/>
              </a:rPr>
              <a:t>alert</a:t>
            </a:r>
            <a:r>
              <a:rPr lang="ru-RU" sz="1400" dirty="0"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cs typeface="Times New Roman" panose="02020603050405020304" pitchFamily="18" charset="0"/>
              </a:rPr>
              <a:t>prompt</a:t>
            </a:r>
            <a:r>
              <a:rPr lang="ru-RU" sz="1400" dirty="0">
                <a:cs typeface="Times New Roman" panose="02020603050405020304" pitchFamily="18" charset="0"/>
              </a:rPr>
              <a:t> и </a:t>
            </a:r>
            <a:r>
              <a:rPr lang="ru-RU" sz="1400" dirty="0" err="1">
                <a:cs typeface="Times New Roman" panose="02020603050405020304" pitchFamily="18" charset="0"/>
              </a:rPr>
              <a:t>confirm</a:t>
            </a:r>
            <a:r>
              <a:rPr lang="ru-RU" sz="1400" dirty="0">
                <a:cs typeface="Times New Roman" panose="02020603050405020304" pitchFamily="18" charset="0"/>
              </a:rPr>
              <a:t>, которые позволяют работать с данными, полученными от пользователя. </a:t>
            </a:r>
            <a:r>
              <a:rPr lang="ru-RU" sz="1400" dirty="0" err="1">
                <a:cs typeface="Times New Roman" panose="02020603050405020304" pitchFamily="18" charset="0"/>
              </a:rPr>
              <a:t>alert</a:t>
            </a:r>
            <a:r>
              <a:rPr lang="ru-RU" sz="1400" dirty="0">
                <a:cs typeface="Times New Roman" panose="02020603050405020304" pitchFamily="18" charset="0"/>
              </a:rPr>
              <a:t> выводит на экран окно с сообщением и приостанавливает выполнение скрипта, пока пользователь не нажмёт «ОК». Окно сообщения, которое выводится, является модальным окном. Слово «модальное» означает, что посетитель не может взаимодействовать со страницей, нажимать другие кнопки и т.п., пока не разберётся с окном. В данном случае – пока не нажмёт на «OK». Функция </a:t>
            </a:r>
            <a:r>
              <a:rPr lang="ru-RU" sz="1400" dirty="0" err="1">
                <a:cs typeface="Times New Roman" panose="02020603050405020304" pitchFamily="18" charset="0"/>
              </a:rPr>
              <a:t>prompt</a:t>
            </a:r>
            <a:r>
              <a:rPr lang="ru-RU" sz="1400" dirty="0">
                <a:cs typeface="Times New Roman" panose="02020603050405020304" pitchFamily="18" charset="0"/>
              </a:rPr>
              <a:t> принимает два аргумента: Она выводит модальное окно с заголовком </a:t>
            </a:r>
            <a:r>
              <a:rPr lang="ru-RU" sz="1400" dirty="0" err="1">
                <a:cs typeface="Times New Roman" panose="02020603050405020304" pitchFamily="18" charset="0"/>
              </a:rPr>
              <a:t>title</a:t>
            </a:r>
            <a:r>
              <a:rPr lang="ru-RU" sz="1400" dirty="0">
                <a:cs typeface="Times New Roman" panose="02020603050405020304" pitchFamily="18" charset="0"/>
              </a:rPr>
              <a:t>, полем для ввода текста, заполненным строкой по умолчанию </a:t>
            </a:r>
            <a:r>
              <a:rPr lang="ru-RU" sz="1400" dirty="0" err="1">
                <a:cs typeface="Times New Roman" panose="02020603050405020304" pitchFamily="18" charset="0"/>
              </a:rPr>
              <a:t>default</a:t>
            </a:r>
            <a:r>
              <a:rPr lang="ru-RU" sz="1400" dirty="0">
                <a:cs typeface="Times New Roman" panose="02020603050405020304" pitchFamily="18" charset="0"/>
              </a:rPr>
              <a:t> и кнопками OK/CANCEL. Пользователь должен либо что-то ввести и нажать OK, либо отменить ввод кликом на CANCEL или нажатием </a:t>
            </a:r>
            <a:r>
              <a:rPr lang="ru-RU" sz="1400" dirty="0" err="1">
                <a:cs typeface="Times New Roman" panose="02020603050405020304" pitchFamily="18" charset="0"/>
              </a:rPr>
              <a:t>Esc</a:t>
            </a:r>
            <a:r>
              <a:rPr lang="ru-RU" sz="1400" dirty="0">
                <a:cs typeface="Times New Roman" panose="02020603050405020304" pitchFamily="18" charset="0"/>
              </a:rPr>
              <a:t> на клавиатуре. Вызов </a:t>
            </a:r>
            <a:r>
              <a:rPr lang="ru-RU" sz="1400" dirty="0" err="1">
                <a:cs typeface="Times New Roman" panose="02020603050405020304" pitchFamily="18" charset="0"/>
              </a:rPr>
              <a:t>prompt</a:t>
            </a:r>
            <a:r>
              <a:rPr lang="ru-RU" sz="1400" dirty="0">
                <a:cs typeface="Times New Roman" panose="02020603050405020304" pitchFamily="18" charset="0"/>
              </a:rPr>
              <a:t> возвращает то, что ввёл посетитель – строку или специальное значение </a:t>
            </a:r>
            <a:r>
              <a:rPr lang="ru-RU" sz="1400" dirty="0" err="1">
                <a:cs typeface="Times New Roman" panose="02020603050405020304" pitchFamily="18" charset="0"/>
              </a:rPr>
              <a:t>null</a:t>
            </a:r>
            <a:r>
              <a:rPr lang="ru-RU" sz="1400" dirty="0">
                <a:cs typeface="Times New Roman" panose="02020603050405020304" pitchFamily="18" charset="0"/>
              </a:rPr>
              <a:t>, если ввод отменён. </a:t>
            </a:r>
            <a:r>
              <a:rPr lang="ru-RU" sz="1400" dirty="0" err="1">
                <a:cs typeface="Times New Roman" panose="02020603050405020304" pitchFamily="18" charset="0"/>
              </a:rPr>
              <a:t>confirm</a:t>
            </a:r>
            <a:r>
              <a:rPr lang="ru-RU" sz="1400" dirty="0">
                <a:cs typeface="Times New Roman" panose="02020603050405020304" pitchFamily="18" charset="0"/>
              </a:rPr>
              <a:t> выводит окно с вопросом </a:t>
            </a:r>
            <a:r>
              <a:rPr lang="ru-RU" sz="1400" dirty="0" err="1">
                <a:cs typeface="Times New Roman" panose="02020603050405020304" pitchFamily="18" charset="0"/>
              </a:rPr>
              <a:t>question</a:t>
            </a:r>
            <a:r>
              <a:rPr lang="ru-RU" sz="1400" dirty="0">
                <a:cs typeface="Times New Roman" panose="02020603050405020304" pitchFamily="18" charset="0"/>
              </a:rPr>
              <a:t> с двумя кнопками: OK и CANCEL. Результатом будет </a:t>
            </a:r>
            <a:r>
              <a:rPr lang="ru-RU" sz="1400" dirty="0" err="1">
                <a:cs typeface="Times New Roman" panose="02020603050405020304" pitchFamily="18" charset="0"/>
              </a:rPr>
              <a:t>true</a:t>
            </a:r>
            <a:r>
              <a:rPr lang="ru-RU" sz="1400" dirty="0">
                <a:cs typeface="Times New Roman" panose="02020603050405020304" pitchFamily="18" charset="0"/>
              </a:rPr>
              <a:t> при нажатии OK и </a:t>
            </a:r>
            <a:r>
              <a:rPr lang="ru-RU" sz="1400" dirty="0" err="1">
                <a:cs typeface="Times New Roman" panose="02020603050405020304" pitchFamily="18" charset="0"/>
              </a:rPr>
              <a:t>false</a:t>
            </a:r>
            <a:r>
              <a:rPr lang="ru-RU" sz="1400" dirty="0">
                <a:cs typeface="Times New Roman" panose="02020603050405020304" pitchFamily="18" charset="0"/>
              </a:rPr>
              <a:t> – при CANCEL(</a:t>
            </a:r>
            <a:r>
              <a:rPr lang="ru-RU" sz="1400" dirty="0" err="1">
                <a:cs typeface="Times New Roman" panose="02020603050405020304" pitchFamily="18" charset="0"/>
              </a:rPr>
              <a:t>Esc</a:t>
            </a:r>
            <a:r>
              <a:rPr lang="ru-RU" sz="1400" dirty="0"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ru-RU" sz="1400" dirty="0">
                <a:cs typeface="Times New Roman" panose="02020603050405020304" pitchFamily="18" charset="0"/>
              </a:rPr>
              <a:t>Дайте пример представления функции в JavaScript.</a:t>
            </a:r>
            <a:br>
              <a:rPr lang="ru-RU" sz="1400" dirty="0">
                <a:cs typeface="Times New Roman" panose="02020603050405020304" pitchFamily="18" charset="0"/>
              </a:rPr>
            </a:br>
            <a:r>
              <a:rPr lang="ru-RU" sz="1400" dirty="0">
                <a:cs typeface="Times New Roman" panose="02020603050405020304" pitchFamily="18" charset="0"/>
              </a:rPr>
              <a:t>Зачастую нам надо повторять одно и то же действие во многих частях программы. Например, необходимо красиво вывести сообщение при приветствии посетителя, при выходе посетителя с сайта, ещё где-нибудь. Чтобы не повторять один и тот же код во многих местах, придуманы функции. Функции являются основными «строительными блоками» программы. Для создания функций мы можем использовать объявление функции. Вначале идёт ключевое слово </a:t>
            </a:r>
            <a:r>
              <a:rPr lang="ru-RU" sz="1400" dirty="0" err="1">
                <a:cs typeface="Times New Roman" panose="02020603050405020304" pitchFamily="18" charset="0"/>
              </a:rPr>
              <a:t>function</a:t>
            </a:r>
            <a:r>
              <a:rPr lang="ru-RU" sz="1400" dirty="0">
                <a:cs typeface="Times New Roman" panose="02020603050405020304" pitchFamily="18" charset="0"/>
              </a:rPr>
              <a:t>, после него имя функции, затем список параметров в круглых скобках через запятую (в вышеприведённом примере он пустой) и, наконец, код функции, также называемый «телом функции», внутри фигурных скобок. </a:t>
            </a:r>
            <a:r>
              <a:rPr lang="ru-RU" sz="1400" dirty="0" err="1">
                <a:cs typeface="Times New Roman" panose="02020603050405020304" pitchFamily="18" charset="0"/>
              </a:rPr>
              <a:t>function</a:t>
            </a:r>
            <a:r>
              <a:rPr lang="ru-RU" sz="1400" dirty="0"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cs typeface="Times New Roman" panose="02020603050405020304" pitchFamily="18" charset="0"/>
              </a:rPr>
              <a:t>showMessage</a:t>
            </a:r>
            <a:r>
              <a:rPr lang="ru-RU" sz="1400" dirty="0">
                <a:cs typeface="Times New Roman" panose="02020603050405020304" pitchFamily="18" charset="0"/>
              </a:rPr>
              <a:t>() { </a:t>
            </a:r>
            <a:r>
              <a:rPr lang="ru-RU" sz="1400" dirty="0" err="1">
                <a:cs typeface="Times New Roman" panose="02020603050405020304" pitchFamily="18" charset="0"/>
              </a:rPr>
              <a:t>alert</a:t>
            </a:r>
            <a:r>
              <a:rPr lang="ru-RU" sz="1400" dirty="0">
                <a:cs typeface="Times New Roman" panose="02020603050405020304" pitchFamily="18" charset="0"/>
              </a:rPr>
              <a:t>( 'Всем привет!' ); }</a:t>
            </a:r>
            <a:br>
              <a:rPr lang="ru-RU" sz="1400" dirty="0">
                <a:cs typeface="Times New Roman" panose="02020603050405020304" pitchFamily="18" charset="0"/>
              </a:rPr>
            </a:br>
            <a:r>
              <a:rPr lang="ru-RU" sz="1400" dirty="0">
                <a:cs typeface="Times New Roman" panose="02020603050405020304" pitchFamily="18" charset="0"/>
              </a:rPr>
              <a:t>(param1, param2, …, </a:t>
            </a:r>
            <a:r>
              <a:rPr lang="ru-RU" sz="1400" dirty="0" err="1">
                <a:cs typeface="Times New Roman" panose="02020603050405020304" pitchFamily="18" charset="0"/>
              </a:rPr>
              <a:t>paramN</a:t>
            </a:r>
            <a:r>
              <a:rPr lang="ru-RU" sz="1400" dirty="0">
                <a:cs typeface="Times New Roman" panose="02020603050405020304" pitchFamily="18" charset="0"/>
              </a:rPr>
              <a:t>) =&gt; { </a:t>
            </a:r>
            <a:r>
              <a:rPr lang="ru-RU" sz="1400" dirty="0" err="1">
                <a:cs typeface="Times New Roman" panose="02020603050405020304" pitchFamily="18" charset="0"/>
              </a:rPr>
              <a:t>statements</a:t>
            </a:r>
            <a:r>
              <a:rPr lang="ru-RU" sz="1400" dirty="0">
                <a:cs typeface="Times New Roman" panose="02020603050405020304" pitchFamily="18" charset="0"/>
              </a:rPr>
              <a:t> }</a:t>
            </a:r>
          </a:p>
          <a:p>
            <a:pPr marL="342900" indent="-342900">
              <a:buFont typeface="+mj-lt"/>
              <a:buAutoNum type="arabicPeriod" startAt="7"/>
            </a:pPr>
            <a:endParaRPr lang="en-US" sz="1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9598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2115</Words>
  <Application>Microsoft Office PowerPoint</Application>
  <PresentationFormat>Широкоэкранный</PresentationFormat>
  <Paragraphs>117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 Light</vt:lpstr>
      <vt:lpstr>DejaVu Sans</vt:lpstr>
      <vt:lpstr>Times New Roman</vt:lpstr>
      <vt:lpstr>Тема Office</vt:lpstr>
      <vt:lpstr>ФГБОУ ВО «Кубанский государственный технологический университет» (ФГБОУ ВО «КубГТУ») Факультет: Информационных технологий и кибербезопасности Кафедра: Информационных систем и программирования  РАЗРАБОТКА ВЕБ-ПРИЛОЖЕНИЙ  ЛАБОРАТОРНАЯ РАБОТА №11 Создание формы.</vt:lpstr>
      <vt:lpstr>Цель работы и задания</vt:lpstr>
      <vt:lpstr>Ход работы. Задание 1</vt:lpstr>
      <vt:lpstr>Контрольные вопросы</vt:lpstr>
      <vt:lpstr>Контрольные вопросы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ФГБОУ ВО «Кубанский государственный технологический университет» (ФГБОУ ВО «КубГТУ») Факультет: Информационных технологий и кибербезопасности Кафедра: Информационных систем и программирования  РАЗРАБОТКА ВЕБ-ПРИЛОЖЕНИЙ  ЛАБОРАТОРНАЯ РАБОТА №2 Форматирование текста.</dc:title>
  <dc:creator>Артём Лыков</dc:creator>
  <cp:lastModifiedBy>Ярослав Давков</cp:lastModifiedBy>
  <cp:revision>53</cp:revision>
  <dcterms:created xsi:type="dcterms:W3CDTF">2025-09-05T14:29:14Z</dcterms:created>
  <dcterms:modified xsi:type="dcterms:W3CDTF">2025-12-11T17:58:22Z</dcterms:modified>
</cp:coreProperties>
</file>