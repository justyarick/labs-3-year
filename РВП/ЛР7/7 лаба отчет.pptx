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72" r:id="rId4"/>
    <p:sldId id="266" r:id="rId5"/>
    <p:sldId id="258" r:id="rId6"/>
    <p:sldId id="264" r:id="rId7"/>
    <p:sldId id="265" r:id="rId8"/>
    <p:sldId id="273" r:id="rId9"/>
    <p:sldId id="275" r:id="rId10"/>
    <p:sldId id="274" r:id="rId11"/>
    <p:sldId id="276" r:id="rId12"/>
    <p:sldId id="277" r:id="rId13"/>
    <p:sldId id="278" r:id="rId14"/>
    <p:sldId id="279" r:id="rId15"/>
    <p:sldId id="261" r:id="rId16"/>
    <p:sldId id="280" r:id="rId1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94660"/>
  </p:normalViewPr>
  <p:slideViewPr>
    <p:cSldViewPr snapToGrid="0">
      <p:cViewPr varScale="1">
        <p:scale>
          <a:sx n="106" d="100"/>
          <a:sy n="106" d="100"/>
        </p:scale>
        <p:origin x="61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6BEE8C-C150-8BCE-5E8F-BF6D94988456}"/>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EFE13A7A-DDD9-E37B-C310-091B096F72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92717253-1864-51C8-71D5-B120BC525190}"/>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8F366673-E0B1-94A9-98C8-4A930AD2E9F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5895349-D98E-1CAE-80BF-6D07B6BAC180}"/>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3960339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CD4514-A342-B1AD-5E29-C13B2F216B3B}"/>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2C107B9E-6E5B-05E0-B059-9B4040F43D9C}"/>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79EC0FA-C5E8-CD33-1FDC-5DA0ABBD04D4}"/>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79A99D67-1653-4F95-290F-BCCB26CFDEB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71E8A28-CDD7-1286-C179-09F79E31F6B2}"/>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4259599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DFA037-983A-3FDC-4DFB-B6BD044096AA}"/>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87F4A6B5-8C9F-7F3A-14BB-24ACCA7F62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1CE8A1F0-9D18-CE4E-F329-21794ED5F45C}"/>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3D3163CD-6154-E6BA-A6C5-F6AB5A93922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001349D-E097-F445-137F-514C9C592AF8}"/>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3107153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CE5B27-C302-58F3-9BE2-01D447BB8479}"/>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A6113CA2-FFC0-A038-74E4-75632A16F02D}"/>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C11518A6-2F15-D88D-BD30-F51D2B2CCC01}"/>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8F66A0BA-E2AF-5392-E340-E3D8FB29457C}"/>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6" name="Нижний колонтитул 5">
            <a:extLst>
              <a:ext uri="{FF2B5EF4-FFF2-40B4-BE49-F238E27FC236}">
                <a16:creationId xmlns:a16="http://schemas.microsoft.com/office/drawing/2014/main" id="{A6744413-2D19-A9AE-192C-26B698C983E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230AA52-C648-4A88-91DC-FF44936AA5E8}"/>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2289114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123DD9-2F03-22A8-D4D3-6DFEB00E7FC4}"/>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551BC7D8-F4E5-92AD-47DF-50F351B185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1103B03E-56E5-F178-ECFF-D9C0AADF50AA}"/>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C3BEF070-FDC1-BE3E-D7A5-787F1C1F90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EA03E547-87B6-D427-8D93-6536A251AB76}"/>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4E70C63D-B414-BBC9-9613-B0F1838CB5AD}"/>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8" name="Нижний колонтитул 7">
            <a:extLst>
              <a:ext uri="{FF2B5EF4-FFF2-40B4-BE49-F238E27FC236}">
                <a16:creationId xmlns:a16="http://schemas.microsoft.com/office/drawing/2014/main" id="{F089C113-35FD-364E-7597-3DC8C68466A4}"/>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335EB918-7877-D91C-CAB5-7F695EDD5CB5}"/>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967382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ADEEDE-8304-2873-6235-7DCC83560D9E}"/>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31DF2DC8-8E85-2E02-1879-CCE60A8BBE70}"/>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4" name="Нижний колонтитул 3">
            <a:extLst>
              <a:ext uri="{FF2B5EF4-FFF2-40B4-BE49-F238E27FC236}">
                <a16:creationId xmlns:a16="http://schemas.microsoft.com/office/drawing/2014/main" id="{D2445F65-37D2-6A5D-325B-74A3506C97D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FDC64C0-0F39-25A4-BC4D-2D27BF5EC1B6}"/>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3359002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54292BEB-219F-BA96-C5E1-1A4CF28EA57F}"/>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3" name="Нижний колонтитул 2">
            <a:extLst>
              <a:ext uri="{FF2B5EF4-FFF2-40B4-BE49-F238E27FC236}">
                <a16:creationId xmlns:a16="http://schemas.microsoft.com/office/drawing/2014/main" id="{BA597352-6873-707B-C9F7-DF9127CA3A04}"/>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7079D0BE-54EF-247E-7DA0-9E35FC6EC286}"/>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3568820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20DE7F-797D-D03D-0B89-4C854ECBA853}"/>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14D85F13-93F2-000A-6385-0EA90D27EF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82B96C7A-51D6-445D-2869-13C59F28BF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8ED4EA6-4875-A963-E740-01AA70B9B37A}"/>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6" name="Нижний колонтитул 5">
            <a:extLst>
              <a:ext uri="{FF2B5EF4-FFF2-40B4-BE49-F238E27FC236}">
                <a16:creationId xmlns:a16="http://schemas.microsoft.com/office/drawing/2014/main" id="{339737F6-F7C2-5FB9-A750-BE084F86B03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4894DA5-5F7C-67AF-B421-876B0CDB8AF1}"/>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19228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FEC2ED-109B-7449-1F54-E3671DED5D3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E7C24735-5C0B-9994-5C21-D3EFBD44BC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53209AF5-506F-9DB5-BD14-0408D7395F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DA99352E-5CF2-2842-3E1D-A1CD84365352}"/>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6" name="Нижний колонтитул 5">
            <a:extLst>
              <a:ext uri="{FF2B5EF4-FFF2-40B4-BE49-F238E27FC236}">
                <a16:creationId xmlns:a16="http://schemas.microsoft.com/office/drawing/2014/main" id="{BB264E03-7809-2588-DB8B-E5618269902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4821361-F7ED-D87D-A8B0-B5FF66218088}"/>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3784189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EDB201-7134-6E15-94A1-CD1CAA45C2FC}"/>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A47F8CF3-0C73-73C2-D996-3B21591538E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6AD6692-681B-BDF2-FD06-8A9A0752F309}"/>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1400E72A-9CB1-2D62-107F-36DA988231A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31400F4-9784-A258-9A81-EF264D49B93C}"/>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2810991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19F2E01B-093B-D3EC-DC86-460BF6E6B4A8}"/>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B273AD8C-811C-73FC-B811-530A5F82C59F}"/>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76C8BC3-A109-8B0D-267A-B74833D060A8}"/>
              </a:ext>
            </a:extLst>
          </p:cNvPr>
          <p:cNvSpPr>
            <a:spLocks noGrp="1"/>
          </p:cNvSpPr>
          <p:nvPr>
            <p:ph type="dt" sz="half" idx="10"/>
          </p:nvPr>
        </p:nvSpPr>
        <p:spPr/>
        <p:txBody>
          <a:body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AE8E4645-5C8E-5E40-A693-B619E79B43E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DECC549-E57C-C2D5-1C33-AB30D7F9F083}"/>
              </a:ext>
            </a:extLst>
          </p:cNvPr>
          <p:cNvSpPr>
            <a:spLocks noGrp="1"/>
          </p:cNvSpPr>
          <p:nvPr>
            <p:ph type="sldNum" sz="quarter" idx="12"/>
          </p:nvPr>
        </p:nvSpPr>
        <p:spPr/>
        <p:txBody>
          <a:bodyPr/>
          <a:lstStyle/>
          <a:p>
            <a:fld id="{949173B1-EC1E-423B-8025-08A795D3FA83}" type="slidenum">
              <a:rPr lang="ru-RU" smtClean="0"/>
              <a:t>‹#›</a:t>
            </a:fld>
            <a:endParaRPr lang="ru-RU"/>
          </a:p>
        </p:txBody>
      </p:sp>
    </p:spTree>
    <p:extLst>
      <p:ext uri="{BB962C8B-B14F-4D97-AF65-F5344CB8AC3E}">
        <p14:creationId xmlns:p14="http://schemas.microsoft.com/office/powerpoint/2010/main" val="587187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183F61-58B4-5CB6-2736-024BC30F4A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01FB3318-83B3-E1C5-DDF7-2DE9B784E0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DF4F18A-58AD-869A-271E-0A24F57FD5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D606F0-41E0-4792-8AF0-C438DCB05F4D}" type="datetimeFigureOut">
              <a:rPr lang="ru-RU" smtClean="0"/>
              <a:t>11.12.2025</a:t>
            </a:fld>
            <a:endParaRPr lang="ru-RU"/>
          </a:p>
        </p:txBody>
      </p:sp>
      <p:sp>
        <p:nvSpPr>
          <p:cNvPr id="5" name="Нижний колонтитул 4">
            <a:extLst>
              <a:ext uri="{FF2B5EF4-FFF2-40B4-BE49-F238E27FC236}">
                <a16:creationId xmlns:a16="http://schemas.microsoft.com/office/drawing/2014/main" id="{7721B417-E430-F3F6-D089-13830C1347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AC91183E-104F-D439-97C3-8658E4FA9B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9173B1-EC1E-423B-8025-08A795D3FA83}" type="slidenum">
              <a:rPr lang="ru-RU" smtClean="0"/>
              <a:t>‹#›</a:t>
            </a:fld>
            <a:endParaRPr lang="ru-RU"/>
          </a:p>
        </p:txBody>
      </p:sp>
    </p:spTree>
    <p:extLst>
      <p:ext uri="{BB962C8B-B14F-4D97-AF65-F5344CB8AC3E}">
        <p14:creationId xmlns:p14="http://schemas.microsoft.com/office/powerpoint/2010/main" val="202118108"/>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9B358B5E-2BFB-DBDE-D00F-7117B3462405}"/>
              </a:ext>
            </a:extLst>
          </p:cNvPr>
          <p:cNvSpPr>
            <a:spLocks noGrp="1"/>
          </p:cNvSpPr>
          <p:nvPr>
            <p:ph type="ctrTitle"/>
          </p:nvPr>
        </p:nvSpPr>
        <p:spPr>
          <a:xfrm>
            <a:off x="704850" y="500514"/>
            <a:ext cx="10782300" cy="3089709"/>
          </a:xfrm>
        </p:spPr>
        <p:txBody>
          <a:bodyPr>
            <a:normAutofit fontScale="90000"/>
          </a:bodyPr>
          <a:lstStyle/>
          <a:p>
            <a:pPr algn="ctr"/>
            <a:r>
              <a:rPr kumimoji="0" lang="ru-RU" sz="2800" b="1" i="0" u="none" strike="noStrike" kern="1200" cap="none" spc="-1" normalizeH="0" baseline="0" noProof="0" dirty="0">
                <a:ln>
                  <a:noFill/>
                </a:ln>
                <a:solidFill>
                  <a:schemeClr val="tx1"/>
                </a:solidFill>
                <a:effectLst/>
                <a:uLnTx/>
                <a:uFillTx/>
                <a:ea typeface="DejaVu Sans"/>
                <a:cs typeface="+mj-cs"/>
              </a:rPr>
              <a:t>ФГБОУ ВО «Кубанский государственный технологический университет»</a:t>
            </a:r>
            <a:br>
              <a:rPr kumimoji="0" lang="ru-RU" sz="2800" b="1" i="0" u="none" strike="noStrike" kern="1200" cap="none" spc="0" normalizeH="0" baseline="0" noProof="0" dirty="0">
                <a:ln>
                  <a:noFill/>
                </a:ln>
                <a:solidFill>
                  <a:schemeClr val="tx1"/>
                </a:solidFill>
                <a:effectLst/>
                <a:uLnTx/>
                <a:uFillTx/>
                <a:ea typeface="+mj-ea"/>
                <a:cs typeface="+mj-cs"/>
              </a:rPr>
            </a:br>
            <a:r>
              <a:rPr kumimoji="0" lang="ru-RU" sz="2800" b="1" i="0" u="none" strike="noStrike" kern="1200" cap="none" spc="-1" normalizeH="0" baseline="0" noProof="0" dirty="0">
                <a:ln>
                  <a:noFill/>
                </a:ln>
                <a:solidFill>
                  <a:schemeClr val="tx1"/>
                </a:solidFill>
                <a:effectLst/>
                <a:uLnTx/>
                <a:uFillTx/>
                <a:ea typeface="DejaVu Sans"/>
                <a:cs typeface="+mj-cs"/>
              </a:rPr>
              <a:t>(ФГБОУ ВО «</a:t>
            </a:r>
            <a:r>
              <a:rPr kumimoji="0" lang="ru-RU" sz="2800" b="1" i="0" u="none" strike="noStrike" kern="1200" cap="none" spc="-1" normalizeH="0" baseline="0" noProof="0" dirty="0" err="1">
                <a:ln>
                  <a:noFill/>
                </a:ln>
                <a:solidFill>
                  <a:schemeClr val="tx1"/>
                </a:solidFill>
                <a:effectLst/>
                <a:uLnTx/>
                <a:uFillTx/>
                <a:ea typeface="DejaVu Sans"/>
                <a:cs typeface="+mj-cs"/>
              </a:rPr>
              <a:t>КубГТУ</a:t>
            </a:r>
            <a:r>
              <a:rPr kumimoji="0" lang="ru-RU" sz="2800" b="1" i="0" u="none" strike="noStrike" kern="1200" cap="none" spc="-1" normalizeH="0" baseline="0" noProof="0" dirty="0">
                <a:ln>
                  <a:noFill/>
                </a:ln>
                <a:solidFill>
                  <a:schemeClr val="tx1"/>
                </a:solidFill>
                <a:effectLst/>
                <a:uLnTx/>
                <a:uFillTx/>
                <a:ea typeface="DejaVu Sans"/>
                <a:cs typeface="+mj-cs"/>
              </a:rPr>
              <a:t>»)</a:t>
            </a:r>
            <a:br>
              <a:rPr kumimoji="0" lang="ru-RU" sz="2800" b="1" i="0" u="none" strike="noStrike" kern="1200" cap="none" spc="0" normalizeH="0" baseline="0" noProof="0" dirty="0">
                <a:ln>
                  <a:noFill/>
                </a:ln>
                <a:solidFill>
                  <a:schemeClr val="tx1"/>
                </a:solidFill>
                <a:effectLst/>
                <a:uLnTx/>
                <a:uFillTx/>
                <a:ea typeface="+mj-ea"/>
                <a:cs typeface="+mj-cs"/>
              </a:rPr>
            </a:br>
            <a:r>
              <a:rPr kumimoji="0" lang="ru-RU" sz="2800" b="1" i="0" u="none" strike="noStrike" kern="1200" cap="none" spc="-1" normalizeH="0" baseline="0" noProof="0" dirty="0">
                <a:ln>
                  <a:noFill/>
                </a:ln>
                <a:solidFill>
                  <a:schemeClr val="tx1"/>
                </a:solidFill>
                <a:effectLst/>
                <a:uLnTx/>
                <a:uFillTx/>
                <a:ea typeface="DejaVu Sans"/>
                <a:cs typeface="+mj-cs"/>
              </a:rPr>
              <a:t>Факультет: Информационных технологий и кибербезопасности</a:t>
            </a:r>
            <a:br>
              <a:rPr kumimoji="0" lang="ru-RU" sz="2800" b="1" i="0" u="none" strike="noStrike" kern="1200" cap="none" spc="0" normalizeH="0" baseline="0" noProof="0" dirty="0">
                <a:ln>
                  <a:noFill/>
                </a:ln>
                <a:solidFill>
                  <a:schemeClr val="tx1"/>
                </a:solidFill>
                <a:effectLst/>
                <a:uLnTx/>
                <a:uFillTx/>
                <a:ea typeface="+mj-ea"/>
                <a:cs typeface="+mj-cs"/>
              </a:rPr>
            </a:br>
            <a:r>
              <a:rPr kumimoji="0" lang="ru-RU" sz="2800" b="1" i="0" u="none" strike="noStrike" kern="1200" cap="none" spc="-1" normalizeH="0" baseline="0" noProof="0" dirty="0">
                <a:ln>
                  <a:noFill/>
                </a:ln>
                <a:solidFill>
                  <a:schemeClr val="tx1"/>
                </a:solidFill>
                <a:effectLst/>
                <a:uLnTx/>
                <a:uFillTx/>
                <a:ea typeface="DejaVu Sans"/>
                <a:cs typeface="+mj-cs"/>
              </a:rPr>
              <a:t>Кафедра: Информационных систем и программирования</a:t>
            </a:r>
            <a:br>
              <a:rPr kumimoji="0" lang="ru-RU" sz="2800" b="1" i="0" u="none" strike="noStrike" kern="1200" cap="none" spc="-1" normalizeH="0" baseline="0" noProof="0" dirty="0">
                <a:ln>
                  <a:noFill/>
                </a:ln>
                <a:solidFill>
                  <a:schemeClr val="tx1"/>
                </a:solidFill>
                <a:effectLst/>
                <a:uLnTx/>
                <a:uFillTx/>
                <a:ea typeface="DejaVu Sans"/>
                <a:cs typeface="+mj-cs"/>
              </a:rPr>
            </a:br>
            <a:br>
              <a:rPr kumimoji="0" lang="ru-RU" sz="2800" b="1" i="0" u="none" strike="noStrike" kern="1200" cap="none" spc="-1" normalizeH="0" baseline="0" noProof="0" dirty="0">
                <a:ln>
                  <a:noFill/>
                </a:ln>
                <a:solidFill>
                  <a:schemeClr val="tx1"/>
                </a:solidFill>
                <a:effectLst/>
                <a:uLnTx/>
                <a:uFillTx/>
                <a:ea typeface="DejaVu Sans"/>
                <a:cs typeface="+mj-cs"/>
              </a:rPr>
            </a:br>
            <a:r>
              <a:rPr lang="ru-RU" sz="2800" b="1" spc="-1" dirty="0">
                <a:solidFill>
                  <a:schemeClr val="tx1"/>
                </a:solidFill>
                <a:ea typeface="DejaVu Sans"/>
              </a:rPr>
              <a:t>РАЗРАБОТКА ВЕБ-ПРИЛОЖЕНИЙ</a:t>
            </a:r>
            <a:br>
              <a:rPr kumimoji="0" lang="en-US" sz="2800" b="1" i="0" u="none" strike="noStrike" kern="1200" cap="none" spc="-1" normalizeH="0" baseline="0" noProof="0" dirty="0">
                <a:ln>
                  <a:noFill/>
                </a:ln>
                <a:solidFill>
                  <a:schemeClr val="tx1"/>
                </a:solidFill>
                <a:effectLst/>
                <a:uLnTx/>
                <a:uFillTx/>
                <a:ea typeface="DejaVu Sans"/>
                <a:cs typeface="+mj-cs"/>
              </a:rPr>
            </a:br>
            <a:br>
              <a:rPr kumimoji="0" lang="ru-RU" sz="2800" b="1" i="0" u="none" strike="noStrike" kern="1200" cap="none" spc="-1" normalizeH="0" baseline="0" noProof="0" dirty="0">
                <a:ln>
                  <a:noFill/>
                </a:ln>
                <a:solidFill>
                  <a:schemeClr val="tx1"/>
                </a:solidFill>
                <a:effectLst/>
                <a:uLnTx/>
                <a:uFillTx/>
                <a:ea typeface="DejaVu Sans"/>
                <a:cs typeface="+mj-cs"/>
              </a:rPr>
            </a:br>
            <a:r>
              <a:rPr kumimoji="0" lang="ru-RU" sz="2800" b="1" i="0" u="none" strike="noStrike" kern="1200" cap="none" spc="-1" normalizeH="0" baseline="0" noProof="0" dirty="0">
                <a:ln>
                  <a:noFill/>
                </a:ln>
                <a:solidFill>
                  <a:schemeClr val="tx1"/>
                </a:solidFill>
                <a:effectLst/>
                <a:uLnTx/>
                <a:uFillTx/>
                <a:ea typeface="DejaVu Sans"/>
                <a:cs typeface="+mj-cs"/>
              </a:rPr>
              <a:t>ЛАБОРАТОРНАЯ РАБОТА №</a:t>
            </a:r>
            <a:r>
              <a:rPr lang="ru-RU" sz="2800" b="1" spc="-1" dirty="0">
                <a:solidFill>
                  <a:schemeClr val="tx1"/>
                </a:solidFill>
                <a:ea typeface="DejaVu Sans"/>
              </a:rPr>
              <a:t>7</a:t>
            </a:r>
            <a:br>
              <a:rPr kumimoji="0" lang="ru-RU" sz="2800" b="1" i="0" u="none" strike="noStrike" kern="1200" cap="none" spc="-1" normalizeH="0" baseline="0" noProof="0" dirty="0">
                <a:ln>
                  <a:noFill/>
                </a:ln>
                <a:solidFill>
                  <a:schemeClr val="tx1"/>
                </a:solidFill>
                <a:effectLst/>
                <a:uLnTx/>
                <a:uFillTx/>
                <a:ea typeface="DejaVu Sans"/>
                <a:cs typeface="+mj-cs"/>
              </a:rPr>
            </a:br>
            <a:r>
              <a:rPr kumimoji="0" lang="ru-RU" sz="2800" b="1" i="0" u="none" strike="noStrike" kern="1200" cap="none" spc="-1" normalizeH="0" baseline="0" noProof="0" dirty="0">
                <a:ln>
                  <a:noFill/>
                </a:ln>
                <a:solidFill>
                  <a:schemeClr val="tx1"/>
                </a:solidFill>
                <a:effectLst/>
                <a:uLnTx/>
                <a:uFillTx/>
                <a:ea typeface="DejaVu Sans"/>
                <a:cs typeface="+mj-cs"/>
              </a:rPr>
              <a:t>Таблицы </a:t>
            </a:r>
            <a:r>
              <a:rPr kumimoji="0" lang="en-US" sz="2800" b="1" i="0" u="none" strike="noStrike" kern="1200" cap="none" spc="-1" normalizeH="0" baseline="0" noProof="0" dirty="0">
                <a:ln>
                  <a:noFill/>
                </a:ln>
                <a:solidFill>
                  <a:schemeClr val="tx1"/>
                </a:solidFill>
                <a:effectLst/>
                <a:uLnTx/>
                <a:uFillTx/>
                <a:ea typeface="DejaVu Sans"/>
                <a:cs typeface="+mj-cs"/>
              </a:rPr>
              <a:t>HTML-</a:t>
            </a:r>
            <a:r>
              <a:rPr kumimoji="0" lang="ru-RU" sz="2800" b="1" i="0" u="none" strike="noStrike" kern="1200" cap="none" spc="-1" normalizeH="0" baseline="0" noProof="0" dirty="0">
                <a:ln>
                  <a:noFill/>
                </a:ln>
                <a:solidFill>
                  <a:schemeClr val="tx1"/>
                </a:solidFill>
                <a:effectLst/>
                <a:uLnTx/>
                <a:uFillTx/>
                <a:ea typeface="DejaVu Sans"/>
                <a:cs typeface="+mj-cs"/>
              </a:rPr>
              <a:t>документов</a:t>
            </a:r>
            <a:r>
              <a:rPr lang="en-US" sz="2800" b="1" spc="-1" dirty="0">
                <a:solidFill>
                  <a:schemeClr val="tx1"/>
                </a:solidFill>
                <a:ea typeface="DejaVu Sans"/>
              </a:rPr>
              <a:t>.</a:t>
            </a:r>
            <a:endParaRPr lang="ru-RU" sz="11500" b="1" dirty="0">
              <a:solidFill>
                <a:schemeClr val="tx1"/>
              </a:solidFill>
            </a:endParaRPr>
          </a:p>
        </p:txBody>
      </p:sp>
      <p:sp>
        <p:nvSpPr>
          <p:cNvPr id="3" name="Подзаголовок 2">
            <a:extLst>
              <a:ext uri="{FF2B5EF4-FFF2-40B4-BE49-F238E27FC236}">
                <a16:creationId xmlns:a16="http://schemas.microsoft.com/office/drawing/2014/main" id="{E9D05EC2-26A9-7905-4B24-EED6B564805B}"/>
              </a:ext>
            </a:extLst>
          </p:cNvPr>
          <p:cNvSpPr>
            <a:spLocks noGrp="1"/>
          </p:cNvSpPr>
          <p:nvPr>
            <p:ph type="subTitle" idx="1"/>
          </p:nvPr>
        </p:nvSpPr>
        <p:spPr>
          <a:xfrm>
            <a:off x="2582939" y="4659264"/>
            <a:ext cx="9228201" cy="1645920"/>
          </a:xfrm>
        </p:spPr>
        <p:txBody>
          <a:bodyPr>
            <a:normAutofit fontScale="92500" lnSpcReduction="10000"/>
          </a:bodyPr>
          <a:lstStyle/>
          <a:p>
            <a:pPr algn="r"/>
            <a:r>
              <a:rPr lang="ru-RU" dirty="0">
                <a:solidFill>
                  <a:schemeClr val="tx1"/>
                </a:solidFill>
              </a:rPr>
              <a:t>Выполнил студент 23-КБ-ПР3</a:t>
            </a:r>
          </a:p>
          <a:p>
            <a:pPr algn="r"/>
            <a:r>
              <a:rPr lang="ru-RU">
                <a:solidFill>
                  <a:schemeClr val="tx1"/>
                </a:solidFill>
              </a:rPr>
              <a:t>Давков Ярослав</a:t>
            </a:r>
            <a:endParaRPr lang="ru-RU" dirty="0">
              <a:solidFill>
                <a:schemeClr val="tx1"/>
              </a:solidFill>
            </a:endParaRPr>
          </a:p>
          <a:p>
            <a:pPr algn="r"/>
            <a:r>
              <a:rPr lang="ru-RU" dirty="0">
                <a:solidFill>
                  <a:schemeClr val="tx1"/>
                </a:solidFill>
              </a:rPr>
              <a:t>Проверил </a:t>
            </a:r>
            <a:r>
              <a:rPr lang="ru-RU" spc="-1" dirty="0" err="1">
                <a:solidFill>
                  <a:schemeClr val="tx1"/>
                </a:solidFill>
                <a:ea typeface="DejaVu Sans"/>
              </a:rPr>
              <a:t>ст</a:t>
            </a:r>
            <a:r>
              <a:rPr lang="en-US" spc="-1" dirty="0">
                <a:solidFill>
                  <a:schemeClr val="tx1"/>
                </a:solidFill>
                <a:ea typeface="DejaVu Sans"/>
              </a:rPr>
              <a:t>.</a:t>
            </a:r>
            <a:r>
              <a:rPr lang="ru-RU" spc="-1" dirty="0">
                <a:solidFill>
                  <a:schemeClr val="tx1"/>
                </a:solidFill>
                <a:ea typeface="DejaVu Sans"/>
              </a:rPr>
              <a:t> преподаватель </a:t>
            </a:r>
          </a:p>
          <a:p>
            <a:pPr algn="r"/>
            <a:r>
              <a:rPr lang="ru-RU" spc="-1" dirty="0">
                <a:solidFill>
                  <a:schemeClr val="tx1"/>
                </a:solidFill>
                <a:ea typeface="DejaVu Sans"/>
              </a:rPr>
              <a:t>Кушнир Надежда Владимировна</a:t>
            </a:r>
            <a:endParaRPr lang="ru-RU" dirty="0">
              <a:solidFill>
                <a:schemeClr val="tx1"/>
              </a:solidFill>
            </a:endParaRPr>
          </a:p>
          <a:p>
            <a:endParaRPr lang="ru-RU" dirty="0">
              <a:solidFill>
                <a:schemeClr val="tx1"/>
              </a:solidFill>
            </a:endParaRPr>
          </a:p>
        </p:txBody>
      </p:sp>
    </p:spTree>
    <p:extLst>
      <p:ext uri="{BB962C8B-B14F-4D97-AF65-F5344CB8AC3E}">
        <p14:creationId xmlns:p14="http://schemas.microsoft.com/office/powerpoint/2010/main" val="2284259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91EDE4-BCF3-95EA-4CB8-49B1DC9B3B7B}"/>
              </a:ext>
            </a:extLst>
          </p:cNvPr>
          <p:cNvSpPr>
            <a:spLocks noGrp="1"/>
          </p:cNvSpPr>
          <p:nvPr>
            <p:ph type="title"/>
          </p:nvPr>
        </p:nvSpPr>
        <p:spPr>
          <a:xfrm>
            <a:off x="84381" y="-250900"/>
            <a:ext cx="10772775" cy="1658198"/>
          </a:xfrm>
        </p:spPr>
        <p:txBody>
          <a:bodyPr/>
          <a:lstStyle/>
          <a:p>
            <a:r>
              <a:rPr lang="ru-RU" dirty="0"/>
              <a:t>Цель работы и задания</a:t>
            </a:r>
          </a:p>
        </p:txBody>
      </p:sp>
      <p:sp>
        <p:nvSpPr>
          <p:cNvPr id="3" name="Объект 2">
            <a:extLst>
              <a:ext uri="{FF2B5EF4-FFF2-40B4-BE49-F238E27FC236}">
                <a16:creationId xmlns:a16="http://schemas.microsoft.com/office/drawing/2014/main" id="{5E1C9885-6667-6B03-04C5-B8F6DD4EB99C}"/>
              </a:ext>
            </a:extLst>
          </p:cNvPr>
          <p:cNvSpPr>
            <a:spLocks noGrp="1"/>
          </p:cNvSpPr>
          <p:nvPr>
            <p:ph idx="1"/>
          </p:nvPr>
        </p:nvSpPr>
        <p:spPr>
          <a:xfrm>
            <a:off x="173157" y="1020932"/>
            <a:ext cx="11756910" cy="639192"/>
          </a:xfrm>
        </p:spPr>
        <p:txBody>
          <a:bodyPr>
            <a:normAutofit fontScale="85000" lnSpcReduction="10000"/>
          </a:bodyPr>
          <a:lstStyle/>
          <a:p>
            <a:r>
              <a:rPr lang="ru-RU" sz="2000" dirty="0"/>
              <a:t>Цель работы</a:t>
            </a:r>
            <a:r>
              <a:rPr lang="en-US" sz="2000" dirty="0"/>
              <a:t>:</a:t>
            </a:r>
            <a:r>
              <a:rPr lang="ru-RU" sz="2000" dirty="0"/>
              <a:t> Познакомиться с основными приемами создания таблиц на языке HTML, рассмотреть основные теги и атрибуты, научиться создавать, форматировать и заполнять таблицы, проектировать их структуру.</a:t>
            </a:r>
            <a:endParaRPr lang="en-US" sz="2000" dirty="0"/>
          </a:p>
        </p:txBody>
      </p:sp>
      <p:sp>
        <p:nvSpPr>
          <p:cNvPr id="4" name="Объект 2">
            <a:extLst>
              <a:ext uri="{FF2B5EF4-FFF2-40B4-BE49-F238E27FC236}">
                <a16:creationId xmlns:a16="http://schemas.microsoft.com/office/drawing/2014/main" id="{59766D13-22DE-4951-8B9C-AF6ECFACB0D8}"/>
              </a:ext>
            </a:extLst>
          </p:cNvPr>
          <p:cNvSpPr txBox="1">
            <a:spLocks/>
          </p:cNvSpPr>
          <p:nvPr/>
        </p:nvSpPr>
        <p:spPr>
          <a:xfrm>
            <a:off x="288566" y="1695634"/>
            <a:ext cx="11756910" cy="5007007"/>
          </a:xfrm>
          <a:prstGeom prst="rect">
            <a:avLst/>
          </a:prstGeom>
        </p:spPr>
        <p:txBody>
          <a:bodyPr vert="horz" lIns="91440" tIns="45720" rIns="91440" bIns="45720" rtlCol="0">
            <a:no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spcBef>
                <a:spcPts val="200"/>
              </a:spcBef>
              <a:buNone/>
            </a:pPr>
            <a:r>
              <a:rPr lang="ru-RU" sz="1700" dirty="0">
                <a:cs typeface="Times New Roman" panose="02020603050405020304" pitchFamily="18" charset="0"/>
              </a:rPr>
              <a:t>Задание 1. Создание таблицы по образцу.</a:t>
            </a:r>
          </a:p>
          <a:p>
            <a:pPr marL="0" indent="0">
              <a:spcBef>
                <a:spcPts val="200"/>
              </a:spcBef>
              <a:buNone/>
            </a:pPr>
            <a:r>
              <a:rPr lang="ru-RU" sz="1700" dirty="0">
                <a:cs typeface="Times New Roman" panose="02020603050405020304" pitchFamily="18" charset="0"/>
              </a:rPr>
              <a:t>●	В элементе &lt;TITLE&gt; укажите название странички "Задание 1. Создание таблицы по образцу"</a:t>
            </a:r>
          </a:p>
          <a:p>
            <a:pPr marL="0" indent="0">
              <a:spcBef>
                <a:spcPts val="200"/>
              </a:spcBef>
              <a:buNone/>
            </a:pPr>
            <a:r>
              <a:rPr lang="ru-RU" sz="1700" dirty="0">
                <a:cs typeface="Times New Roman" panose="02020603050405020304" pitchFamily="18" charset="0"/>
              </a:rPr>
              <a:t>●	Создайте таблицу, как показано ниже</a:t>
            </a:r>
          </a:p>
          <a:p>
            <a:pPr marL="0" indent="0">
              <a:spcBef>
                <a:spcPts val="200"/>
              </a:spcBef>
              <a:buNone/>
            </a:pPr>
            <a:r>
              <a:rPr lang="ru-RU" sz="1700" dirty="0">
                <a:cs typeface="Times New Roman" panose="02020603050405020304" pitchFamily="18" charset="0"/>
              </a:rPr>
              <a:t>●	Текст в первой строке выровняйте по центру по горизонтали и по вертикали.</a:t>
            </a:r>
          </a:p>
          <a:p>
            <a:pPr marL="0" indent="0">
              <a:spcBef>
                <a:spcPts val="200"/>
              </a:spcBef>
              <a:buNone/>
            </a:pPr>
            <a:r>
              <a:rPr lang="ru-RU" sz="1700" dirty="0">
                <a:cs typeface="Times New Roman" panose="02020603050405020304" pitchFamily="18" charset="0"/>
              </a:rPr>
              <a:t>●	Текст во второй строке выделите жирным шрифтом.</a:t>
            </a:r>
          </a:p>
          <a:p>
            <a:pPr marL="0" indent="0">
              <a:spcBef>
                <a:spcPts val="200"/>
              </a:spcBef>
              <a:buNone/>
            </a:pPr>
            <a:r>
              <a:rPr lang="ru-RU" sz="1700" dirty="0">
                <a:cs typeface="Times New Roman" panose="02020603050405020304" pitchFamily="18" charset="0"/>
              </a:rPr>
              <a:t>Задание 2. Создание таблицы по образцу.</a:t>
            </a:r>
          </a:p>
          <a:p>
            <a:pPr marL="0" indent="0">
              <a:spcBef>
                <a:spcPts val="200"/>
              </a:spcBef>
              <a:buNone/>
            </a:pPr>
            <a:r>
              <a:rPr lang="ru-RU" sz="1700" dirty="0">
                <a:cs typeface="Times New Roman" panose="02020603050405020304" pitchFamily="18" charset="0"/>
              </a:rPr>
              <a:t>•	В элементе &lt;TITLE&gt; укажите название странички "Задание 2. Создание таблицы по образцу"</a:t>
            </a:r>
          </a:p>
          <a:p>
            <a:pPr marL="0" indent="0">
              <a:spcBef>
                <a:spcPts val="200"/>
              </a:spcBef>
              <a:buNone/>
            </a:pPr>
            <a:r>
              <a:rPr lang="ru-RU" sz="1700" dirty="0">
                <a:cs typeface="Times New Roman" panose="02020603050405020304" pitchFamily="18" charset="0"/>
              </a:rPr>
              <a:t>•	Создайте HTML-документ, соответствующий следующему образцу:</a:t>
            </a:r>
          </a:p>
          <a:p>
            <a:pPr marL="0" indent="0">
              <a:spcBef>
                <a:spcPts val="200"/>
              </a:spcBef>
              <a:buNone/>
            </a:pPr>
            <a:r>
              <a:rPr lang="ru-RU" sz="1700" dirty="0">
                <a:cs typeface="Times New Roman" panose="02020603050405020304" pitchFamily="18" charset="0"/>
              </a:rPr>
              <a:t>Задание 3. Форматирование таблицы</a:t>
            </a:r>
          </a:p>
          <a:p>
            <a:pPr marL="0" indent="0">
              <a:spcBef>
                <a:spcPts val="200"/>
              </a:spcBef>
              <a:buNone/>
            </a:pPr>
            <a:r>
              <a:rPr lang="ru-RU" sz="1700" dirty="0">
                <a:cs typeface="Times New Roman" panose="02020603050405020304" pitchFamily="18" charset="0"/>
              </a:rPr>
              <a:t>●	Для	выполнения	этого	задания	воспользуйтесь	результатами выполнения Задания 1.</a:t>
            </a:r>
          </a:p>
          <a:p>
            <a:pPr marL="0" indent="0">
              <a:spcBef>
                <a:spcPts val="200"/>
              </a:spcBef>
              <a:buNone/>
            </a:pPr>
            <a:r>
              <a:rPr lang="ru-RU" sz="1700" dirty="0">
                <a:cs typeface="Times New Roman" panose="02020603050405020304" pitchFamily="18" charset="0"/>
              </a:rPr>
              <a:t>●	В элементе &lt;TITLE&gt; укажите название странички "Задание 3. Форматирование таблицы".</a:t>
            </a:r>
          </a:p>
          <a:p>
            <a:pPr marL="0" indent="0">
              <a:spcBef>
                <a:spcPts val="200"/>
              </a:spcBef>
              <a:buNone/>
            </a:pPr>
            <a:r>
              <a:rPr lang="ru-RU" sz="1700" dirty="0">
                <a:cs typeface="Times New Roman" panose="02020603050405020304" pitchFamily="18" charset="0"/>
              </a:rPr>
              <a:t>●	Сделайте фон первого  столбца зеленого  цвета, второго – красного, третьего – синего.</a:t>
            </a:r>
          </a:p>
          <a:p>
            <a:pPr marL="0" indent="0">
              <a:spcBef>
                <a:spcPts val="200"/>
              </a:spcBef>
              <a:buNone/>
            </a:pPr>
            <a:r>
              <a:rPr lang="ru-RU" sz="1700" dirty="0">
                <a:cs typeface="Times New Roman" panose="02020603050405020304" pitchFamily="18" charset="0"/>
              </a:rPr>
              <a:t>●	Задайте ширину бордюра таблицы, равным 3 пикселям.</a:t>
            </a:r>
          </a:p>
          <a:p>
            <a:pPr marL="0" indent="0">
              <a:spcBef>
                <a:spcPts val="200"/>
              </a:spcBef>
              <a:buNone/>
            </a:pPr>
            <a:r>
              <a:rPr lang="ru-RU" sz="1700" dirty="0">
                <a:cs typeface="Times New Roman" panose="02020603050405020304" pitchFamily="18" charset="0"/>
              </a:rPr>
              <a:t>●	Ширину таблицы сделайте равной ширине экрана.</a:t>
            </a:r>
          </a:p>
          <a:p>
            <a:pPr marL="0" indent="0">
              <a:spcBef>
                <a:spcPts val="200"/>
              </a:spcBef>
              <a:buNone/>
            </a:pPr>
            <a:r>
              <a:rPr lang="ru-RU" sz="1700" dirty="0">
                <a:cs typeface="Times New Roman" panose="02020603050405020304" pitchFamily="18" charset="0"/>
              </a:rPr>
              <a:t>●	Шрифт, которым написан текст внутри таблицы, сделайте белым.</a:t>
            </a:r>
          </a:p>
          <a:p>
            <a:pPr marL="0" indent="0">
              <a:spcBef>
                <a:spcPts val="200"/>
              </a:spcBef>
              <a:buNone/>
            </a:pPr>
            <a:endParaRPr lang="ru-RU" sz="1700" dirty="0">
              <a:cs typeface="Times New Roman" panose="02020603050405020304" pitchFamily="18" charset="0"/>
            </a:endParaRPr>
          </a:p>
        </p:txBody>
      </p:sp>
    </p:spTree>
    <p:extLst>
      <p:ext uri="{BB962C8B-B14F-4D97-AF65-F5344CB8AC3E}">
        <p14:creationId xmlns:p14="http://schemas.microsoft.com/office/powerpoint/2010/main" val="4171249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91EDE4-BCF3-95EA-4CB8-49B1DC9B3B7B}"/>
              </a:ext>
            </a:extLst>
          </p:cNvPr>
          <p:cNvSpPr>
            <a:spLocks noGrp="1"/>
          </p:cNvSpPr>
          <p:nvPr>
            <p:ph type="title"/>
          </p:nvPr>
        </p:nvSpPr>
        <p:spPr>
          <a:xfrm>
            <a:off x="84381" y="-250900"/>
            <a:ext cx="10772775" cy="1658198"/>
          </a:xfrm>
        </p:spPr>
        <p:txBody>
          <a:bodyPr/>
          <a:lstStyle/>
          <a:p>
            <a:r>
              <a:rPr lang="ru-RU" dirty="0"/>
              <a:t>Цель работы и задания</a:t>
            </a:r>
          </a:p>
        </p:txBody>
      </p:sp>
      <p:sp>
        <p:nvSpPr>
          <p:cNvPr id="4" name="Объект 2">
            <a:extLst>
              <a:ext uri="{FF2B5EF4-FFF2-40B4-BE49-F238E27FC236}">
                <a16:creationId xmlns:a16="http://schemas.microsoft.com/office/drawing/2014/main" id="{59766D13-22DE-4951-8B9C-AF6ECFACB0D8}"/>
              </a:ext>
            </a:extLst>
          </p:cNvPr>
          <p:cNvSpPr txBox="1">
            <a:spLocks/>
          </p:cNvSpPr>
          <p:nvPr/>
        </p:nvSpPr>
        <p:spPr>
          <a:xfrm>
            <a:off x="350709" y="1116367"/>
            <a:ext cx="11756910" cy="5461986"/>
          </a:xfrm>
          <a:prstGeom prst="rect">
            <a:avLst/>
          </a:prstGeom>
        </p:spPr>
        <p:txBody>
          <a:bodyPr vert="horz" lIns="91440" tIns="45720" rIns="91440" bIns="45720" rtlCol="0">
            <a:no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spcBef>
                <a:spcPts val="200"/>
              </a:spcBef>
              <a:buNone/>
            </a:pPr>
            <a:r>
              <a:rPr lang="ru-RU" sz="1700" dirty="0">
                <a:cs typeface="Times New Roman" panose="02020603050405020304" pitchFamily="18" charset="0"/>
              </a:rPr>
              <a:t>Задание 4. Заполнение таблицы</a:t>
            </a:r>
          </a:p>
          <a:p>
            <a:pPr marL="0" indent="0">
              <a:spcBef>
                <a:spcPts val="200"/>
              </a:spcBef>
              <a:buNone/>
            </a:pPr>
            <a:r>
              <a:rPr lang="ru-RU" sz="1700" dirty="0">
                <a:cs typeface="Times New Roman" panose="02020603050405020304" pitchFamily="18" charset="0"/>
              </a:rPr>
              <a:t>●	Для	выполнения	этого	задания	воспользуйтесь	результатами	выполнения Задания 1.</a:t>
            </a:r>
          </a:p>
          <a:p>
            <a:pPr marL="0" indent="0">
              <a:spcBef>
                <a:spcPts val="200"/>
              </a:spcBef>
              <a:buNone/>
            </a:pPr>
            <a:r>
              <a:rPr lang="ru-RU" sz="1700" dirty="0">
                <a:cs typeface="Times New Roman" panose="02020603050405020304" pitchFamily="18" charset="0"/>
              </a:rPr>
              <a:t>●	В элементе &lt;TITLE&gt; укажите название странички "Задание 4. Заполнение таблицы".</a:t>
            </a:r>
          </a:p>
          <a:p>
            <a:pPr marL="0" indent="0">
              <a:spcBef>
                <a:spcPts val="200"/>
              </a:spcBef>
              <a:buNone/>
            </a:pPr>
            <a:r>
              <a:rPr lang="ru-RU" sz="1700" dirty="0">
                <a:cs typeface="Times New Roman" panose="02020603050405020304" pitchFamily="18" charset="0"/>
              </a:rPr>
              <a:t>●	В	первую   ячейку первой	строки	вставьте	рисунок из файла *.</a:t>
            </a:r>
            <a:r>
              <a:rPr lang="ru-RU" sz="1700" dirty="0" err="1">
                <a:cs typeface="Times New Roman" panose="02020603050405020304" pitchFamily="18" charset="0"/>
              </a:rPr>
              <a:t>jpg</a:t>
            </a:r>
            <a:r>
              <a:rPr lang="ru-RU" sz="1700" dirty="0">
                <a:cs typeface="Times New Roman" panose="02020603050405020304" pitchFamily="18" charset="0"/>
              </a:rPr>
              <a:t>.</a:t>
            </a:r>
          </a:p>
          <a:p>
            <a:pPr marL="0" indent="0">
              <a:spcBef>
                <a:spcPts val="200"/>
              </a:spcBef>
              <a:buNone/>
            </a:pPr>
            <a:r>
              <a:rPr lang="ru-RU" sz="1700" dirty="0">
                <a:cs typeface="Times New Roman" panose="02020603050405020304" pitchFamily="18" charset="0"/>
              </a:rPr>
              <a:t>●	Во второй ячейке второй строки напишите ваше любимое четверостишие.</a:t>
            </a:r>
          </a:p>
          <a:p>
            <a:pPr marL="0" indent="0">
              <a:spcBef>
                <a:spcPts val="200"/>
              </a:spcBef>
              <a:buNone/>
            </a:pPr>
            <a:r>
              <a:rPr lang="ru-RU" sz="1700" dirty="0">
                <a:cs typeface="Times New Roman" panose="02020603050405020304" pitchFamily="18" charset="0"/>
              </a:rPr>
              <a:t>●	Сделайте фон третьей ячейки второй строки красного цвета.</a:t>
            </a:r>
          </a:p>
          <a:p>
            <a:pPr marL="0" indent="0">
              <a:spcBef>
                <a:spcPts val="200"/>
              </a:spcBef>
              <a:buNone/>
            </a:pPr>
            <a:r>
              <a:rPr lang="ru-RU" sz="1700" dirty="0">
                <a:cs typeface="Times New Roman" panose="02020603050405020304" pitchFamily="18" charset="0"/>
              </a:rPr>
              <a:t>Задание 5. Самостоятельное проектирование и создание таблицы</a:t>
            </a:r>
          </a:p>
          <a:p>
            <a:pPr marL="0" indent="0">
              <a:spcBef>
                <a:spcPts val="200"/>
              </a:spcBef>
              <a:buNone/>
            </a:pPr>
            <a:r>
              <a:rPr lang="ru-RU" sz="1700" dirty="0">
                <a:cs typeface="Times New Roman" panose="02020603050405020304" pitchFamily="18" charset="0"/>
              </a:rPr>
              <a:t>●	Составьте таблицу для расписания ваших занятий. Пусть эта таблица состоит из восьми столбцов и девяти строк. Ширина таблицы 100%.</a:t>
            </a:r>
          </a:p>
          <a:p>
            <a:pPr marL="0" indent="0">
              <a:spcBef>
                <a:spcPts val="200"/>
              </a:spcBef>
              <a:buNone/>
            </a:pPr>
            <a:r>
              <a:rPr lang="ru-RU" sz="1700" dirty="0">
                <a:cs typeface="Times New Roman" panose="02020603050405020304" pitchFamily="18" charset="0"/>
              </a:rPr>
              <a:t>●	В первом столбце укажите время начала и конца ваших занятий. Выравнивание данных в ячейках должно быть по левому краю.</a:t>
            </a:r>
          </a:p>
          <a:p>
            <a:pPr marL="0" indent="0">
              <a:spcBef>
                <a:spcPts val="200"/>
              </a:spcBef>
              <a:buNone/>
            </a:pPr>
            <a:r>
              <a:rPr lang="ru-RU" sz="1700" dirty="0">
                <a:cs typeface="Times New Roman" panose="02020603050405020304" pitchFamily="18" charset="0"/>
              </a:rPr>
              <a:t>●	В остальных столбцах укажите дисциплины по дням недели.</a:t>
            </a:r>
          </a:p>
          <a:p>
            <a:pPr marL="0" indent="0">
              <a:spcBef>
                <a:spcPts val="200"/>
              </a:spcBef>
              <a:buNone/>
            </a:pPr>
            <a:r>
              <a:rPr lang="ru-RU" sz="1700" dirty="0">
                <a:cs typeface="Times New Roman" panose="02020603050405020304" pitchFamily="18" charset="0"/>
              </a:rPr>
              <a:t>●	Выравнивание дней недели по центру ячейки и жирным шрифтом.</a:t>
            </a:r>
          </a:p>
          <a:p>
            <a:pPr marL="0" indent="0">
              <a:spcBef>
                <a:spcPts val="200"/>
              </a:spcBef>
              <a:buNone/>
            </a:pPr>
            <a:r>
              <a:rPr lang="ru-RU" sz="1700" dirty="0">
                <a:cs typeface="Times New Roman" panose="02020603050405020304" pitchFamily="18" charset="0"/>
              </a:rPr>
              <a:t>●	Выравнивание названий дисциплин в ячейках должно быть по левому краю.</a:t>
            </a:r>
          </a:p>
          <a:p>
            <a:pPr marL="0" indent="0">
              <a:spcBef>
                <a:spcPts val="200"/>
              </a:spcBef>
              <a:buNone/>
            </a:pPr>
            <a:r>
              <a:rPr lang="ru-RU" sz="1700" dirty="0">
                <a:cs typeface="Times New Roman" panose="02020603050405020304" pitchFamily="18" charset="0"/>
              </a:rPr>
              <a:t>●	У всех столбцов фон сделайте разным цветом.</a:t>
            </a:r>
          </a:p>
          <a:p>
            <a:pPr marL="0" indent="0">
              <a:spcBef>
                <a:spcPts val="200"/>
              </a:spcBef>
              <a:buNone/>
            </a:pPr>
            <a:r>
              <a:rPr lang="ru-RU" sz="1700" dirty="0">
                <a:cs typeface="Times New Roman" panose="02020603050405020304" pitchFamily="18" charset="0"/>
              </a:rPr>
              <a:t>●	Перед таблицей поместите заголовок "РАСПИСАНИЕ ЗАНЯТИЙ", выделив его тэгами &lt;H1&gt; и &lt;/h1&gt;. Цвет заголовка красный.</a:t>
            </a:r>
          </a:p>
          <a:p>
            <a:pPr marL="0" indent="0">
              <a:spcBef>
                <a:spcPts val="200"/>
              </a:spcBef>
              <a:buNone/>
            </a:pPr>
            <a:r>
              <a:rPr lang="ru-RU" sz="1700" dirty="0">
                <a:cs typeface="Times New Roman" panose="02020603050405020304" pitchFamily="18" charset="0"/>
              </a:rPr>
              <a:t>●	 Между заголовком и таблицей поместите рисунок.</a:t>
            </a:r>
          </a:p>
          <a:p>
            <a:pPr marL="0" indent="0">
              <a:spcBef>
                <a:spcPts val="200"/>
              </a:spcBef>
              <a:buNone/>
            </a:pPr>
            <a:endParaRPr lang="ru-RU" sz="1700" dirty="0">
              <a:cs typeface="Times New Roman" panose="02020603050405020304" pitchFamily="18" charset="0"/>
            </a:endParaRPr>
          </a:p>
        </p:txBody>
      </p:sp>
    </p:spTree>
    <p:extLst>
      <p:ext uri="{BB962C8B-B14F-4D97-AF65-F5344CB8AC3E}">
        <p14:creationId xmlns:p14="http://schemas.microsoft.com/office/powerpoint/2010/main" val="2511522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91EDE4-BCF3-95EA-4CB8-49B1DC9B3B7B}"/>
              </a:ext>
            </a:extLst>
          </p:cNvPr>
          <p:cNvSpPr>
            <a:spLocks noGrp="1"/>
          </p:cNvSpPr>
          <p:nvPr>
            <p:ph type="title"/>
          </p:nvPr>
        </p:nvSpPr>
        <p:spPr>
          <a:xfrm>
            <a:off x="84381" y="-250900"/>
            <a:ext cx="10772775" cy="1658198"/>
          </a:xfrm>
        </p:spPr>
        <p:txBody>
          <a:bodyPr/>
          <a:lstStyle/>
          <a:p>
            <a:r>
              <a:rPr lang="ru-RU" dirty="0"/>
              <a:t>Цель работы и задания</a:t>
            </a:r>
          </a:p>
        </p:txBody>
      </p:sp>
      <p:sp>
        <p:nvSpPr>
          <p:cNvPr id="4" name="Объект 2">
            <a:extLst>
              <a:ext uri="{FF2B5EF4-FFF2-40B4-BE49-F238E27FC236}">
                <a16:creationId xmlns:a16="http://schemas.microsoft.com/office/drawing/2014/main" id="{59766D13-22DE-4951-8B9C-AF6ECFACB0D8}"/>
              </a:ext>
            </a:extLst>
          </p:cNvPr>
          <p:cNvSpPr txBox="1">
            <a:spLocks/>
          </p:cNvSpPr>
          <p:nvPr/>
        </p:nvSpPr>
        <p:spPr>
          <a:xfrm>
            <a:off x="350709" y="1116367"/>
            <a:ext cx="11756910" cy="5461986"/>
          </a:xfrm>
          <a:prstGeom prst="rect">
            <a:avLst/>
          </a:prstGeom>
        </p:spPr>
        <p:txBody>
          <a:bodyPr vert="horz" lIns="91440" tIns="45720" rIns="91440" bIns="45720" rtlCol="0">
            <a:no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spcBef>
                <a:spcPts val="200"/>
              </a:spcBef>
              <a:buNone/>
            </a:pPr>
            <a:r>
              <a:rPr lang="ru-RU" sz="1700" dirty="0">
                <a:cs typeface="Times New Roman" panose="02020603050405020304" pitchFamily="18" charset="0"/>
              </a:rPr>
              <a:t>Задание 6. Разнообразие цветов</a:t>
            </a:r>
          </a:p>
          <a:p>
            <a:pPr marL="0" indent="0">
              <a:spcBef>
                <a:spcPts val="200"/>
              </a:spcBef>
              <a:buNone/>
            </a:pPr>
            <a:r>
              <a:rPr lang="ru-RU" sz="1700" dirty="0">
                <a:cs typeface="Times New Roman" panose="02020603050405020304" pitchFamily="18" charset="0"/>
              </a:rPr>
              <a:t>●	Составьте справочную таблицу “Цветовая гамма HTML-документа” размером 5*3.</a:t>
            </a:r>
          </a:p>
          <a:p>
            <a:pPr marL="0" indent="0">
              <a:spcBef>
                <a:spcPts val="200"/>
              </a:spcBef>
              <a:buNone/>
            </a:pPr>
            <a:r>
              <a:rPr lang="ru-RU" sz="1700" dirty="0">
                <a:cs typeface="Times New Roman" panose="02020603050405020304" pitchFamily="18" charset="0"/>
              </a:rPr>
              <a:t>●	Заполните ячейки таблицы записями кодов различных оттенков красного (строка 1), зеленого (строка 2) и синего (строка 3).</a:t>
            </a:r>
          </a:p>
          <a:p>
            <a:pPr marL="0" indent="0">
              <a:spcBef>
                <a:spcPts val="200"/>
              </a:spcBef>
              <a:buNone/>
            </a:pPr>
            <a:r>
              <a:rPr lang="ru-RU" sz="1700" dirty="0">
                <a:cs typeface="Times New Roman" panose="02020603050405020304" pitchFamily="18" charset="0"/>
              </a:rPr>
              <a:t>●	Фон ячеек закрасьте теми же цветами, коды которых записаны в них.</a:t>
            </a:r>
          </a:p>
          <a:p>
            <a:pPr marL="0" indent="0">
              <a:spcBef>
                <a:spcPts val="200"/>
              </a:spcBef>
              <a:buNone/>
            </a:pPr>
            <a:r>
              <a:rPr lang="ru-RU" sz="1700" dirty="0">
                <a:cs typeface="Times New Roman" panose="02020603050405020304" pitchFamily="18" charset="0"/>
              </a:rPr>
              <a:t>Задание 7. Радуга</a:t>
            </a:r>
          </a:p>
          <a:p>
            <a:pPr marL="0" indent="0">
              <a:spcBef>
                <a:spcPts val="200"/>
              </a:spcBef>
              <a:buNone/>
            </a:pPr>
            <a:r>
              <a:rPr lang="ru-RU" sz="1700" dirty="0">
                <a:cs typeface="Times New Roman" panose="02020603050405020304" pitchFamily="18" charset="0"/>
              </a:rPr>
              <a:t>●	Составьте радугу, закрасив ячейки таблицы нужным цветом.</a:t>
            </a:r>
          </a:p>
          <a:p>
            <a:pPr marL="0" indent="0">
              <a:spcBef>
                <a:spcPts val="200"/>
              </a:spcBef>
              <a:buNone/>
            </a:pPr>
            <a:r>
              <a:rPr lang="ru-RU" sz="1700" dirty="0">
                <a:cs typeface="Times New Roman" panose="02020603050405020304" pitchFamily="18" charset="0"/>
              </a:rPr>
              <a:t>Задание 8. Зачетка</a:t>
            </a:r>
          </a:p>
          <a:p>
            <a:pPr marL="0" indent="0">
              <a:spcBef>
                <a:spcPts val="200"/>
              </a:spcBef>
              <a:buNone/>
            </a:pPr>
            <a:r>
              <a:rPr lang="ru-RU" sz="1700" dirty="0">
                <a:cs typeface="Times New Roman" panose="02020603050405020304" pitchFamily="18" charset="0"/>
              </a:rPr>
              <a:t>●	Составьте выписку из своей зачетной книжки, оформив ее в виде таблицы.</a:t>
            </a:r>
          </a:p>
          <a:p>
            <a:pPr marL="0" indent="0">
              <a:spcBef>
                <a:spcPts val="200"/>
              </a:spcBef>
              <a:buNone/>
            </a:pPr>
            <a:r>
              <a:rPr lang="ru-RU" sz="1700" dirty="0">
                <a:cs typeface="Times New Roman" panose="02020603050405020304" pitchFamily="18" charset="0"/>
              </a:rPr>
              <a:t>Задание 9.</a:t>
            </a:r>
          </a:p>
          <a:p>
            <a:pPr marL="0" indent="0">
              <a:spcBef>
                <a:spcPts val="200"/>
              </a:spcBef>
              <a:buNone/>
            </a:pPr>
            <a:r>
              <a:rPr lang="ru-RU" sz="1700" dirty="0">
                <a:cs typeface="Times New Roman" panose="02020603050405020304" pitchFamily="18" charset="0"/>
              </a:rPr>
              <a:t>●	Изучите примеры и создайте </a:t>
            </a:r>
            <a:r>
              <a:rPr lang="ru-RU" sz="1700" dirty="0" err="1">
                <a:cs typeface="Times New Roman" panose="02020603050405020304" pitchFamily="18" charset="0"/>
              </a:rPr>
              <a:t>web</a:t>
            </a:r>
            <a:r>
              <a:rPr lang="ru-RU" sz="1700" dirty="0">
                <a:cs typeface="Times New Roman" panose="02020603050405020304" pitchFamily="18" charset="0"/>
              </a:rPr>
              <a:t>-страницу, на которой посередине размещена таблицу следующего вида (ширина таблицы=90%):</a:t>
            </a:r>
          </a:p>
          <a:p>
            <a:pPr marL="0" indent="0">
              <a:spcBef>
                <a:spcPts val="200"/>
              </a:spcBef>
              <a:buNone/>
            </a:pPr>
            <a:endParaRPr lang="ru-RU" sz="1700" dirty="0">
              <a:cs typeface="Times New Roman" panose="02020603050405020304" pitchFamily="18" charset="0"/>
            </a:endParaRPr>
          </a:p>
        </p:txBody>
      </p:sp>
    </p:spTree>
    <p:extLst>
      <p:ext uri="{BB962C8B-B14F-4D97-AF65-F5344CB8AC3E}">
        <p14:creationId xmlns:p14="http://schemas.microsoft.com/office/powerpoint/2010/main" val="2048344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06C4D4-2291-C2E3-D7D0-EAD07466130B}"/>
              </a:ext>
            </a:extLst>
          </p:cNvPr>
          <p:cNvSpPr>
            <a:spLocks noGrp="1"/>
          </p:cNvSpPr>
          <p:nvPr>
            <p:ph type="title"/>
          </p:nvPr>
        </p:nvSpPr>
        <p:spPr>
          <a:xfrm>
            <a:off x="409074" y="93600"/>
            <a:ext cx="9365241" cy="1113763"/>
          </a:xfrm>
        </p:spPr>
        <p:txBody>
          <a:bodyPr/>
          <a:lstStyle/>
          <a:p>
            <a:r>
              <a:rPr lang="ru-RU" dirty="0"/>
              <a:t>Ход работы</a:t>
            </a:r>
            <a:r>
              <a:rPr lang="en-US" dirty="0"/>
              <a:t>. </a:t>
            </a:r>
            <a:r>
              <a:rPr lang="ru-RU" dirty="0"/>
              <a:t>Задание 1</a:t>
            </a:r>
          </a:p>
        </p:txBody>
      </p:sp>
      <p:sp>
        <p:nvSpPr>
          <p:cNvPr id="3" name="Объект 2">
            <a:extLst>
              <a:ext uri="{FF2B5EF4-FFF2-40B4-BE49-F238E27FC236}">
                <a16:creationId xmlns:a16="http://schemas.microsoft.com/office/drawing/2014/main" id="{A6966A71-BBCC-E9A0-C026-AA1C37329180}"/>
              </a:ext>
            </a:extLst>
          </p:cNvPr>
          <p:cNvSpPr>
            <a:spLocks noGrp="1"/>
          </p:cNvSpPr>
          <p:nvPr>
            <p:ph idx="1"/>
          </p:nvPr>
        </p:nvSpPr>
        <p:spPr>
          <a:xfrm>
            <a:off x="52939" y="3373655"/>
            <a:ext cx="11908242" cy="3436219"/>
          </a:xfrm>
        </p:spPr>
        <p:txBody>
          <a:bodyPr>
            <a:normAutofit fontScale="62500" lnSpcReduction="20000"/>
          </a:bodyPr>
          <a:lstStyle/>
          <a:p>
            <a:pPr marL="0">
              <a:spcBef>
                <a:spcPts val="0"/>
              </a:spcBef>
            </a:pPr>
            <a:r>
              <a:rPr lang="en-US" dirty="0"/>
              <a:t>&lt;!DOCTYPE html&gt;</a:t>
            </a:r>
          </a:p>
          <a:p>
            <a:pPr marL="0">
              <a:spcBef>
                <a:spcPts val="0"/>
              </a:spcBef>
            </a:pPr>
            <a:r>
              <a:rPr lang="en-US" dirty="0"/>
              <a:t>&lt;html lang="</a:t>
            </a:r>
            <a:r>
              <a:rPr lang="en-US" dirty="0" err="1"/>
              <a:t>ru</a:t>
            </a:r>
            <a:r>
              <a:rPr lang="en-US" dirty="0"/>
              <a:t>"&gt;</a:t>
            </a:r>
          </a:p>
          <a:p>
            <a:pPr marL="0">
              <a:spcBef>
                <a:spcPts val="0"/>
              </a:spcBef>
            </a:pPr>
            <a:r>
              <a:rPr lang="en-US" dirty="0"/>
              <a:t>&lt;head&gt;</a:t>
            </a:r>
          </a:p>
          <a:p>
            <a:pPr marL="0">
              <a:spcBef>
                <a:spcPts val="0"/>
              </a:spcBef>
            </a:pPr>
            <a:r>
              <a:rPr lang="en-US" dirty="0"/>
              <a:t>    &lt;meta charset="UTF-8"&gt;</a:t>
            </a:r>
          </a:p>
          <a:p>
            <a:pPr marL="0">
              <a:spcBef>
                <a:spcPts val="0"/>
              </a:spcBef>
            </a:pPr>
            <a:r>
              <a:rPr lang="en-US" dirty="0"/>
              <a:t>    &lt;title&gt;</a:t>
            </a:r>
            <a:r>
              <a:rPr lang="ru-RU" dirty="0"/>
              <a:t>Задание 1. Создание таблицы по образцу&lt;/</a:t>
            </a:r>
            <a:r>
              <a:rPr lang="en-US" dirty="0"/>
              <a:t>title&gt;</a:t>
            </a:r>
          </a:p>
          <a:p>
            <a:pPr marL="0">
              <a:spcBef>
                <a:spcPts val="0"/>
              </a:spcBef>
            </a:pPr>
            <a:r>
              <a:rPr lang="en-US" dirty="0"/>
              <a:t>&lt;/head&gt;</a:t>
            </a:r>
          </a:p>
          <a:p>
            <a:pPr marL="0">
              <a:spcBef>
                <a:spcPts val="0"/>
              </a:spcBef>
            </a:pPr>
            <a:r>
              <a:rPr lang="en-US" dirty="0"/>
              <a:t>&lt;body&gt;</a:t>
            </a:r>
          </a:p>
          <a:p>
            <a:pPr marL="0">
              <a:spcBef>
                <a:spcPts val="0"/>
              </a:spcBef>
            </a:pPr>
            <a:r>
              <a:rPr lang="en-US" dirty="0"/>
              <a:t>    &lt;table align="center" border="3" width="600px" height="50px"&gt;</a:t>
            </a:r>
          </a:p>
          <a:p>
            <a:pPr marL="0">
              <a:spcBef>
                <a:spcPts val="0"/>
              </a:spcBef>
            </a:pPr>
            <a:r>
              <a:rPr lang="en-US" dirty="0"/>
              <a:t>        &lt;tr align="center" </a:t>
            </a:r>
            <a:r>
              <a:rPr lang="en-US" dirty="0" err="1"/>
              <a:t>valign</a:t>
            </a:r>
            <a:r>
              <a:rPr lang="en-US" dirty="0"/>
              <a:t>="middle"&gt;&lt;td&gt;</a:t>
            </a:r>
            <a:r>
              <a:rPr lang="ru-RU" dirty="0"/>
              <a:t>Один&lt;/</a:t>
            </a:r>
            <a:r>
              <a:rPr lang="en-US" dirty="0"/>
              <a:t>td&gt;</a:t>
            </a:r>
          </a:p>
          <a:p>
            <a:pPr marL="0">
              <a:spcBef>
                <a:spcPts val="0"/>
              </a:spcBef>
            </a:pPr>
            <a:r>
              <a:rPr lang="en-US" dirty="0"/>
              <a:t>        &lt;td&gt;</a:t>
            </a:r>
            <a:r>
              <a:rPr lang="ru-RU" dirty="0"/>
              <a:t>Два&lt;/</a:t>
            </a:r>
            <a:r>
              <a:rPr lang="en-US" dirty="0"/>
              <a:t>td&gt;</a:t>
            </a:r>
          </a:p>
          <a:p>
            <a:pPr marL="0">
              <a:spcBef>
                <a:spcPts val="0"/>
              </a:spcBef>
            </a:pPr>
            <a:r>
              <a:rPr lang="en-US" dirty="0"/>
              <a:t>    &lt;td&gt;</a:t>
            </a:r>
            <a:r>
              <a:rPr lang="ru-RU" dirty="0"/>
              <a:t>Три&lt;/</a:t>
            </a:r>
            <a:r>
              <a:rPr lang="en-US" dirty="0"/>
              <a:t>td&gt;&lt;/tr&gt;</a:t>
            </a:r>
          </a:p>
          <a:p>
            <a:pPr marL="0">
              <a:spcBef>
                <a:spcPts val="0"/>
              </a:spcBef>
            </a:pPr>
            <a:r>
              <a:rPr lang="en-US" dirty="0"/>
              <a:t>    &lt;td&gt;&lt;b&gt;</a:t>
            </a:r>
            <a:r>
              <a:rPr lang="ru-RU" dirty="0"/>
              <a:t>Четыре&lt;/</a:t>
            </a:r>
            <a:r>
              <a:rPr lang="en-US" dirty="0"/>
              <a:t>b&gt;&lt;/td&gt;</a:t>
            </a:r>
          </a:p>
          <a:p>
            <a:pPr marL="0">
              <a:spcBef>
                <a:spcPts val="0"/>
              </a:spcBef>
            </a:pPr>
            <a:r>
              <a:rPr lang="en-US" dirty="0"/>
              <a:t>    &lt;td&gt;&lt;b&gt;</a:t>
            </a:r>
            <a:r>
              <a:rPr lang="ru-RU" dirty="0"/>
              <a:t>Пять&lt;/</a:t>
            </a:r>
            <a:r>
              <a:rPr lang="en-US" dirty="0"/>
              <a:t>b&gt;&lt;/td&gt;</a:t>
            </a:r>
          </a:p>
          <a:p>
            <a:pPr marL="0">
              <a:spcBef>
                <a:spcPts val="0"/>
              </a:spcBef>
            </a:pPr>
            <a:r>
              <a:rPr lang="en-US" dirty="0"/>
              <a:t>    &lt;td&gt;&lt;b&gt;</a:t>
            </a:r>
            <a:r>
              <a:rPr lang="ru-RU" dirty="0"/>
              <a:t>Шесть&lt;/</a:t>
            </a:r>
            <a:r>
              <a:rPr lang="en-US" dirty="0"/>
              <a:t>b&gt;&lt;/td&gt;</a:t>
            </a:r>
          </a:p>
          <a:p>
            <a:pPr marL="0">
              <a:spcBef>
                <a:spcPts val="0"/>
              </a:spcBef>
            </a:pPr>
            <a:r>
              <a:rPr lang="en-US" dirty="0"/>
              <a:t>    &lt;/table&gt;</a:t>
            </a:r>
          </a:p>
          <a:p>
            <a:pPr marL="0">
              <a:spcBef>
                <a:spcPts val="0"/>
              </a:spcBef>
            </a:pPr>
            <a:r>
              <a:rPr lang="en-US" dirty="0"/>
              <a:t>&lt;/body&gt;</a:t>
            </a:r>
          </a:p>
          <a:p>
            <a:pPr marL="0">
              <a:spcBef>
                <a:spcPts val="0"/>
              </a:spcBef>
            </a:pPr>
            <a:r>
              <a:rPr lang="en-US" dirty="0"/>
              <a:t>&lt;/html&gt;</a:t>
            </a:r>
          </a:p>
        </p:txBody>
      </p:sp>
      <p:pic>
        <p:nvPicPr>
          <p:cNvPr id="5" name="Рисунок 4">
            <a:extLst>
              <a:ext uri="{FF2B5EF4-FFF2-40B4-BE49-F238E27FC236}">
                <a16:creationId xmlns:a16="http://schemas.microsoft.com/office/drawing/2014/main" id="{72B678CC-3136-C32D-138A-18AC28BACB60}"/>
              </a:ext>
            </a:extLst>
          </p:cNvPr>
          <p:cNvPicPr>
            <a:picLocks noChangeAspect="1"/>
          </p:cNvPicPr>
          <p:nvPr/>
        </p:nvPicPr>
        <p:blipFill>
          <a:blip r:embed="rId2"/>
          <a:stretch>
            <a:fillRect/>
          </a:stretch>
        </p:blipFill>
        <p:spPr>
          <a:xfrm>
            <a:off x="144379" y="1299488"/>
            <a:ext cx="11730453" cy="1814285"/>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603698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06C4D4-2291-C2E3-D7D0-EAD07466130B}"/>
              </a:ext>
            </a:extLst>
          </p:cNvPr>
          <p:cNvSpPr>
            <a:spLocks noGrp="1"/>
          </p:cNvSpPr>
          <p:nvPr>
            <p:ph type="title"/>
          </p:nvPr>
        </p:nvSpPr>
        <p:spPr>
          <a:xfrm>
            <a:off x="409074" y="93600"/>
            <a:ext cx="9365241" cy="1113763"/>
          </a:xfrm>
        </p:spPr>
        <p:txBody>
          <a:bodyPr/>
          <a:lstStyle/>
          <a:p>
            <a:r>
              <a:rPr lang="ru-RU" dirty="0"/>
              <a:t>Ход работы. Задание 2</a:t>
            </a:r>
          </a:p>
        </p:txBody>
      </p:sp>
      <p:sp>
        <p:nvSpPr>
          <p:cNvPr id="3" name="Объект 2">
            <a:extLst>
              <a:ext uri="{FF2B5EF4-FFF2-40B4-BE49-F238E27FC236}">
                <a16:creationId xmlns:a16="http://schemas.microsoft.com/office/drawing/2014/main" id="{A6966A71-BBCC-E9A0-C026-AA1C37329180}"/>
              </a:ext>
            </a:extLst>
          </p:cNvPr>
          <p:cNvSpPr>
            <a:spLocks noGrp="1"/>
          </p:cNvSpPr>
          <p:nvPr>
            <p:ph idx="1"/>
          </p:nvPr>
        </p:nvSpPr>
        <p:spPr>
          <a:xfrm>
            <a:off x="5909913" y="982927"/>
            <a:ext cx="3686476" cy="5837721"/>
          </a:xfrm>
        </p:spPr>
        <p:txBody>
          <a:bodyPr>
            <a:normAutofit fontScale="92500" lnSpcReduction="10000"/>
          </a:bodyPr>
          <a:lstStyle/>
          <a:p>
            <a:pPr marL="0">
              <a:spcBef>
                <a:spcPts val="0"/>
              </a:spcBef>
            </a:pPr>
            <a:r>
              <a:rPr lang="en-US" sz="900" dirty="0"/>
              <a:t>&lt;!DOCTYPE html&gt;</a:t>
            </a:r>
          </a:p>
          <a:p>
            <a:pPr marL="0">
              <a:spcBef>
                <a:spcPts val="0"/>
              </a:spcBef>
            </a:pPr>
            <a:r>
              <a:rPr lang="en-US" sz="900" dirty="0"/>
              <a:t>&lt;html lang="</a:t>
            </a:r>
            <a:r>
              <a:rPr lang="en-US" sz="900" dirty="0" err="1"/>
              <a:t>ru</a:t>
            </a:r>
            <a:r>
              <a:rPr lang="en-US" sz="900" dirty="0"/>
              <a:t>"&gt;</a:t>
            </a:r>
          </a:p>
          <a:p>
            <a:pPr marL="0">
              <a:spcBef>
                <a:spcPts val="0"/>
              </a:spcBef>
            </a:pPr>
            <a:r>
              <a:rPr lang="en-US" sz="900" dirty="0"/>
              <a:t>&lt;head&gt;</a:t>
            </a:r>
          </a:p>
          <a:p>
            <a:pPr marL="0">
              <a:spcBef>
                <a:spcPts val="0"/>
              </a:spcBef>
            </a:pPr>
            <a:r>
              <a:rPr lang="en-US" sz="900" dirty="0"/>
              <a:t>    &lt;meta charset="UTF-8"&gt;</a:t>
            </a:r>
          </a:p>
          <a:p>
            <a:pPr marL="0">
              <a:spcBef>
                <a:spcPts val="0"/>
              </a:spcBef>
            </a:pPr>
            <a:r>
              <a:rPr lang="en-US" sz="900" dirty="0"/>
              <a:t>    &lt;title&gt;</a:t>
            </a:r>
            <a:r>
              <a:rPr lang="ru-RU" sz="900" dirty="0"/>
              <a:t>Задание 2. Создание таблицы по образцу&lt;/</a:t>
            </a:r>
            <a:r>
              <a:rPr lang="en-US" sz="900" dirty="0"/>
              <a:t>title&gt;</a:t>
            </a:r>
          </a:p>
          <a:p>
            <a:pPr marL="0">
              <a:spcBef>
                <a:spcPts val="0"/>
              </a:spcBef>
            </a:pPr>
            <a:r>
              <a:rPr lang="en-US" sz="900" dirty="0"/>
              <a:t>&lt;/head&gt;</a:t>
            </a:r>
          </a:p>
          <a:p>
            <a:pPr marL="0">
              <a:spcBef>
                <a:spcPts val="0"/>
              </a:spcBef>
            </a:pPr>
            <a:r>
              <a:rPr lang="en-US" sz="900" dirty="0"/>
              <a:t>&lt;body&gt;</a:t>
            </a:r>
          </a:p>
          <a:p>
            <a:pPr marL="0">
              <a:spcBef>
                <a:spcPts val="0"/>
              </a:spcBef>
            </a:pPr>
            <a:r>
              <a:rPr lang="en-US" sz="900" dirty="0"/>
              <a:t>&lt;p&gt;&lt;b&gt;&lt;big&gt;</a:t>
            </a:r>
            <a:r>
              <a:rPr lang="ru-RU" sz="900" dirty="0"/>
              <a:t>Стандартная таблица&lt;/</a:t>
            </a:r>
            <a:r>
              <a:rPr lang="en-US" sz="900" dirty="0"/>
              <a:t>big&gt;&lt;/b&gt;&lt;/p&gt;</a:t>
            </a:r>
          </a:p>
          <a:p>
            <a:pPr marL="0">
              <a:spcBef>
                <a:spcPts val="0"/>
              </a:spcBef>
            </a:pPr>
            <a:r>
              <a:rPr lang="en-US" sz="900" dirty="0"/>
              <a:t>&lt;p&gt;&lt;b&gt;&lt;big&gt;</a:t>
            </a:r>
            <a:r>
              <a:rPr lang="ru-RU" sz="900" dirty="0"/>
              <a:t>Заголовок таблицы&lt;/</a:t>
            </a:r>
            <a:r>
              <a:rPr lang="en-US" sz="900" dirty="0"/>
              <a:t>big&gt;&lt;/b&gt;&lt;/p&gt;</a:t>
            </a:r>
          </a:p>
          <a:p>
            <a:pPr marL="0">
              <a:spcBef>
                <a:spcPts val="0"/>
              </a:spcBef>
            </a:pPr>
            <a:r>
              <a:rPr lang="en-US" sz="900" dirty="0"/>
              <a:t>&lt;table border="2" width="300px" height="90px"&gt;</a:t>
            </a:r>
          </a:p>
          <a:p>
            <a:pPr marL="0">
              <a:spcBef>
                <a:spcPts val="0"/>
              </a:spcBef>
            </a:pPr>
            <a:r>
              <a:rPr lang="en-US" sz="900" dirty="0"/>
              <a:t>        &lt;tr align="center" </a:t>
            </a:r>
            <a:r>
              <a:rPr lang="en-US" sz="900" dirty="0" err="1"/>
              <a:t>valign</a:t>
            </a:r>
            <a:r>
              <a:rPr lang="en-US" sz="900" dirty="0"/>
              <a:t>="middle" </a:t>
            </a:r>
            <a:r>
              <a:rPr lang="en-US" sz="900" dirty="0" err="1"/>
              <a:t>bgcolor</a:t>
            </a:r>
            <a:r>
              <a:rPr lang="en-US" sz="900" dirty="0"/>
              <a:t>="yellow"&gt;</a:t>
            </a:r>
          </a:p>
          <a:p>
            <a:pPr marL="0">
              <a:spcBef>
                <a:spcPts val="0"/>
              </a:spcBef>
            </a:pPr>
            <a:r>
              <a:rPr lang="en-US" sz="900" dirty="0"/>
              <a:t>            &lt;td&gt;&lt;b&gt;</a:t>
            </a:r>
            <a:r>
              <a:rPr lang="ru-RU" sz="900" dirty="0"/>
              <a:t>Заголовок 1&lt;/</a:t>
            </a:r>
            <a:r>
              <a:rPr lang="en-US" sz="900" dirty="0"/>
              <a:t>b&gt;&lt;/td&gt;</a:t>
            </a:r>
          </a:p>
          <a:p>
            <a:pPr marL="0">
              <a:spcBef>
                <a:spcPts val="0"/>
              </a:spcBef>
            </a:pPr>
            <a:r>
              <a:rPr lang="en-US" sz="900" dirty="0"/>
              <a:t>            &lt;td&gt;&lt;b&gt;</a:t>
            </a:r>
            <a:r>
              <a:rPr lang="ru-RU" sz="900" dirty="0"/>
              <a:t>Заголовок 2&lt;/</a:t>
            </a:r>
            <a:r>
              <a:rPr lang="en-US" sz="900" dirty="0"/>
              <a:t>b&gt;&lt;/td&gt;</a:t>
            </a:r>
          </a:p>
          <a:p>
            <a:pPr marL="0">
              <a:spcBef>
                <a:spcPts val="0"/>
              </a:spcBef>
            </a:pPr>
            <a:r>
              <a:rPr lang="en-US" sz="900" dirty="0"/>
              <a:t>        &lt;/tr&gt;</a:t>
            </a:r>
          </a:p>
          <a:p>
            <a:pPr marL="0">
              <a:spcBef>
                <a:spcPts val="0"/>
              </a:spcBef>
            </a:pPr>
            <a:r>
              <a:rPr lang="en-US" sz="900" dirty="0"/>
              <a:t>        &lt;tr&gt;</a:t>
            </a:r>
          </a:p>
          <a:p>
            <a:pPr marL="0">
              <a:spcBef>
                <a:spcPts val="0"/>
              </a:spcBef>
            </a:pPr>
            <a:r>
              <a:rPr lang="en-US" sz="900" dirty="0"/>
              <a:t>            &lt;td&gt;</a:t>
            </a:r>
            <a:r>
              <a:rPr lang="ru-RU" sz="900" dirty="0"/>
              <a:t>Ячейка 1&lt;/</a:t>
            </a:r>
            <a:r>
              <a:rPr lang="en-US" sz="900" dirty="0"/>
              <a:t>td&gt;</a:t>
            </a:r>
          </a:p>
          <a:p>
            <a:pPr marL="0">
              <a:spcBef>
                <a:spcPts val="0"/>
              </a:spcBef>
            </a:pPr>
            <a:r>
              <a:rPr lang="en-US" sz="900" dirty="0"/>
              <a:t>            &lt;td&gt;</a:t>
            </a:r>
            <a:r>
              <a:rPr lang="ru-RU" sz="900" dirty="0"/>
              <a:t>Ячейка 2&lt;/</a:t>
            </a:r>
            <a:r>
              <a:rPr lang="en-US" sz="900" dirty="0"/>
              <a:t>td&gt;</a:t>
            </a:r>
          </a:p>
          <a:p>
            <a:pPr marL="0">
              <a:spcBef>
                <a:spcPts val="0"/>
              </a:spcBef>
            </a:pPr>
            <a:r>
              <a:rPr lang="en-US" sz="900" dirty="0"/>
              <a:t>        &lt;/tr&gt;</a:t>
            </a:r>
          </a:p>
          <a:p>
            <a:pPr marL="0">
              <a:spcBef>
                <a:spcPts val="0"/>
              </a:spcBef>
            </a:pPr>
            <a:r>
              <a:rPr lang="en-US" sz="900" dirty="0"/>
              <a:t>        &lt;tr&gt;</a:t>
            </a:r>
          </a:p>
          <a:p>
            <a:pPr marL="0">
              <a:spcBef>
                <a:spcPts val="0"/>
              </a:spcBef>
            </a:pPr>
            <a:r>
              <a:rPr lang="en-US" sz="900" dirty="0"/>
              <a:t>            &lt;td&gt;</a:t>
            </a:r>
            <a:r>
              <a:rPr lang="ru-RU" sz="900" dirty="0"/>
              <a:t>Ячейка 3&lt;/</a:t>
            </a:r>
            <a:r>
              <a:rPr lang="en-US" sz="900" dirty="0"/>
              <a:t>td&gt;</a:t>
            </a:r>
          </a:p>
          <a:p>
            <a:pPr marL="0">
              <a:spcBef>
                <a:spcPts val="0"/>
              </a:spcBef>
            </a:pPr>
            <a:r>
              <a:rPr lang="en-US" sz="900" dirty="0"/>
              <a:t>            &lt;td&gt;</a:t>
            </a:r>
            <a:r>
              <a:rPr lang="ru-RU" sz="900" dirty="0"/>
              <a:t>Ячейка 4&lt;/</a:t>
            </a:r>
            <a:r>
              <a:rPr lang="en-US" sz="900" dirty="0"/>
              <a:t>td&gt;</a:t>
            </a:r>
          </a:p>
          <a:p>
            <a:pPr marL="0">
              <a:spcBef>
                <a:spcPts val="0"/>
              </a:spcBef>
            </a:pPr>
            <a:r>
              <a:rPr lang="en-US" sz="900" dirty="0"/>
              <a:t>        &lt;/tr&gt;</a:t>
            </a:r>
          </a:p>
          <a:p>
            <a:pPr marL="0">
              <a:spcBef>
                <a:spcPts val="0"/>
              </a:spcBef>
            </a:pPr>
            <a:r>
              <a:rPr lang="en-US" sz="900" dirty="0"/>
              <a:t>&lt;/table&gt;   </a:t>
            </a:r>
          </a:p>
          <a:p>
            <a:pPr marL="0">
              <a:spcBef>
                <a:spcPts val="0"/>
              </a:spcBef>
            </a:pPr>
            <a:r>
              <a:rPr lang="en-US" sz="900" dirty="0"/>
              <a:t>&lt;</a:t>
            </a:r>
            <a:r>
              <a:rPr lang="en-US" sz="900" dirty="0" err="1"/>
              <a:t>hr</a:t>
            </a:r>
            <a:r>
              <a:rPr lang="en-US" sz="900" dirty="0"/>
              <a:t> size="2" color="black"&gt;</a:t>
            </a:r>
          </a:p>
          <a:p>
            <a:pPr marL="0">
              <a:spcBef>
                <a:spcPts val="0"/>
              </a:spcBef>
            </a:pPr>
            <a:r>
              <a:rPr lang="en-US" sz="900" dirty="0"/>
              <a:t>&lt;p&gt;&lt;b&gt;&lt;big&gt;</a:t>
            </a:r>
            <a:r>
              <a:rPr lang="ru-RU" sz="900" dirty="0" err="1"/>
              <a:t>Обьединение</a:t>
            </a:r>
            <a:r>
              <a:rPr lang="ru-RU" sz="900" dirty="0"/>
              <a:t> ячеек&lt;/</a:t>
            </a:r>
            <a:r>
              <a:rPr lang="en-US" sz="900" dirty="0"/>
              <a:t>big&gt;&lt;/b&gt;&lt;/p&gt;</a:t>
            </a:r>
          </a:p>
          <a:p>
            <a:pPr marL="0">
              <a:spcBef>
                <a:spcPts val="0"/>
              </a:spcBef>
            </a:pPr>
            <a:r>
              <a:rPr lang="en-US" sz="900" dirty="0"/>
              <a:t>&lt;table border="2" width="500px" height="100px"&gt;</a:t>
            </a:r>
          </a:p>
          <a:p>
            <a:pPr marL="0">
              <a:spcBef>
                <a:spcPts val="0"/>
              </a:spcBef>
            </a:pPr>
            <a:r>
              <a:rPr lang="en-US" sz="900" dirty="0"/>
              <a:t>    &lt;tr align="center" </a:t>
            </a:r>
            <a:r>
              <a:rPr lang="en-US" sz="900" dirty="0" err="1"/>
              <a:t>valign</a:t>
            </a:r>
            <a:r>
              <a:rPr lang="en-US" sz="900" dirty="0"/>
              <a:t>="middle" </a:t>
            </a:r>
            <a:r>
              <a:rPr lang="en-US" sz="900" dirty="0" err="1"/>
              <a:t>bgcolor</a:t>
            </a:r>
            <a:r>
              <a:rPr lang="en-US" sz="900" dirty="0"/>
              <a:t>="yellow"&gt;</a:t>
            </a:r>
          </a:p>
          <a:p>
            <a:pPr marL="0">
              <a:spcBef>
                <a:spcPts val="0"/>
              </a:spcBef>
            </a:pPr>
            <a:r>
              <a:rPr lang="en-US" sz="900" dirty="0"/>
              <a:t>        &lt;td&gt;&lt;b&gt;</a:t>
            </a:r>
            <a:r>
              <a:rPr lang="ru-RU" sz="900" dirty="0"/>
              <a:t>Заголовок 1&lt;/</a:t>
            </a:r>
            <a:r>
              <a:rPr lang="en-US" sz="900" dirty="0"/>
              <a:t>b&gt;&lt;/td&gt;</a:t>
            </a:r>
          </a:p>
          <a:p>
            <a:pPr marL="0">
              <a:spcBef>
                <a:spcPts val="0"/>
              </a:spcBef>
            </a:pPr>
            <a:r>
              <a:rPr lang="en-US" sz="900" dirty="0"/>
              <a:t>        &lt;td&gt;&lt;b&gt;</a:t>
            </a:r>
            <a:r>
              <a:rPr lang="ru-RU" sz="900" dirty="0"/>
              <a:t>Заголовок 2&lt;/</a:t>
            </a:r>
            <a:r>
              <a:rPr lang="en-US" sz="900" dirty="0"/>
              <a:t>b&gt;&lt;/td&gt;</a:t>
            </a:r>
          </a:p>
          <a:p>
            <a:pPr marL="0">
              <a:spcBef>
                <a:spcPts val="0"/>
              </a:spcBef>
            </a:pPr>
            <a:r>
              <a:rPr lang="en-US" sz="900" dirty="0"/>
              <a:t>        &lt;td&gt;&lt;b&gt;</a:t>
            </a:r>
            <a:r>
              <a:rPr lang="ru-RU" sz="900" dirty="0"/>
              <a:t>Заголовок 3&lt;/</a:t>
            </a:r>
            <a:r>
              <a:rPr lang="en-US" sz="900" dirty="0"/>
              <a:t>b&gt;&lt;/td&gt;</a:t>
            </a:r>
          </a:p>
          <a:p>
            <a:pPr marL="0">
              <a:spcBef>
                <a:spcPts val="0"/>
              </a:spcBef>
            </a:pPr>
            <a:r>
              <a:rPr lang="en-US" sz="900" dirty="0"/>
              <a:t>    &lt;tr&gt;</a:t>
            </a:r>
          </a:p>
          <a:p>
            <a:pPr marL="0">
              <a:spcBef>
                <a:spcPts val="0"/>
              </a:spcBef>
            </a:pPr>
            <a:r>
              <a:rPr lang="en-US" sz="900" dirty="0"/>
              <a:t>        &lt;td align="center" </a:t>
            </a:r>
            <a:r>
              <a:rPr lang="en-US" sz="900" dirty="0" err="1"/>
              <a:t>rowspan</a:t>
            </a:r>
            <a:r>
              <a:rPr lang="en-US" sz="900" dirty="0"/>
              <a:t>="4" </a:t>
            </a:r>
            <a:r>
              <a:rPr lang="en-US" sz="900" dirty="0" err="1"/>
              <a:t>colspan</a:t>
            </a:r>
            <a:r>
              <a:rPr lang="en-US" sz="900" dirty="0"/>
              <a:t>="2" </a:t>
            </a:r>
            <a:r>
              <a:rPr lang="en-US" sz="900" dirty="0" err="1"/>
              <a:t>bgcolor</a:t>
            </a:r>
            <a:r>
              <a:rPr lang="en-US" sz="900" dirty="0"/>
              <a:t>="#00ccff"&gt;</a:t>
            </a:r>
            <a:r>
              <a:rPr lang="ru-RU" sz="900" dirty="0"/>
              <a:t>Ячейка 1&lt;/</a:t>
            </a:r>
            <a:r>
              <a:rPr lang="en-US" sz="900" dirty="0"/>
              <a:t>td&gt;</a:t>
            </a:r>
          </a:p>
          <a:p>
            <a:pPr marL="0">
              <a:spcBef>
                <a:spcPts val="0"/>
              </a:spcBef>
            </a:pPr>
            <a:r>
              <a:rPr lang="en-US" sz="900" dirty="0"/>
              <a:t>        &lt;td height="23"&gt;&lt;/td&gt;</a:t>
            </a:r>
          </a:p>
          <a:p>
            <a:pPr marL="0">
              <a:spcBef>
                <a:spcPts val="0"/>
              </a:spcBef>
            </a:pPr>
            <a:r>
              <a:rPr lang="en-US" sz="900" dirty="0"/>
              <a:t>    &lt;tr&gt;</a:t>
            </a:r>
          </a:p>
          <a:p>
            <a:pPr marL="0">
              <a:spcBef>
                <a:spcPts val="0"/>
              </a:spcBef>
            </a:pPr>
            <a:r>
              <a:rPr lang="en-US" sz="900" dirty="0"/>
              <a:t>        &lt;td&gt;</a:t>
            </a:r>
            <a:r>
              <a:rPr lang="ru-RU" sz="900" dirty="0"/>
              <a:t>Ячейка 2&lt;/</a:t>
            </a:r>
            <a:r>
              <a:rPr lang="en-US" sz="900" dirty="0"/>
              <a:t>td&gt;</a:t>
            </a:r>
          </a:p>
          <a:p>
            <a:pPr marL="0">
              <a:spcBef>
                <a:spcPts val="0"/>
              </a:spcBef>
            </a:pPr>
            <a:r>
              <a:rPr lang="en-US" sz="900" dirty="0"/>
              <a:t>    &lt;tr&gt;</a:t>
            </a:r>
          </a:p>
          <a:p>
            <a:pPr marL="0">
              <a:spcBef>
                <a:spcPts val="0"/>
              </a:spcBef>
            </a:pPr>
            <a:r>
              <a:rPr lang="en-US" sz="900" dirty="0"/>
              <a:t>        &lt;td&gt;</a:t>
            </a:r>
            <a:r>
              <a:rPr lang="ru-RU" sz="900" dirty="0"/>
              <a:t>Ячейка 3&lt;/</a:t>
            </a:r>
            <a:r>
              <a:rPr lang="en-US" sz="900" dirty="0"/>
              <a:t>td&gt;</a:t>
            </a:r>
          </a:p>
          <a:p>
            <a:pPr marL="0">
              <a:spcBef>
                <a:spcPts val="0"/>
              </a:spcBef>
            </a:pPr>
            <a:r>
              <a:rPr lang="en-US" sz="900" dirty="0"/>
              <a:t>    &lt;tr&gt;</a:t>
            </a:r>
          </a:p>
          <a:p>
            <a:pPr marL="0">
              <a:spcBef>
                <a:spcPts val="0"/>
              </a:spcBef>
            </a:pPr>
            <a:r>
              <a:rPr lang="en-US" sz="900" dirty="0"/>
              <a:t>        &lt;td&gt;</a:t>
            </a:r>
            <a:r>
              <a:rPr lang="ru-RU" sz="900" dirty="0"/>
              <a:t>Ячейка 4&lt;/</a:t>
            </a:r>
            <a:r>
              <a:rPr lang="en-US" sz="900" dirty="0"/>
              <a:t>td&gt;</a:t>
            </a:r>
          </a:p>
          <a:p>
            <a:pPr marL="0">
              <a:spcBef>
                <a:spcPts val="0"/>
              </a:spcBef>
            </a:pPr>
            <a:r>
              <a:rPr lang="en-US" sz="900" dirty="0"/>
              <a:t>    &lt;tr&gt;</a:t>
            </a:r>
          </a:p>
          <a:p>
            <a:pPr marL="0">
              <a:spcBef>
                <a:spcPts val="0"/>
              </a:spcBef>
            </a:pPr>
            <a:r>
              <a:rPr lang="en-US" sz="900" dirty="0"/>
              <a:t>        &lt;td align="center" </a:t>
            </a:r>
            <a:r>
              <a:rPr lang="en-US" sz="900" dirty="0" err="1"/>
              <a:t>rowspan</a:t>
            </a:r>
            <a:r>
              <a:rPr lang="en-US" sz="900" dirty="0"/>
              <a:t>="4" </a:t>
            </a:r>
            <a:r>
              <a:rPr lang="en-US" sz="900" dirty="0" err="1"/>
              <a:t>colspan</a:t>
            </a:r>
            <a:r>
              <a:rPr lang="en-US" sz="900" dirty="0"/>
              <a:t>="3" </a:t>
            </a:r>
            <a:r>
              <a:rPr lang="en-US" sz="900" dirty="0" err="1"/>
              <a:t>bgcolor</a:t>
            </a:r>
            <a:r>
              <a:rPr lang="en-US" sz="900" dirty="0"/>
              <a:t>="#00ffff"&gt;</a:t>
            </a:r>
            <a:r>
              <a:rPr lang="ru-RU" sz="900" dirty="0"/>
              <a:t>Ячейка 5&lt;/</a:t>
            </a:r>
            <a:r>
              <a:rPr lang="en-US" sz="900" dirty="0"/>
              <a:t>td&gt;</a:t>
            </a:r>
          </a:p>
          <a:p>
            <a:pPr marL="0">
              <a:spcBef>
                <a:spcPts val="0"/>
              </a:spcBef>
            </a:pPr>
            <a:r>
              <a:rPr lang="en-US" sz="900" dirty="0"/>
              <a:t>    &lt;/table&gt;</a:t>
            </a:r>
          </a:p>
          <a:p>
            <a:pPr marL="0">
              <a:spcBef>
                <a:spcPts val="0"/>
              </a:spcBef>
            </a:pPr>
            <a:r>
              <a:rPr lang="en-US" sz="900" dirty="0"/>
              <a:t>    &lt;</a:t>
            </a:r>
            <a:r>
              <a:rPr lang="en-US" sz="900" dirty="0" err="1"/>
              <a:t>hr</a:t>
            </a:r>
            <a:r>
              <a:rPr lang="en-US" sz="900" dirty="0"/>
              <a:t> size="1" color="black"&gt;</a:t>
            </a:r>
          </a:p>
          <a:p>
            <a:pPr marL="0">
              <a:spcBef>
                <a:spcPts val="0"/>
              </a:spcBef>
            </a:pPr>
            <a:r>
              <a:rPr lang="en-US" sz="900" dirty="0"/>
              <a:t>    &lt;p&gt;&lt;b&gt;&lt;big&gt;</a:t>
            </a:r>
            <a:r>
              <a:rPr lang="ru-RU" sz="900" dirty="0"/>
              <a:t>Вложенная таблица&lt;/</a:t>
            </a:r>
            <a:r>
              <a:rPr lang="en-US" sz="900" dirty="0"/>
              <a:t>big&gt;&lt;/b&gt;&lt;/p&gt;   </a:t>
            </a:r>
          </a:p>
          <a:p>
            <a:pPr marL="0">
              <a:spcBef>
                <a:spcPts val="0"/>
              </a:spcBef>
            </a:pPr>
            <a:r>
              <a:rPr lang="en-US" sz="900" dirty="0"/>
              <a:t>    &lt;table border="2" width="600px" height="80px"&gt;</a:t>
            </a:r>
          </a:p>
          <a:p>
            <a:pPr marL="0">
              <a:spcBef>
                <a:spcPts val="0"/>
              </a:spcBef>
            </a:pPr>
            <a:r>
              <a:rPr lang="en-US" sz="900" dirty="0"/>
              <a:t>    &lt;tr align="center"&gt;</a:t>
            </a:r>
          </a:p>
          <a:p>
            <a:pPr marL="0">
              <a:spcBef>
                <a:spcPts val="0"/>
              </a:spcBef>
            </a:pPr>
            <a:r>
              <a:rPr lang="en-US" sz="900" dirty="0"/>
              <a:t>        &lt;td&gt;</a:t>
            </a:r>
          </a:p>
          <a:p>
            <a:pPr marL="0">
              <a:spcBef>
                <a:spcPts val="0"/>
              </a:spcBef>
            </a:pPr>
            <a:r>
              <a:rPr lang="en-US" sz="900" dirty="0"/>
              <a:t>        &lt;table rules="all"&gt;</a:t>
            </a:r>
          </a:p>
          <a:p>
            <a:pPr marL="0">
              <a:spcBef>
                <a:spcPts val="0"/>
              </a:spcBef>
            </a:pPr>
            <a:r>
              <a:rPr lang="en-US" sz="900" dirty="0"/>
              <a:t>        &lt;tr align="center"&gt;</a:t>
            </a:r>
          </a:p>
          <a:p>
            <a:pPr marL="0">
              <a:spcBef>
                <a:spcPts val="0"/>
              </a:spcBef>
            </a:pPr>
            <a:r>
              <a:rPr lang="en-US" sz="900" dirty="0"/>
              <a:t>        &lt;td&gt;&lt;b&gt;</a:t>
            </a:r>
            <a:r>
              <a:rPr lang="ru-RU" sz="900" dirty="0"/>
              <a:t>Ячейка 1.1.1&lt;/</a:t>
            </a:r>
            <a:r>
              <a:rPr lang="en-US" sz="900" dirty="0"/>
              <a:t>b&gt;&lt;/td&gt;</a:t>
            </a:r>
          </a:p>
          <a:p>
            <a:pPr marL="0">
              <a:spcBef>
                <a:spcPts val="0"/>
              </a:spcBef>
            </a:pPr>
            <a:r>
              <a:rPr lang="en-US" sz="900" dirty="0"/>
              <a:t>        &lt;td&gt;&lt;b&gt;</a:t>
            </a:r>
            <a:r>
              <a:rPr lang="ru-RU" sz="900" dirty="0"/>
              <a:t>Ячейка 1.1.2&lt;/</a:t>
            </a:r>
            <a:r>
              <a:rPr lang="en-US" sz="900" dirty="0"/>
              <a:t>b&gt;&lt;/td&gt;</a:t>
            </a:r>
          </a:p>
          <a:p>
            <a:pPr marL="0">
              <a:spcBef>
                <a:spcPts val="0"/>
              </a:spcBef>
            </a:pPr>
            <a:r>
              <a:rPr lang="en-US" sz="900" dirty="0"/>
              <a:t>        &lt;td&gt;&lt;b&gt;</a:t>
            </a:r>
            <a:r>
              <a:rPr lang="ru-RU" sz="900" dirty="0"/>
              <a:t>Ячейка 1.1.3&lt;/</a:t>
            </a:r>
            <a:r>
              <a:rPr lang="en-US" sz="900" dirty="0"/>
              <a:t>b&gt;&lt;/td&gt;</a:t>
            </a:r>
          </a:p>
          <a:p>
            <a:pPr marL="0">
              <a:spcBef>
                <a:spcPts val="0"/>
              </a:spcBef>
            </a:pPr>
            <a:r>
              <a:rPr lang="en-US" sz="900" dirty="0"/>
              <a:t>        &lt;td&gt;&lt;b&gt;</a:t>
            </a:r>
            <a:r>
              <a:rPr lang="ru-RU" sz="900" dirty="0"/>
              <a:t>Ячейка 1.1.4&lt;/</a:t>
            </a:r>
            <a:r>
              <a:rPr lang="en-US" sz="900" dirty="0"/>
              <a:t>b&gt;&lt;/td&gt;	</a:t>
            </a:r>
          </a:p>
          <a:p>
            <a:pPr marL="0">
              <a:spcBef>
                <a:spcPts val="0"/>
              </a:spcBef>
            </a:pPr>
            <a:r>
              <a:rPr lang="en-US" sz="900" dirty="0"/>
              <a:t>        &lt;/table&gt;	</a:t>
            </a:r>
          </a:p>
          <a:p>
            <a:pPr marL="0">
              <a:spcBef>
                <a:spcPts val="0"/>
              </a:spcBef>
            </a:pPr>
            <a:r>
              <a:rPr lang="en-US" sz="900" dirty="0"/>
              <a:t>        &lt;/td&gt;</a:t>
            </a:r>
          </a:p>
        </p:txBody>
      </p:sp>
      <p:pic>
        <p:nvPicPr>
          <p:cNvPr id="5" name="Рисунок 4">
            <a:extLst>
              <a:ext uri="{FF2B5EF4-FFF2-40B4-BE49-F238E27FC236}">
                <a16:creationId xmlns:a16="http://schemas.microsoft.com/office/drawing/2014/main" id="{A37042A4-2B9D-EE8F-F2F7-1157D09400E3}"/>
              </a:ext>
            </a:extLst>
          </p:cNvPr>
          <p:cNvPicPr>
            <a:picLocks noChangeAspect="1"/>
          </p:cNvPicPr>
          <p:nvPr/>
        </p:nvPicPr>
        <p:blipFill>
          <a:blip r:embed="rId2"/>
          <a:stretch>
            <a:fillRect/>
          </a:stretch>
        </p:blipFill>
        <p:spPr>
          <a:xfrm>
            <a:off x="202129" y="1120208"/>
            <a:ext cx="5399773" cy="5563161"/>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8" name="TextBox 7">
            <a:extLst>
              <a:ext uri="{FF2B5EF4-FFF2-40B4-BE49-F238E27FC236}">
                <a16:creationId xmlns:a16="http://schemas.microsoft.com/office/drawing/2014/main" id="{3EF0C5B9-3DD7-F711-1093-4C2EB8ABE055}"/>
              </a:ext>
            </a:extLst>
          </p:cNvPr>
          <p:cNvSpPr txBox="1"/>
          <p:nvPr/>
        </p:nvSpPr>
        <p:spPr>
          <a:xfrm>
            <a:off x="9454222" y="393425"/>
            <a:ext cx="2804561" cy="5878532"/>
          </a:xfrm>
          <a:prstGeom prst="rect">
            <a:avLst/>
          </a:prstGeom>
          <a:noFill/>
        </p:spPr>
        <p:txBody>
          <a:bodyPr wrap="square">
            <a:spAutoFit/>
          </a:bodyPr>
          <a:lstStyle/>
          <a:p>
            <a:pPr marL="0">
              <a:spcBef>
                <a:spcPts val="0"/>
              </a:spcBef>
            </a:pPr>
            <a:r>
              <a:rPr lang="en-US" sz="800" dirty="0"/>
              <a:t>        &lt;td&gt;	</a:t>
            </a:r>
          </a:p>
          <a:p>
            <a:pPr marL="0">
              <a:spcBef>
                <a:spcPts val="0"/>
              </a:spcBef>
            </a:pPr>
            <a:r>
              <a:rPr lang="en-US" sz="800" dirty="0"/>
              <a:t>        &lt;table rules="all" frame="border" width="300" height="70"&gt;</a:t>
            </a:r>
          </a:p>
          <a:p>
            <a:pPr marL="0">
              <a:spcBef>
                <a:spcPts val="0"/>
              </a:spcBef>
            </a:pPr>
            <a:r>
              <a:rPr lang="en-US" sz="800" dirty="0"/>
              <a:t>        &lt;tr align="center"&gt;</a:t>
            </a:r>
          </a:p>
          <a:p>
            <a:pPr marL="0">
              <a:spcBef>
                <a:spcPts val="0"/>
              </a:spcBef>
            </a:pPr>
            <a:r>
              <a:rPr lang="en-US" sz="800" dirty="0"/>
              <a:t>        &lt;td&gt;&lt;b&gt;&lt;</a:t>
            </a:r>
            <a:r>
              <a:rPr lang="en-US" sz="800" dirty="0" err="1"/>
              <a:t>i</a:t>
            </a:r>
            <a:r>
              <a:rPr lang="en-US" sz="800" dirty="0"/>
              <a:t>&gt;</a:t>
            </a:r>
            <a:r>
              <a:rPr lang="ru-RU" sz="800" dirty="0"/>
              <a:t>Ячейка 3.1.1&lt;/</a:t>
            </a:r>
            <a:r>
              <a:rPr lang="en-US" sz="800" dirty="0" err="1"/>
              <a:t>i</a:t>
            </a:r>
            <a:r>
              <a:rPr lang="en-US" sz="800" dirty="0"/>
              <a:t>&gt;&lt;/b&gt;&lt;/td&gt;</a:t>
            </a:r>
          </a:p>
          <a:p>
            <a:pPr marL="0">
              <a:spcBef>
                <a:spcPts val="0"/>
              </a:spcBef>
            </a:pPr>
            <a:r>
              <a:rPr lang="en-US" sz="800" dirty="0"/>
              <a:t>        &lt;td&gt;&lt;b&gt;&lt;</a:t>
            </a:r>
            <a:r>
              <a:rPr lang="en-US" sz="800" dirty="0" err="1"/>
              <a:t>i</a:t>
            </a:r>
            <a:r>
              <a:rPr lang="en-US" sz="800" dirty="0"/>
              <a:t>&gt;</a:t>
            </a:r>
            <a:r>
              <a:rPr lang="ru-RU" sz="800" dirty="0"/>
              <a:t>Ячейка 3.1.2&lt;/</a:t>
            </a:r>
            <a:r>
              <a:rPr lang="en-US" sz="800" dirty="0" err="1"/>
              <a:t>i</a:t>
            </a:r>
            <a:r>
              <a:rPr lang="en-US" sz="800" dirty="0"/>
              <a:t>&gt;&lt;/b&gt;&lt;/td&gt;</a:t>
            </a:r>
          </a:p>
          <a:p>
            <a:pPr marL="0">
              <a:spcBef>
                <a:spcPts val="0"/>
              </a:spcBef>
            </a:pPr>
            <a:r>
              <a:rPr lang="en-US" sz="800" dirty="0"/>
              <a:t>        &lt;td&gt;&lt;b&gt;&lt;</a:t>
            </a:r>
            <a:r>
              <a:rPr lang="en-US" sz="800" dirty="0" err="1"/>
              <a:t>i</a:t>
            </a:r>
            <a:r>
              <a:rPr lang="en-US" sz="800" dirty="0"/>
              <a:t>&gt;</a:t>
            </a:r>
            <a:r>
              <a:rPr lang="ru-RU" sz="800" dirty="0"/>
              <a:t>Ячейка 3.1.3&lt;/</a:t>
            </a:r>
            <a:r>
              <a:rPr lang="en-US" sz="800" dirty="0" err="1"/>
              <a:t>i</a:t>
            </a:r>
            <a:r>
              <a:rPr lang="en-US" sz="800" dirty="0"/>
              <a:t>&gt;&lt;/b&gt;&lt;/td&gt;</a:t>
            </a:r>
          </a:p>
          <a:p>
            <a:pPr marL="0">
              <a:spcBef>
                <a:spcPts val="0"/>
              </a:spcBef>
            </a:pPr>
            <a:r>
              <a:rPr lang="en-US" sz="800" dirty="0"/>
              <a:t>        &lt;tr align="center"&gt;</a:t>
            </a:r>
          </a:p>
          <a:p>
            <a:pPr marL="0">
              <a:spcBef>
                <a:spcPts val="0"/>
              </a:spcBef>
            </a:pPr>
            <a:r>
              <a:rPr lang="en-US" sz="800" dirty="0"/>
              <a:t>        &lt;td&gt;</a:t>
            </a:r>
            <a:r>
              <a:rPr lang="ru-RU" sz="800" dirty="0"/>
              <a:t>Ячейка 3.2.1&lt;/</a:t>
            </a:r>
            <a:r>
              <a:rPr lang="en-US" sz="800" dirty="0"/>
              <a:t>td&gt;</a:t>
            </a:r>
          </a:p>
          <a:p>
            <a:pPr marL="0">
              <a:spcBef>
                <a:spcPts val="0"/>
              </a:spcBef>
            </a:pPr>
            <a:r>
              <a:rPr lang="en-US" sz="800" dirty="0"/>
              <a:t>        &lt;td&gt;</a:t>
            </a:r>
            <a:r>
              <a:rPr lang="ru-RU" sz="800" dirty="0"/>
              <a:t>Ячейка 3.2.2&lt;/</a:t>
            </a:r>
            <a:r>
              <a:rPr lang="en-US" sz="800" dirty="0"/>
              <a:t>td&gt;</a:t>
            </a:r>
          </a:p>
          <a:p>
            <a:pPr marL="0">
              <a:spcBef>
                <a:spcPts val="0"/>
              </a:spcBef>
            </a:pPr>
            <a:r>
              <a:rPr lang="en-US" sz="800" dirty="0"/>
              <a:t>        &lt;td&gt;</a:t>
            </a:r>
            <a:r>
              <a:rPr lang="ru-RU" sz="800" dirty="0"/>
              <a:t>Ячейка 3.2.3&lt;/</a:t>
            </a:r>
            <a:r>
              <a:rPr lang="en-US" sz="800" dirty="0"/>
              <a:t>td&gt;</a:t>
            </a:r>
          </a:p>
          <a:p>
            <a:pPr marL="0">
              <a:spcBef>
                <a:spcPts val="0"/>
              </a:spcBef>
            </a:pPr>
            <a:r>
              <a:rPr lang="en-US" sz="800" dirty="0"/>
              <a:t>        &lt;/table&gt;</a:t>
            </a:r>
          </a:p>
          <a:p>
            <a:pPr marL="0">
              <a:spcBef>
                <a:spcPts val="0"/>
              </a:spcBef>
            </a:pPr>
            <a:r>
              <a:rPr lang="en-US" sz="800" dirty="0"/>
              <a:t>        &lt;/td&gt;</a:t>
            </a:r>
          </a:p>
          <a:p>
            <a:pPr marL="0">
              <a:spcBef>
                <a:spcPts val="0"/>
              </a:spcBef>
            </a:pPr>
            <a:r>
              <a:rPr lang="en-US" sz="800" dirty="0"/>
              <a:t>    &lt;tr&gt;</a:t>
            </a:r>
          </a:p>
          <a:p>
            <a:pPr marL="0">
              <a:spcBef>
                <a:spcPts val="0"/>
              </a:spcBef>
            </a:pPr>
            <a:r>
              <a:rPr lang="en-US" sz="800" dirty="0"/>
              <a:t>        &lt;td&gt;	</a:t>
            </a:r>
          </a:p>
          <a:p>
            <a:pPr marL="0">
              <a:spcBef>
                <a:spcPts val="0"/>
              </a:spcBef>
            </a:pPr>
            <a:r>
              <a:rPr lang="en-US" sz="800" dirty="0"/>
              <a:t>        &lt;table rules="all" width="300" height="70"&gt;</a:t>
            </a:r>
          </a:p>
          <a:p>
            <a:pPr marL="0">
              <a:spcBef>
                <a:spcPts val="0"/>
              </a:spcBef>
            </a:pPr>
            <a:r>
              <a:rPr lang="en-US" sz="800" dirty="0"/>
              <a:t>        &lt;tr align="center"&gt;</a:t>
            </a:r>
          </a:p>
          <a:p>
            <a:pPr marL="0">
              <a:spcBef>
                <a:spcPts val="0"/>
              </a:spcBef>
            </a:pPr>
            <a:r>
              <a:rPr lang="en-US" sz="800" dirty="0"/>
              <a:t>        &lt;td&gt;&lt;b&gt;</a:t>
            </a:r>
            <a:r>
              <a:rPr lang="ru-RU" sz="800" dirty="0"/>
              <a:t>Ячейка 2.1.1&lt;/</a:t>
            </a:r>
            <a:r>
              <a:rPr lang="en-US" sz="800" dirty="0"/>
              <a:t>b&gt;&lt;/td&gt;</a:t>
            </a:r>
          </a:p>
          <a:p>
            <a:pPr marL="0">
              <a:spcBef>
                <a:spcPts val="0"/>
              </a:spcBef>
            </a:pPr>
            <a:r>
              <a:rPr lang="en-US" sz="800" dirty="0"/>
              <a:t>        &lt;td&gt;&lt;b&gt;</a:t>
            </a:r>
            <a:r>
              <a:rPr lang="ru-RU" sz="800" dirty="0"/>
              <a:t>Ячейка 2.1.2&lt;/</a:t>
            </a:r>
            <a:r>
              <a:rPr lang="en-US" sz="800" dirty="0"/>
              <a:t>b&gt;&lt;/td&gt;</a:t>
            </a:r>
          </a:p>
          <a:p>
            <a:pPr marL="0">
              <a:spcBef>
                <a:spcPts val="0"/>
              </a:spcBef>
            </a:pPr>
            <a:r>
              <a:rPr lang="en-US" sz="800" dirty="0"/>
              <a:t>        &lt;tr align="center"&gt;</a:t>
            </a:r>
          </a:p>
          <a:p>
            <a:pPr marL="0">
              <a:spcBef>
                <a:spcPts val="0"/>
              </a:spcBef>
            </a:pPr>
            <a:r>
              <a:rPr lang="en-US" sz="800" dirty="0"/>
              <a:t>        &lt;td&gt;</a:t>
            </a:r>
            <a:r>
              <a:rPr lang="ru-RU" sz="800" dirty="0"/>
              <a:t>Ячейка 2.2.1&lt;/</a:t>
            </a:r>
            <a:r>
              <a:rPr lang="en-US" sz="800" dirty="0"/>
              <a:t>td&gt;</a:t>
            </a:r>
          </a:p>
          <a:p>
            <a:pPr marL="0">
              <a:spcBef>
                <a:spcPts val="0"/>
              </a:spcBef>
            </a:pPr>
            <a:r>
              <a:rPr lang="en-US" sz="800" dirty="0"/>
              <a:t>        &lt;td&gt;</a:t>
            </a:r>
            <a:r>
              <a:rPr lang="ru-RU" sz="800" dirty="0"/>
              <a:t>Ячейка 2.2.2&lt;/</a:t>
            </a:r>
            <a:r>
              <a:rPr lang="en-US" sz="800" dirty="0"/>
              <a:t>td&gt;</a:t>
            </a:r>
          </a:p>
          <a:p>
            <a:pPr marL="0">
              <a:spcBef>
                <a:spcPts val="0"/>
              </a:spcBef>
            </a:pPr>
            <a:r>
              <a:rPr lang="en-US" sz="800" dirty="0"/>
              <a:t>        &lt;/table&gt;</a:t>
            </a:r>
          </a:p>
          <a:p>
            <a:pPr marL="0">
              <a:spcBef>
                <a:spcPts val="0"/>
              </a:spcBef>
            </a:pPr>
            <a:r>
              <a:rPr lang="en-US" sz="800" dirty="0"/>
              <a:t>        &lt;/td&gt;</a:t>
            </a:r>
          </a:p>
          <a:p>
            <a:pPr marL="0">
              <a:spcBef>
                <a:spcPts val="0"/>
              </a:spcBef>
            </a:pPr>
            <a:r>
              <a:rPr lang="en-US" sz="800" dirty="0"/>
              <a:t>        &lt;td&gt;	</a:t>
            </a:r>
          </a:p>
          <a:p>
            <a:pPr marL="0">
              <a:spcBef>
                <a:spcPts val="0"/>
              </a:spcBef>
            </a:pPr>
            <a:r>
              <a:rPr lang="en-US" sz="800" dirty="0"/>
              <a:t>        &lt;table rules="all" width="300" height="70"&gt;</a:t>
            </a:r>
          </a:p>
          <a:p>
            <a:pPr marL="0">
              <a:spcBef>
                <a:spcPts val="0"/>
              </a:spcBef>
            </a:pPr>
            <a:r>
              <a:rPr lang="en-US" sz="800" dirty="0"/>
              <a:t>        &lt;tr align="center"&gt;</a:t>
            </a:r>
          </a:p>
          <a:p>
            <a:pPr marL="0">
              <a:spcBef>
                <a:spcPts val="0"/>
              </a:spcBef>
            </a:pPr>
            <a:r>
              <a:rPr lang="en-US" sz="800" dirty="0"/>
              <a:t>        &lt;td&gt;</a:t>
            </a:r>
            <a:r>
              <a:rPr lang="ru-RU" sz="800" dirty="0"/>
              <a:t>Ячейка 4.1.1&lt;/</a:t>
            </a:r>
            <a:r>
              <a:rPr lang="en-US" sz="800" dirty="0"/>
              <a:t>td&gt;</a:t>
            </a:r>
          </a:p>
          <a:p>
            <a:pPr marL="0">
              <a:spcBef>
                <a:spcPts val="0"/>
              </a:spcBef>
            </a:pPr>
            <a:r>
              <a:rPr lang="en-US" sz="800" dirty="0"/>
              <a:t>        &lt;td&gt;</a:t>
            </a:r>
            <a:r>
              <a:rPr lang="ru-RU" sz="800" dirty="0"/>
              <a:t>Ячейка 4.1.2&lt;/</a:t>
            </a:r>
            <a:r>
              <a:rPr lang="en-US" sz="800" dirty="0"/>
              <a:t>td&gt;</a:t>
            </a:r>
          </a:p>
          <a:p>
            <a:pPr marL="0">
              <a:spcBef>
                <a:spcPts val="0"/>
              </a:spcBef>
            </a:pPr>
            <a:r>
              <a:rPr lang="en-US" sz="800" dirty="0"/>
              <a:t>        &lt;tr align="center"&gt;</a:t>
            </a:r>
          </a:p>
          <a:p>
            <a:pPr marL="0">
              <a:spcBef>
                <a:spcPts val="0"/>
              </a:spcBef>
            </a:pPr>
            <a:r>
              <a:rPr lang="en-US" sz="800" dirty="0"/>
              <a:t>        &lt;td&gt;&lt;b&gt;&lt;</a:t>
            </a:r>
            <a:r>
              <a:rPr lang="en-US" sz="800" dirty="0" err="1"/>
              <a:t>i</a:t>
            </a:r>
            <a:r>
              <a:rPr lang="en-US" sz="800" dirty="0"/>
              <a:t>&gt;</a:t>
            </a:r>
            <a:r>
              <a:rPr lang="ru-RU" sz="800" dirty="0"/>
              <a:t>Ячейка 4.2.1&lt;/</a:t>
            </a:r>
            <a:r>
              <a:rPr lang="en-US" sz="800" dirty="0" err="1"/>
              <a:t>i</a:t>
            </a:r>
            <a:r>
              <a:rPr lang="en-US" sz="800" dirty="0"/>
              <a:t>&gt;&lt;/b&gt;&lt;/td&gt;</a:t>
            </a:r>
          </a:p>
          <a:p>
            <a:pPr marL="0">
              <a:spcBef>
                <a:spcPts val="0"/>
              </a:spcBef>
            </a:pPr>
            <a:r>
              <a:rPr lang="en-US" sz="800" dirty="0"/>
              <a:t>        &lt;td&gt;&lt;b&gt;&lt;</a:t>
            </a:r>
            <a:r>
              <a:rPr lang="en-US" sz="800" dirty="0" err="1"/>
              <a:t>i</a:t>
            </a:r>
            <a:r>
              <a:rPr lang="en-US" sz="800" dirty="0"/>
              <a:t>&gt;</a:t>
            </a:r>
            <a:r>
              <a:rPr lang="ru-RU" sz="800" dirty="0"/>
              <a:t>Ячейка 4.2.2&lt;/</a:t>
            </a:r>
            <a:r>
              <a:rPr lang="en-US" sz="800" dirty="0" err="1"/>
              <a:t>i</a:t>
            </a:r>
            <a:r>
              <a:rPr lang="en-US" sz="800" dirty="0"/>
              <a:t>&gt;&lt;/b&gt;&lt;/td&gt;</a:t>
            </a:r>
          </a:p>
          <a:p>
            <a:pPr marL="0">
              <a:spcBef>
                <a:spcPts val="0"/>
              </a:spcBef>
            </a:pPr>
            <a:r>
              <a:rPr lang="en-US" sz="800" dirty="0"/>
              <a:t>        &lt;tr align="center"&gt;</a:t>
            </a:r>
          </a:p>
          <a:p>
            <a:pPr marL="0">
              <a:spcBef>
                <a:spcPts val="0"/>
              </a:spcBef>
            </a:pPr>
            <a:r>
              <a:rPr lang="en-US" sz="800" dirty="0"/>
              <a:t>        &lt;td&gt;</a:t>
            </a:r>
            <a:r>
              <a:rPr lang="ru-RU" sz="800" dirty="0"/>
              <a:t>Ячейка 4.2.1&lt;/</a:t>
            </a:r>
            <a:r>
              <a:rPr lang="en-US" sz="800" dirty="0"/>
              <a:t>td&gt;</a:t>
            </a:r>
          </a:p>
          <a:p>
            <a:pPr marL="0">
              <a:spcBef>
                <a:spcPts val="0"/>
              </a:spcBef>
            </a:pPr>
            <a:r>
              <a:rPr lang="en-US" sz="800" dirty="0"/>
              <a:t>        &lt;td&gt;</a:t>
            </a:r>
            <a:r>
              <a:rPr lang="ru-RU" sz="800" dirty="0"/>
              <a:t>Ячейка 4.2.2&lt;/</a:t>
            </a:r>
            <a:r>
              <a:rPr lang="en-US" sz="800" dirty="0"/>
              <a:t>td&gt;</a:t>
            </a:r>
          </a:p>
          <a:p>
            <a:pPr marL="0">
              <a:spcBef>
                <a:spcPts val="0"/>
              </a:spcBef>
            </a:pPr>
            <a:r>
              <a:rPr lang="en-US" sz="800" dirty="0"/>
              <a:t>        &lt;/table&gt;</a:t>
            </a:r>
          </a:p>
          <a:p>
            <a:pPr marL="0">
              <a:spcBef>
                <a:spcPts val="0"/>
              </a:spcBef>
            </a:pPr>
            <a:r>
              <a:rPr lang="en-US" sz="800" dirty="0"/>
              <a:t>        &lt;/td&gt;	</a:t>
            </a:r>
          </a:p>
          <a:p>
            <a:pPr marL="0">
              <a:spcBef>
                <a:spcPts val="0"/>
              </a:spcBef>
            </a:pPr>
            <a:r>
              <a:rPr lang="en-US" sz="800" dirty="0"/>
              <a:t>    &lt;/table&gt;</a:t>
            </a:r>
          </a:p>
          <a:p>
            <a:pPr marL="0">
              <a:spcBef>
                <a:spcPts val="0"/>
              </a:spcBef>
            </a:pPr>
            <a:r>
              <a:rPr lang="en-US" sz="800" dirty="0"/>
              <a:t>    &lt;</a:t>
            </a:r>
            <a:r>
              <a:rPr lang="en-US" sz="800" dirty="0" err="1"/>
              <a:t>hr</a:t>
            </a:r>
            <a:r>
              <a:rPr lang="en-US" sz="800" dirty="0"/>
              <a:t> size="1" color="black"&gt;</a:t>
            </a:r>
          </a:p>
          <a:p>
            <a:pPr marL="0">
              <a:spcBef>
                <a:spcPts val="0"/>
              </a:spcBef>
            </a:pPr>
            <a:r>
              <a:rPr lang="en-US" sz="800" dirty="0"/>
              <a:t>    &lt;p&gt;&lt;b&gt;&lt;big&gt;</a:t>
            </a:r>
            <a:r>
              <a:rPr lang="ru-RU" sz="800" dirty="0"/>
              <a:t>Табличка&lt;/</a:t>
            </a:r>
            <a:r>
              <a:rPr lang="en-US" sz="800" dirty="0"/>
              <a:t>big&gt;&lt;/b&gt;&lt;/p&gt;</a:t>
            </a:r>
          </a:p>
          <a:p>
            <a:pPr marL="0">
              <a:spcBef>
                <a:spcPts val="0"/>
              </a:spcBef>
            </a:pPr>
            <a:r>
              <a:rPr lang="en-US" sz="800" dirty="0"/>
              <a:t>    &lt;table frame="border" border="2" </a:t>
            </a:r>
            <a:r>
              <a:rPr lang="en-US" sz="800" dirty="0" err="1"/>
              <a:t>bgcolor</a:t>
            </a:r>
            <a:r>
              <a:rPr lang="en-US" sz="800" dirty="0"/>
              <a:t>="yellow"&gt;</a:t>
            </a:r>
          </a:p>
          <a:p>
            <a:pPr marL="0">
              <a:spcBef>
                <a:spcPts val="0"/>
              </a:spcBef>
            </a:pPr>
            <a:r>
              <a:rPr lang="en-US" sz="800" dirty="0"/>
              <a:t>    &lt;tr&gt;&lt;td&gt;</a:t>
            </a:r>
            <a:r>
              <a:rPr lang="ru-RU" sz="800" dirty="0"/>
              <a:t>Петровым 2 звонка&lt;/</a:t>
            </a:r>
            <a:r>
              <a:rPr lang="en-US" sz="800" dirty="0"/>
              <a:t>td&gt;</a:t>
            </a:r>
          </a:p>
          <a:p>
            <a:pPr marL="0">
              <a:spcBef>
                <a:spcPts val="0"/>
              </a:spcBef>
            </a:pPr>
            <a:r>
              <a:rPr lang="en-US" sz="800" dirty="0"/>
              <a:t>    &lt;/table&gt;</a:t>
            </a:r>
          </a:p>
          <a:p>
            <a:pPr marL="0">
              <a:spcBef>
                <a:spcPts val="0"/>
              </a:spcBef>
            </a:pPr>
            <a:r>
              <a:rPr lang="en-US" sz="800" dirty="0"/>
              <a:t>    &lt;</a:t>
            </a:r>
            <a:r>
              <a:rPr lang="en-US" sz="800" dirty="0" err="1"/>
              <a:t>hr</a:t>
            </a:r>
            <a:r>
              <a:rPr lang="en-US" sz="800" dirty="0"/>
              <a:t> size="1" color="black"&gt;</a:t>
            </a:r>
          </a:p>
          <a:p>
            <a:pPr marL="0">
              <a:spcBef>
                <a:spcPts val="0"/>
              </a:spcBef>
            </a:pPr>
            <a:r>
              <a:rPr lang="en-US" sz="800" dirty="0"/>
              <a:t>&lt;/body&gt;</a:t>
            </a:r>
          </a:p>
          <a:p>
            <a:pPr marL="0">
              <a:spcBef>
                <a:spcPts val="0"/>
              </a:spcBef>
            </a:pPr>
            <a:r>
              <a:rPr lang="en-US" sz="800" dirty="0"/>
              <a:t>&lt;/html&gt;</a:t>
            </a:r>
            <a:endParaRPr lang="ru-RU" sz="800" dirty="0"/>
          </a:p>
        </p:txBody>
      </p:sp>
    </p:spTree>
    <p:extLst>
      <p:ext uri="{BB962C8B-B14F-4D97-AF65-F5344CB8AC3E}">
        <p14:creationId xmlns:p14="http://schemas.microsoft.com/office/powerpoint/2010/main" val="4045637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06C4D4-2291-C2E3-D7D0-EAD07466130B}"/>
              </a:ext>
            </a:extLst>
          </p:cNvPr>
          <p:cNvSpPr>
            <a:spLocks noGrp="1"/>
          </p:cNvSpPr>
          <p:nvPr>
            <p:ph type="title"/>
          </p:nvPr>
        </p:nvSpPr>
        <p:spPr>
          <a:xfrm>
            <a:off x="409074" y="93600"/>
            <a:ext cx="9365241" cy="1113763"/>
          </a:xfrm>
        </p:spPr>
        <p:txBody>
          <a:bodyPr/>
          <a:lstStyle/>
          <a:p>
            <a:r>
              <a:rPr lang="ru-RU" dirty="0"/>
              <a:t>Ход работы. Задание 3</a:t>
            </a:r>
          </a:p>
        </p:txBody>
      </p:sp>
      <p:sp>
        <p:nvSpPr>
          <p:cNvPr id="3" name="Объект 2">
            <a:extLst>
              <a:ext uri="{FF2B5EF4-FFF2-40B4-BE49-F238E27FC236}">
                <a16:creationId xmlns:a16="http://schemas.microsoft.com/office/drawing/2014/main" id="{A6966A71-BBCC-E9A0-C026-AA1C37329180}"/>
              </a:ext>
            </a:extLst>
          </p:cNvPr>
          <p:cNvSpPr>
            <a:spLocks noGrp="1"/>
          </p:cNvSpPr>
          <p:nvPr>
            <p:ph idx="1"/>
          </p:nvPr>
        </p:nvSpPr>
        <p:spPr>
          <a:xfrm>
            <a:off x="138693" y="3173366"/>
            <a:ext cx="11943426" cy="3591034"/>
          </a:xfrm>
        </p:spPr>
        <p:txBody>
          <a:bodyPr>
            <a:normAutofit fontScale="47500" lnSpcReduction="20000"/>
          </a:bodyPr>
          <a:lstStyle/>
          <a:p>
            <a:pPr marL="0">
              <a:spcBef>
                <a:spcPts val="0"/>
              </a:spcBef>
            </a:pPr>
            <a:r>
              <a:rPr lang="en-US" dirty="0"/>
              <a:t>&lt;!DOCTYPE html&gt;</a:t>
            </a:r>
          </a:p>
          <a:p>
            <a:pPr marL="0">
              <a:spcBef>
                <a:spcPts val="0"/>
              </a:spcBef>
            </a:pPr>
            <a:r>
              <a:rPr lang="en-US" dirty="0"/>
              <a:t>&lt;html lang="</a:t>
            </a:r>
            <a:r>
              <a:rPr lang="en-US" dirty="0" err="1"/>
              <a:t>ru</a:t>
            </a:r>
            <a:r>
              <a:rPr lang="en-US" dirty="0"/>
              <a:t>"&gt;</a:t>
            </a:r>
          </a:p>
          <a:p>
            <a:pPr marL="0">
              <a:spcBef>
                <a:spcPts val="0"/>
              </a:spcBef>
            </a:pPr>
            <a:r>
              <a:rPr lang="en-US" dirty="0"/>
              <a:t>&lt;head&gt;</a:t>
            </a:r>
          </a:p>
          <a:p>
            <a:pPr marL="0">
              <a:spcBef>
                <a:spcPts val="0"/>
              </a:spcBef>
            </a:pPr>
            <a:r>
              <a:rPr lang="en-US" dirty="0"/>
              <a:t>    &lt;meta charset="UTF-8"&gt;</a:t>
            </a:r>
          </a:p>
          <a:p>
            <a:pPr marL="0">
              <a:spcBef>
                <a:spcPts val="0"/>
              </a:spcBef>
            </a:pPr>
            <a:r>
              <a:rPr lang="en-US" dirty="0"/>
              <a:t>    &lt;title&gt;</a:t>
            </a:r>
            <a:r>
              <a:rPr lang="ru-RU" dirty="0"/>
              <a:t>Задание 3. Форматирование таблицы&lt;/</a:t>
            </a:r>
            <a:r>
              <a:rPr lang="en-US" dirty="0"/>
              <a:t>title&gt;</a:t>
            </a:r>
          </a:p>
          <a:p>
            <a:pPr marL="0">
              <a:spcBef>
                <a:spcPts val="0"/>
              </a:spcBef>
            </a:pPr>
            <a:r>
              <a:rPr lang="en-US" dirty="0"/>
              <a:t>&lt;/head&gt;</a:t>
            </a:r>
          </a:p>
          <a:p>
            <a:pPr marL="0">
              <a:spcBef>
                <a:spcPts val="0"/>
              </a:spcBef>
            </a:pPr>
            <a:r>
              <a:rPr lang="en-US" dirty="0"/>
              <a:t>&lt;body&gt;</a:t>
            </a:r>
          </a:p>
          <a:p>
            <a:pPr marL="0">
              <a:spcBef>
                <a:spcPts val="0"/>
              </a:spcBef>
            </a:pPr>
            <a:r>
              <a:rPr lang="en-US" dirty="0"/>
              <a:t>    &lt;table border="3" width="100%" height="100%"&gt;</a:t>
            </a:r>
          </a:p>
          <a:p>
            <a:pPr marL="0">
              <a:spcBef>
                <a:spcPts val="0"/>
              </a:spcBef>
            </a:pPr>
            <a:r>
              <a:rPr lang="en-US" dirty="0"/>
              <a:t>        &lt;tr align="center" </a:t>
            </a:r>
            <a:r>
              <a:rPr lang="en-US" dirty="0" err="1"/>
              <a:t>valign</a:t>
            </a:r>
            <a:r>
              <a:rPr lang="en-US" dirty="0"/>
              <a:t>="middle" style="</a:t>
            </a:r>
            <a:r>
              <a:rPr lang="en-US" dirty="0" err="1"/>
              <a:t>color:white</a:t>
            </a:r>
            <a:r>
              <a:rPr lang="en-US" dirty="0"/>
              <a:t>"&gt;</a:t>
            </a:r>
          </a:p>
          <a:p>
            <a:pPr marL="0">
              <a:spcBef>
                <a:spcPts val="0"/>
              </a:spcBef>
            </a:pPr>
            <a:r>
              <a:rPr lang="en-US" dirty="0"/>
              <a:t>            &lt;td </a:t>
            </a:r>
            <a:r>
              <a:rPr lang="en-US" dirty="0" err="1"/>
              <a:t>bgcolor</a:t>
            </a:r>
            <a:r>
              <a:rPr lang="en-US" dirty="0"/>
              <a:t>="green"&gt;&lt;b&gt;1&lt;/b&gt;&lt;/td&gt;</a:t>
            </a:r>
          </a:p>
          <a:p>
            <a:pPr marL="0">
              <a:spcBef>
                <a:spcPts val="0"/>
              </a:spcBef>
            </a:pPr>
            <a:r>
              <a:rPr lang="en-US" dirty="0"/>
              <a:t>            &lt;td </a:t>
            </a:r>
            <a:r>
              <a:rPr lang="en-US" dirty="0" err="1"/>
              <a:t>bgcolor</a:t>
            </a:r>
            <a:r>
              <a:rPr lang="en-US" dirty="0"/>
              <a:t>="red"&gt;&lt;b&gt;2&lt;/b&gt;&lt;/td&gt;</a:t>
            </a:r>
          </a:p>
          <a:p>
            <a:pPr marL="0">
              <a:spcBef>
                <a:spcPts val="0"/>
              </a:spcBef>
            </a:pPr>
            <a:r>
              <a:rPr lang="en-US" dirty="0"/>
              <a:t>            &lt;td </a:t>
            </a:r>
            <a:r>
              <a:rPr lang="en-US" dirty="0" err="1"/>
              <a:t>bgcolor</a:t>
            </a:r>
            <a:r>
              <a:rPr lang="en-US" dirty="0"/>
              <a:t>="blue"&gt;&lt;b&gt;3&lt;/b&gt;&lt;/td&gt;</a:t>
            </a:r>
          </a:p>
          <a:p>
            <a:pPr marL="0">
              <a:spcBef>
                <a:spcPts val="0"/>
              </a:spcBef>
            </a:pPr>
            <a:r>
              <a:rPr lang="en-US" dirty="0"/>
              <a:t>        &lt;tr align="center" style="</a:t>
            </a:r>
            <a:r>
              <a:rPr lang="en-US" dirty="0" err="1"/>
              <a:t>color:white</a:t>
            </a:r>
            <a:r>
              <a:rPr lang="en-US" dirty="0"/>
              <a:t>"&gt;</a:t>
            </a:r>
          </a:p>
          <a:p>
            <a:pPr marL="0">
              <a:spcBef>
                <a:spcPts val="0"/>
              </a:spcBef>
            </a:pPr>
            <a:r>
              <a:rPr lang="en-US" dirty="0"/>
              <a:t>            &lt;td </a:t>
            </a:r>
            <a:r>
              <a:rPr lang="en-US" dirty="0" err="1"/>
              <a:t>bgcolor</a:t>
            </a:r>
            <a:r>
              <a:rPr lang="en-US" dirty="0"/>
              <a:t>="green"&gt;4&lt;/td&gt;</a:t>
            </a:r>
          </a:p>
          <a:p>
            <a:pPr marL="0">
              <a:spcBef>
                <a:spcPts val="0"/>
              </a:spcBef>
            </a:pPr>
            <a:r>
              <a:rPr lang="en-US" dirty="0"/>
              <a:t>            &lt;td </a:t>
            </a:r>
            <a:r>
              <a:rPr lang="en-US" dirty="0" err="1"/>
              <a:t>bgcolor</a:t>
            </a:r>
            <a:r>
              <a:rPr lang="en-US" dirty="0"/>
              <a:t>="red"&gt;5&lt;/td&gt;</a:t>
            </a:r>
          </a:p>
          <a:p>
            <a:pPr marL="0">
              <a:spcBef>
                <a:spcPts val="0"/>
              </a:spcBef>
            </a:pPr>
            <a:r>
              <a:rPr lang="en-US" dirty="0"/>
              <a:t>            &lt;td </a:t>
            </a:r>
            <a:r>
              <a:rPr lang="en-US" dirty="0" err="1"/>
              <a:t>bgcolor</a:t>
            </a:r>
            <a:r>
              <a:rPr lang="en-US" dirty="0"/>
              <a:t>="blue"&gt;&lt;b&gt;6&lt;/b&gt;&lt;/td&gt;</a:t>
            </a:r>
          </a:p>
          <a:p>
            <a:pPr marL="0">
              <a:spcBef>
                <a:spcPts val="0"/>
              </a:spcBef>
            </a:pPr>
            <a:r>
              <a:rPr lang="en-US" dirty="0"/>
              <a:t>        &lt;tr align="center" style="</a:t>
            </a:r>
            <a:r>
              <a:rPr lang="en-US" dirty="0" err="1"/>
              <a:t>color:white</a:t>
            </a:r>
            <a:r>
              <a:rPr lang="en-US" dirty="0"/>
              <a:t>"&gt;</a:t>
            </a:r>
          </a:p>
          <a:p>
            <a:pPr marL="0">
              <a:spcBef>
                <a:spcPts val="0"/>
              </a:spcBef>
            </a:pPr>
            <a:r>
              <a:rPr lang="en-US" dirty="0"/>
              <a:t>            &lt;td </a:t>
            </a:r>
            <a:r>
              <a:rPr lang="en-US" dirty="0" err="1"/>
              <a:t>bgcolor</a:t>
            </a:r>
            <a:r>
              <a:rPr lang="en-US" dirty="0"/>
              <a:t>="green"&gt;7&lt;/td&gt;</a:t>
            </a:r>
          </a:p>
          <a:p>
            <a:pPr marL="0">
              <a:spcBef>
                <a:spcPts val="0"/>
              </a:spcBef>
            </a:pPr>
            <a:r>
              <a:rPr lang="en-US" dirty="0"/>
              <a:t>            &lt;td </a:t>
            </a:r>
            <a:r>
              <a:rPr lang="en-US" dirty="0" err="1"/>
              <a:t>bgcolor</a:t>
            </a:r>
            <a:r>
              <a:rPr lang="en-US" dirty="0"/>
              <a:t>="red"&gt;8&lt;/td&gt;</a:t>
            </a:r>
          </a:p>
          <a:p>
            <a:pPr marL="0">
              <a:spcBef>
                <a:spcPts val="0"/>
              </a:spcBef>
            </a:pPr>
            <a:r>
              <a:rPr lang="en-US" dirty="0"/>
              <a:t>            &lt;td </a:t>
            </a:r>
            <a:r>
              <a:rPr lang="en-US" dirty="0" err="1"/>
              <a:t>bgcolor</a:t>
            </a:r>
            <a:r>
              <a:rPr lang="en-US" dirty="0"/>
              <a:t>="blue"&gt;&lt;b&gt;9&lt;/b&gt;&lt;/td&gt;</a:t>
            </a:r>
          </a:p>
          <a:p>
            <a:pPr marL="0">
              <a:spcBef>
                <a:spcPts val="0"/>
              </a:spcBef>
            </a:pPr>
            <a:r>
              <a:rPr lang="en-US" dirty="0"/>
              <a:t>        &lt;/table&gt;    </a:t>
            </a:r>
          </a:p>
          <a:p>
            <a:pPr marL="0">
              <a:spcBef>
                <a:spcPts val="0"/>
              </a:spcBef>
            </a:pPr>
            <a:r>
              <a:rPr lang="en-US" dirty="0"/>
              <a:t>&lt;/body&gt;</a:t>
            </a:r>
          </a:p>
          <a:p>
            <a:pPr marL="0">
              <a:spcBef>
                <a:spcPts val="0"/>
              </a:spcBef>
            </a:pPr>
            <a:r>
              <a:rPr lang="en-US" dirty="0"/>
              <a:t>&lt;/html&gt;</a:t>
            </a:r>
          </a:p>
        </p:txBody>
      </p:sp>
      <p:pic>
        <p:nvPicPr>
          <p:cNvPr id="5" name="Рисунок 4">
            <a:extLst>
              <a:ext uri="{FF2B5EF4-FFF2-40B4-BE49-F238E27FC236}">
                <a16:creationId xmlns:a16="http://schemas.microsoft.com/office/drawing/2014/main" id="{8479E497-D29F-EB47-9E79-C14812E724BE}"/>
              </a:ext>
            </a:extLst>
          </p:cNvPr>
          <p:cNvPicPr>
            <a:picLocks noChangeAspect="1"/>
          </p:cNvPicPr>
          <p:nvPr/>
        </p:nvPicPr>
        <p:blipFill>
          <a:blip r:embed="rId2"/>
          <a:stretch>
            <a:fillRect/>
          </a:stretch>
        </p:blipFill>
        <p:spPr>
          <a:xfrm>
            <a:off x="277386" y="1329559"/>
            <a:ext cx="11666040" cy="1462992"/>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786990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74F8A-5D07-8E06-41E3-C6DCDBC772C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F100F4-FB05-5594-3310-35E4E7FB1117}"/>
              </a:ext>
            </a:extLst>
          </p:cNvPr>
          <p:cNvSpPr>
            <a:spLocks noGrp="1"/>
          </p:cNvSpPr>
          <p:nvPr>
            <p:ph type="title"/>
          </p:nvPr>
        </p:nvSpPr>
        <p:spPr>
          <a:xfrm>
            <a:off x="409074" y="93600"/>
            <a:ext cx="9365241" cy="1113763"/>
          </a:xfrm>
        </p:spPr>
        <p:txBody>
          <a:bodyPr/>
          <a:lstStyle/>
          <a:p>
            <a:r>
              <a:rPr lang="ru-RU" dirty="0"/>
              <a:t>Ход работы. Задание 4</a:t>
            </a:r>
          </a:p>
        </p:txBody>
      </p:sp>
      <p:sp>
        <p:nvSpPr>
          <p:cNvPr id="3" name="Объект 2">
            <a:extLst>
              <a:ext uri="{FF2B5EF4-FFF2-40B4-BE49-F238E27FC236}">
                <a16:creationId xmlns:a16="http://schemas.microsoft.com/office/drawing/2014/main" id="{07825FB6-D3B0-F67C-EDCD-BCDA99CCC9C3}"/>
              </a:ext>
            </a:extLst>
          </p:cNvPr>
          <p:cNvSpPr>
            <a:spLocks noGrp="1"/>
          </p:cNvSpPr>
          <p:nvPr>
            <p:ph idx="1"/>
          </p:nvPr>
        </p:nvSpPr>
        <p:spPr>
          <a:xfrm>
            <a:off x="138693" y="4389120"/>
            <a:ext cx="11943426" cy="2375280"/>
          </a:xfrm>
        </p:spPr>
        <p:txBody>
          <a:bodyPr>
            <a:normAutofit fontScale="25000" lnSpcReduction="20000"/>
          </a:bodyPr>
          <a:lstStyle/>
          <a:p>
            <a:pPr marL="0">
              <a:spcBef>
                <a:spcPts val="0"/>
              </a:spcBef>
            </a:pPr>
            <a:r>
              <a:rPr lang="en-US" dirty="0"/>
              <a:t>&lt;!DOCTYPE html&gt;</a:t>
            </a:r>
          </a:p>
          <a:p>
            <a:pPr marL="0">
              <a:spcBef>
                <a:spcPts val="0"/>
              </a:spcBef>
            </a:pPr>
            <a:r>
              <a:rPr lang="en-US" dirty="0"/>
              <a:t>&lt;html lang="</a:t>
            </a:r>
            <a:r>
              <a:rPr lang="en-US" dirty="0" err="1"/>
              <a:t>ru</a:t>
            </a:r>
            <a:r>
              <a:rPr lang="en-US" dirty="0"/>
              <a:t>"&gt;</a:t>
            </a:r>
          </a:p>
          <a:p>
            <a:pPr marL="0">
              <a:spcBef>
                <a:spcPts val="0"/>
              </a:spcBef>
            </a:pPr>
            <a:r>
              <a:rPr lang="en-US" dirty="0"/>
              <a:t>&lt;head&gt;</a:t>
            </a:r>
          </a:p>
          <a:p>
            <a:pPr marL="0">
              <a:spcBef>
                <a:spcPts val="0"/>
              </a:spcBef>
            </a:pPr>
            <a:r>
              <a:rPr lang="en-US" dirty="0"/>
              <a:t>    &lt;meta charset="UTF-8"&gt;</a:t>
            </a:r>
          </a:p>
          <a:p>
            <a:pPr marL="0">
              <a:spcBef>
                <a:spcPts val="0"/>
              </a:spcBef>
            </a:pPr>
            <a:r>
              <a:rPr lang="en-US" dirty="0"/>
              <a:t>    &lt;title&gt;</a:t>
            </a:r>
            <a:r>
              <a:rPr lang="ru-RU" dirty="0"/>
              <a:t>Задание 4. Заполнение таблицы&lt;/</a:t>
            </a:r>
            <a:r>
              <a:rPr lang="en-US" dirty="0"/>
              <a:t>title&gt;</a:t>
            </a:r>
          </a:p>
          <a:p>
            <a:pPr marL="0">
              <a:spcBef>
                <a:spcPts val="0"/>
              </a:spcBef>
            </a:pPr>
            <a:r>
              <a:rPr lang="en-US" dirty="0"/>
              <a:t>&lt;/head&gt;</a:t>
            </a:r>
          </a:p>
          <a:p>
            <a:pPr marL="0">
              <a:spcBef>
                <a:spcPts val="0"/>
              </a:spcBef>
            </a:pPr>
            <a:r>
              <a:rPr lang="en-US" dirty="0"/>
              <a:t>&lt;body&gt;</a:t>
            </a:r>
          </a:p>
          <a:p>
            <a:pPr marL="0">
              <a:spcBef>
                <a:spcPts val="0"/>
              </a:spcBef>
            </a:pPr>
            <a:r>
              <a:rPr lang="en-US" dirty="0"/>
              <a:t>    &lt;table border="3" width="100%" height="300px"&gt;</a:t>
            </a:r>
          </a:p>
          <a:p>
            <a:pPr marL="0">
              <a:spcBef>
                <a:spcPts val="0"/>
              </a:spcBef>
            </a:pPr>
            <a:r>
              <a:rPr lang="en-US" dirty="0"/>
              <a:t>        &lt;tr align="center" </a:t>
            </a:r>
            <a:r>
              <a:rPr lang="en-US" dirty="0" err="1"/>
              <a:t>valign</a:t>
            </a:r>
            <a:r>
              <a:rPr lang="en-US" dirty="0"/>
              <a:t>="middle" style="</a:t>
            </a:r>
            <a:r>
              <a:rPr lang="en-US" dirty="0" err="1"/>
              <a:t>color:white</a:t>
            </a:r>
            <a:r>
              <a:rPr lang="en-US" dirty="0"/>
              <a:t>"&gt;</a:t>
            </a:r>
          </a:p>
          <a:p>
            <a:pPr marL="0">
              <a:spcBef>
                <a:spcPts val="0"/>
              </a:spcBef>
            </a:pPr>
            <a:r>
              <a:rPr lang="en-US" dirty="0"/>
              <a:t>            &lt;td </a:t>
            </a:r>
            <a:r>
              <a:rPr lang="en-US" dirty="0" err="1"/>
              <a:t>bgcolor</a:t>
            </a:r>
            <a:r>
              <a:rPr lang="en-US" dirty="0"/>
              <a:t>="green"&gt;&lt;</a:t>
            </a:r>
            <a:r>
              <a:rPr lang="en-US" dirty="0" err="1"/>
              <a:t>img</a:t>
            </a:r>
            <a:r>
              <a:rPr lang="en-US" dirty="0"/>
              <a:t> </a:t>
            </a:r>
            <a:r>
              <a:rPr lang="en-US" dirty="0" err="1"/>
              <a:t>src</a:t>
            </a:r>
            <a:r>
              <a:rPr lang="en-US" dirty="0"/>
              <a:t>="</a:t>
            </a:r>
            <a:r>
              <a:rPr lang="ru-RU" dirty="0"/>
              <a:t>соня).</a:t>
            </a:r>
            <a:r>
              <a:rPr lang="en-US" dirty="0"/>
              <a:t>jpg" alt="</a:t>
            </a:r>
            <a:r>
              <a:rPr lang="ru-RU" dirty="0"/>
              <a:t>Рисунок 1 - </a:t>
            </a:r>
            <a:r>
              <a:rPr lang="en-US" dirty="0"/>
              <a:t>Jester" border="2" width="150" height="150"&gt;&lt;/td&gt;</a:t>
            </a:r>
          </a:p>
          <a:p>
            <a:pPr marL="0">
              <a:spcBef>
                <a:spcPts val="0"/>
              </a:spcBef>
            </a:pPr>
            <a:r>
              <a:rPr lang="en-US" dirty="0"/>
              <a:t>            &lt;td </a:t>
            </a:r>
            <a:r>
              <a:rPr lang="en-US" dirty="0" err="1"/>
              <a:t>bgcolor</a:t>
            </a:r>
            <a:r>
              <a:rPr lang="en-US" dirty="0"/>
              <a:t>="red"&gt;&lt;b&gt;2&lt;/b&gt;&lt;/td&gt;</a:t>
            </a:r>
          </a:p>
          <a:p>
            <a:pPr marL="0">
              <a:spcBef>
                <a:spcPts val="0"/>
              </a:spcBef>
            </a:pPr>
            <a:r>
              <a:rPr lang="en-US" dirty="0"/>
              <a:t>            &lt;td </a:t>
            </a:r>
            <a:r>
              <a:rPr lang="en-US" dirty="0" err="1"/>
              <a:t>bgcolor</a:t>
            </a:r>
            <a:r>
              <a:rPr lang="en-US" dirty="0"/>
              <a:t>="blue"&gt;&lt;b&gt;3&lt;/b&gt;&lt;/td&gt;</a:t>
            </a:r>
          </a:p>
          <a:p>
            <a:pPr marL="0">
              <a:spcBef>
                <a:spcPts val="0"/>
              </a:spcBef>
            </a:pPr>
            <a:r>
              <a:rPr lang="en-US" dirty="0"/>
              <a:t>        &lt;tr align="center" style="</a:t>
            </a:r>
            <a:r>
              <a:rPr lang="en-US" dirty="0" err="1"/>
              <a:t>color:white</a:t>
            </a:r>
            <a:r>
              <a:rPr lang="en-US" dirty="0"/>
              <a:t>"&gt;</a:t>
            </a:r>
          </a:p>
          <a:p>
            <a:pPr marL="0">
              <a:spcBef>
                <a:spcPts val="0"/>
              </a:spcBef>
            </a:pPr>
            <a:r>
              <a:rPr lang="en-US" dirty="0"/>
              <a:t>            &lt;td </a:t>
            </a:r>
            <a:r>
              <a:rPr lang="en-US" dirty="0" err="1"/>
              <a:t>bgcolor</a:t>
            </a:r>
            <a:r>
              <a:rPr lang="en-US" dirty="0"/>
              <a:t>="green"&gt;4&lt;/td&gt;</a:t>
            </a:r>
          </a:p>
          <a:p>
            <a:pPr marL="0">
              <a:spcBef>
                <a:spcPts val="0"/>
              </a:spcBef>
            </a:pPr>
            <a:r>
              <a:rPr lang="en-US" dirty="0"/>
              <a:t>            &lt;td </a:t>
            </a:r>
            <a:r>
              <a:rPr lang="en-US" dirty="0" err="1"/>
              <a:t>bgcolor</a:t>
            </a:r>
            <a:r>
              <a:rPr lang="en-US" dirty="0"/>
              <a:t>="red"&gt;</a:t>
            </a:r>
            <a:r>
              <a:rPr lang="ru-RU" dirty="0"/>
              <a:t>Мы умираем, но любовь,&lt;</a:t>
            </a:r>
            <a:r>
              <a:rPr lang="en-US" dirty="0" err="1"/>
              <a:t>br</a:t>
            </a:r>
            <a:r>
              <a:rPr lang="en-US" dirty="0"/>
              <a:t>&gt; </a:t>
            </a:r>
          </a:p>
          <a:p>
            <a:pPr marL="0">
              <a:spcBef>
                <a:spcPts val="0"/>
              </a:spcBef>
            </a:pPr>
            <a:r>
              <a:rPr lang="en-US" dirty="0"/>
              <a:t>                </a:t>
            </a:r>
            <a:r>
              <a:rPr lang="ru-RU" dirty="0"/>
              <a:t>Не умирает никогда!&lt;</a:t>
            </a:r>
            <a:r>
              <a:rPr lang="en-US" dirty="0" err="1"/>
              <a:t>br</a:t>
            </a:r>
            <a:r>
              <a:rPr lang="en-US" dirty="0"/>
              <a:t>&gt;</a:t>
            </a:r>
          </a:p>
          <a:p>
            <a:pPr marL="0">
              <a:spcBef>
                <a:spcPts val="0"/>
              </a:spcBef>
            </a:pPr>
            <a:r>
              <a:rPr lang="en-US" dirty="0"/>
              <a:t>                </a:t>
            </a:r>
            <a:r>
              <a:rPr lang="ru-RU" dirty="0"/>
              <a:t>Она как ангел света вновь.&lt;</a:t>
            </a:r>
            <a:r>
              <a:rPr lang="en-US" dirty="0" err="1"/>
              <a:t>br</a:t>
            </a:r>
            <a:r>
              <a:rPr lang="en-US" dirty="0"/>
              <a:t>&gt;</a:t>
            </a:r>
          </a:p>
          <a:p>
            <a:pPr marL="0">
              <a:spcBef>
                <a:spcPts val="0"/>
              </a:spcBef>
            </a:pPr>
            <a:r>
              <a:rPr lang="en-US" dirty="0"/>
              <a:t>                </a:t>
            </a:r>
            <a:r>
              <a:rPr lang="ru-RU" dirty="0"/>
              <a:t>Из тьмы нас выведет всегда!!!&lt;/</a:t>
            </a:r>
            <a:r>
              <a:rPr lang="en-US" dirty="0"/>
              <a:t>td&gt;</a:t>
            </a:r>
          </a:p>
          <a:p>
            <a:pPr marL="0">
              <a:spcBef>
                <a:spcPts val="0"/>
              </a:spcBef>
            </a:pPr>
            <a:r>
              <a:rPr lang="en-US" dirty="0"/>
              <a:t>            &lt;td </a:t>
            </a:r>
            <a:r>
              <a:rPr lang="en-US" dirty="0" err="1"/>
              <a:t>bgcolor</a:t>
            </a:r>
            <a:r>
              <a:rPr lang="en-US" dirty="0"/>
              <a:t>="red"&gt;&lt;b&gt;6&lt;/b&gt;&lt;/td&gt;</a:t>
            </a:r>
          </a:p>
          <a:p>
            <a:pPr marL="0">
              <a:spcBef>
                <a:spcPts val="0"/>
              </a:spcBef>
            </a:pPr>
            <a:r>
              <a:rPr lang="en-US" dirty="0"/>
              <a:t>        &lt;tr align="center" style="</a:t>
            </a:r>
            <a:r>
              <a:rPr lang="en-US" dirty="0" err="1"/>
              <a:t>color:white</a:t>
            </a:r>
            <a:r>
              <a:rPr lang="en-US" dirty="0"/>
              <a:t>"&gt;</a:t>
            </a:r>
          </a:p>
          <a:p>
            <a:pPr marL="0">
              <a:spcBef>
                <a:spcPts val="0"/>
              </a:spcBef>
            </a:pPr>
            <a:r>
              <a:rPr lang="en-US" dirty="0"/>
              <a:t>            &lt;td </a:t>
            </a:r>
            <a:r>
              <a:rPr lang="en-US" dirty="0" err="1"/>
              <a:t>bgcolor</a:t>
            </a:r>
            <a:r>
              <a:rPr lang="en-US" dirty="0"/>
              <a:t>="green"&gt;7&lt;/td&gt;</a:t>
            </a:r>
          </a:p>
          <a:p>
            <a:pPr marL="0">
              <a:spcBef>
                <a:spcPts val="0"/>
              </a:spcBef>
            </a:pPr>
            <a:r>
              <a:rPr lang="en-US" dirty="0"/>
              <a:t>            &lt;td </a:t>
            </a:r>
            <a:r>
              <a:rPr lang="en-US" dirty="0" err="1"/>
              <a:t>bgcolor</a:t>
            </a:r>
            <a:r>
              <a:rPr lang="en-US" dirty="0"/>
              <a:t>="red"&gt;8&lt;/td&gt;</a:t>
            </a:r>
          </a:p>
          <a:p>
            <a:pPr marL="0">
              <a:spcBef>
                <a:spcPts val="0"/>
              </a:spcBef>
            </a:pPr>
            <a:r>
              <a:rPr lang="en-US" dirty="0"/>
              <a:t>            &lt;td </a:t>
            </a:r>
            <a:r>
              <a:rPr lang="en-US" dirty="0" err="1"/>
              <a:t>bgcolor</a:t>
            </a:r>
            <a:r>
              <a:rPr lang="en-US" dirty="0"/>
              <a:t>="blue"&gt;&lt;b&gt;9&lt;/b&gt;&lt;/td&gt;</a:t>
            </a:r>
          </a:p>
          <a:p>
            <a:pPr marL="0">
              <a:spcBef>
                <a:spcPts val="0"/>
              </a:spcBef>
            </a:pPr>
            <a:r>
              <a:rPr lang="en-US" dirty="0"/>
              <a:t>        &lt;/table&gt;    </a:t>
            </a:r>
          </a:p>
          <a:p>
            <a:pPr marL="0">
              <a:spcBef>
                <a:spcPts val="0"/>
              </a:spcBef>
            </a:pPr>
            <a:r>
              <a:rPr lang="en-US" dirty="0"/>
              <a:t>&lt;/body&gt;</a:t>
            </a:r>
          </a:p>
          <a:p>
            <a:pPr marL="0">
              <a:spcBef>
                <a:spcPts val="0"/>
              </a:spcBef>
            </a:pPr>
            <a:r>
              <a:rPr lang="en-US" dirty="0"/>
              <a:t>&lt;/html&gt;</a:t>
            </a:r>
          </a:p>
        </p:txBody>
      </p:sp>
      <p:pic>
        <p:nvPicPr>
          <p:cNvPr id="6" name="Рисунок 5">
            <a:extLst>
              <a:ext uri="{FF2B5EF4-FFF2-40B4-BE49-F238E27FC236}">
                <a16:creationId xmlns:a16="http://schemas.microsoft.com/office/drawing/2014/main" id="{848D8536-ECDD-919B-EDBD-913D3167356D}"/>
              </a:ext>
            </a:extLst>
          </p:cNvPr>
          <p:cNvPicPr>
            <a:picLocks noChangeAspect="1"/>
          </p:cNvPicPr>
          <p:nvPr/>
        </p:nvPicPr>
        <p:blipFill>
          <a:blip r:embed="rId2"/>
          <a:srcRect b="11013"/>
          <a:stretch>
            <a:fillRect/>
          </a:stretch>
        </p:blipFill>
        <p:spPr>
          <a:xfrm>
            <a:off x="409074" y="1207363"/>
            <a:ext cx="11232682" cy="2818534"/>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561489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A4ED1-3BA7-4C04-60AE-6C8373CFB8E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47AD0A-744F-F16F-E4F0-91D00B19B54E}"/>
              </a:ext>
            </a:extLst>
          </p:cNvPr>
          <p:cNvSpPr>
            <a:spLocks noGrp="1"/>
          </p:cNvSpPr>
          <p:nvPr>
            <p:ph type="title"/>
          </p:nvPr>
        </p:nvSpPr>
        <p:spPr>
          <a:xfrm>
            <a:off x="409074" y="93600"/>
            <a:ext cx="9365241" cy="1113763"/>
          </a:xfrm>
        </p:spPr>
        <p:txBody>
          <a:bodyPr/>
          <a:lstStyle/>
          <a:p>
            <a:r>
              <a:rPr lang="ru-RU" dirty="0"/>
              <a:t>Ход работы. Задание 5</a:t>
            </a:r>
          </a:p>
        </p:txBody>
      </p:sp>
      <p:pic>
        <p:nvPicPr>
          <p:cNvPr id="5" name="Рисунок 4">
            <a:extLst>
              <a:ext uri="{FF2B5EF4-FFF2-40B4-BE49-F238E27FC236}">
                <a16:creationId xmlns:a16="http://schemas.microsoft.com/office/drawing/2014/main" id="{CB2396F0-355E-F503-6139-726FADC79BCC}"/>
              </a:ext>
            </a:extLst>
          </p:cNvPr>
          <p:cNvPicPr>
            <a:picLocks noChangeAspect="1"/>
          </p:cNvPicPr>
          <p:nvPr/>
        </p:nvPicPr>
        <p:blipFill>
          <a:blip r:embed="rId2"/>
          <a:stretch>
            <a:fillRect/>
          </a:stretch>
        </p:blipFill>
        <p:spPr>
          <a:xfrm>
            <a:off x="235819" y="1322866"/>
            <a:ext cx="11720362" cy="4784363"/>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324803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4A628-C118-053F-B424-F521F2CB241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D49DDC-55D9-7D42-D2B1-73D50A5A84D1}"/>
              </a:ext>
            </a:extLst>
          </p:cNvPr>
          <p:cNvSpPr>
            <a:spLocks noGrp="1"/>
          </p:cNvSpPr>
          <p:nvPr>
            <p:ph type="title"/>
          </p:nvPr>
        </p:nvSpPr>
        <p:spPr>
          <a:xfrm>
            <a:off x="409074" y="93600"/>
            <a:ext cx="9365241" cy="1113763"/>
          </a:xfrm>
        </p:spPr>
        <p:txBody>
          <a:bodyPr/>
          <a:lstStyle/>
          <a:p>
            <a:r>
              <a:rPr lang="ru-RU" dirty="0"/>
              <a:t>Ход работы. Задание 5</a:t>
            </a:r>
          </a:p>
        </p:txBody>
      </p:sp>
      <p:sp>
        <p:nvSpPr>
          <p:cNvPr id="10" name="TextBox 9">
            <a:extLst>
              <a:ext uri="{FF2B5EF4-FFF2-40B4-BE49-F238E27FC236}">
                <a16:creationId xmlns:a16="http://schemas.microsoft.com/office/drawing/2014/main" id="{602794AD-7FE8-E4EC-7C19-2D6468A4EE4B}"/>
              </a:ext>
            </a:extLst>
          </p:cNvPr>
          <p:cNvSpPr txBox="1"/>
          <p:nvPr/>
        </p:nvSpPr>
        <p:spPr>
          <a:xfrm>
            <a:off x="409074" y="1015466"/>
            <a:ext cx="4061861" cy="5516895"/>
          </a:xfrm>
          <a:prstGeom prst="rect">
            <a:avLst/>
          </a:prstGeom>
          <a:noFill/>
        </p:spPr>
        <p:txBody>
          <a:bodyPr wrap="square">
            <a:spAutoFit/>
          </a:bodyPr>
          <a:lstStyle/>
          <a:p>
            <a:pPr marL="0">
              <a:spcBef>
                <a:spcPts val="0"/>
              </a:spcBef>
            </a:pPr>
            <a:r>
              <a:rPr lang="en-US" sz="750" dirty="0"/>
              <a:t>&lt;!DOCTYPE html&gt;</a:t>
            </a:r>
          </a:p>
          <a:p>
            <a:pPr marL="0">
              <a:spcBef>
                <a:spcPts val="0"/>
              </a:spcBef>
            </a:pPr>
            <a:r>
              <a:rPr lang="en-US" sz="750" dirty="0"/>
              <a:t>&lt;html lang="</a:t>
            </a:r>
            <a:r>
              <a:rPr lang="en-US" sz="750" dirty="0" err="1"/>
              <a:t>ru</a:t>
            </a:r>
            <a:r>
              <a:rPr lang="en-US" sz="750" dirty="0"/>
              <a:t>"&gt;</a:t>
            </a:r>
          </a:p>
          <a:p>
            <a:pPr marL="0">
              <a:spcBef>
                <a:spcPts val="0"/>
              </a:spcBef>
            </a:pPr>
            <a:r>
              <a:rPr lang="en-US" sz="750" dirty="0"/>
              <a:t>&lt;head&gt;</a:t>
            </a:r>
          </a:p>
          <a:p>
            <a:pPr marL="0">
              <a:spcBef>
                <a:spcPts val="0"/>
              </a:spcBef>
            </a:pPr>
            <a:r>
              <a:rPr lang="en-US" sz="750" dirty="0"/>
              <a:t>    &lt;meta charset="UTF-8"&gt;</a:t>
            </a:r>
          </a:p>
          <a:p>
            <a:pPr marL="0">
              <a:spcBef>
                <a:spcPts val="0"/>
              </a:spcBef>
            </a:pPr>
            <a:r>
              <a:rPr lang="en-US" sz="750" dirty="0"/>
              <a:t>    &lt;title&gt;</a:t>
            </a:r>
            <a:r>
              <a:rPr lang="ru-RU" sz="750" dirty="0"/>
              <a:t>Задание 5. Расписание занятий&lt;/</a:t>
            </a:r>
            <a:r>
              <a:rPr lang="en-US" sz="750" dirty="0"/>
              <a:t>title&gt;</a:t>
            </a:r>
          </a:p>
          <a:p>
            <a:pPr marL="0">
              <a:spcBef>
                <a:spcPts val="0"/>
              </a:spcBef>
            </a:pPr>
            <a:r>
              <a:rPr lang="en-US" sz="750" dirty="0"/>
              <a:t>&lt;/head&gt;</a:t>
            </a:r>
          </a:p>
          <a:p>
            <a:pPr marL="0">
              <a:spcBef>
                <a:spcPts val="0"/>
              </a:spcBef>
            </a:pPr>
            <a:r>
              <a:rPr lang="en-US" sz="750" dirty="0"/>
              <a:t>&lt;body&gt;</a:t>
            </a:r>
          </a:p>
          <a:p>
            <a:pPr marL="0">
              <a:spcBef>
                <a:spcPts val="0"/>
              </a:spcBef>
            </a:pPr>
            <a:r>
              <a:rPr lang="en-US" sz="750" dirty="0"/>
              <a:t>    &lt;h1 style="color: red;"&gt;</a:t>
            </a:r>
            <a:r>
              <a:rPr lang="ru-RU" sz="750" dirty="0"/>
              <a:t>РАСПИСАНИЕ ЗАНЯТИЙ (нечетная неделя)&lt;/</a:t>
            </a:r>
            <a:r>
              <a:rPr lang="en-US" sz="750" dirty="0"/>
              <a:t>h1&gt;</a:t>
            </a:r>
          </a:p>
          <a:p>
            <a:pPr marL="0">
              <a:spcBef>
                <a:spcPts val="0"/>
              </a:spcBef>
            </a:pPr>
            <a:r>
              <a:rPr lang="en-US" sz="750" dirty="0"/>
              <a:t>    &lt;</a:t>
            </a:r>
            <a:r>
              <a:rPr lang="en-US" sz="750" dirty="0" err="1"/>
              <a:t>img</a:t>
            </a:r>
            <a:r>
              <a:rPr lang="en-US" sz="750" dirty="0"/>
              <a:t> </a:t>
            </a:r>
            <a:r>
              <a:rPr lang="en-US" sz="750" dirty="0" err="1"/>
              <a:t>src</a:t>
            </a:r>
            <a:r>
              <a:rPr lang="en-US" sz="750" dirty="0"/>
              <a:t>="</a:t>
            </a:r>
            <a:r>
              <a:rPr lang="ru-RU" sz="750" dirty="0"/>
              <a:t>уник.</a:t>
            </a:r>
            <a:r>
              <a:rPr lang="en-US" sz="750" dirty="0"/>
              <a:t>jpg" alt="</a:t>
            </a:r>
            <a:r>
              <a:rPr lang="ru-RU" sz="750" dirty="0"/>
              <a:t>Университет" </a:t>
            </a:r>
            <a:r>
              <a:rPr lang="en-US" sz="750" dirty="0"/>
              <a:t>width="20%" height="200px"&gt;</a:t>
            </a:r>
          </a:p>
          <a:p>
            <a:pPr marL="0">
              <a:spcBef>
                <a:spcPts val="0"/>
              </a:spcBef>
            </a:pPr>
            <a:r>
              <a:rPr lang="en-US" sz="750" dirty="0"/>
              <a:t>   &lt;table border="3" width="100%" height="100%"&gt;</a:t>
            </a:r>
          </a:p>
          <a:p>
            <a:pPr marL="0">
              <a:spcBef>
                <a:spcPts val="0"/>
              </a:spcBef>
            </a:pPr>
            <a:r>
              <a:rPr lang="en-US" sz="750" dirty="0"/>
              <a:t>   &lt;tr align="left"&gt;</a:t>
            </a:r>
          </a:p>
          <a:p>
            <a:pPr marL="0">
              <a:spcBef>
                <a:spcPts val="0"/>
              </a:spcBef>
            </a:pPr>
            <a:r>
              <a:rPr lang="en-US" sz="750" dirty="0"/>
              <a:t>       &lt;td </a:t>
            </a:r>
            <a:r>
              <a:rPr lang="en-US" sz="750" dirty="0" err="1"/>
              <a:t>bgcolor</a:t>
            </a:r>
            <a:r>
              <a:rPr lang="en-US" sz="750" dirty="0"/>
              <a:t>="#33B5FF"&gt;</a:t>
            </a:r>
            <a:r>
              <a:rPr lang="ru-RU" sz="750" dirty="0"/>
              <a:t>Время&lt;/</a:t>
            </a:r>
            <a:r>
              <a:rPr lang="en-US" sz="750" dirty="0"/>
              <a:t>td&gt;</a:t>
            </a:r>
          </a:p>
          <a:p>
            <a:pPr marL="0">
              <a:spcBef>
                <a:spcPts val="0"/>
              </a:spcBef>
            </a:pPr>
            <a:r>
              <a:rPr lang="en-US" sz="750" dirty="0"/>
              <a:t>       &lt;td </a:t>
            </a:r>
            <a:r>
              <a:rPr lang="en-US" sz="750" dirty="0" err="1"/>
              <a:t>bgcolor</a:t>
            </a:r>
            <a:r>
              <a:rPr lang="en-US" sz="750" dirty="0"/>
              <a:t>="#9333FF" align="center"&gt;&lt;b&gt;</a:t>
            </a:r>
            <a:r>
              <a:rPr lang="ru-RU" sz="750" dirty="0"/>
              <a:t>ПН&lt;/</a:t>
            </a:r>
            <a:r>
              <a:rPr lang="en-US" sz="750" dirty="0"/>
              <a:t>b&gt;&lt;/td&gt;</a:t>
            </a:r>
          </a:p>
          <a:p>
            <a:pPr marL="0">
              <a:spcBef>
                <a:spcPts val="0"/>
              </a:spcBef>
            </a:pPr>
            <a:r>
              <a:rPr lang="en-US" sz="750" dirty="0"/>
              <a:t>       &lt;td </a:t>
            </a:r>
            <a:r>
              <a:rPr lang="en-US" sz="750" dirty="0" err="1"/>
              <a:t>bgcolor</a:t>
            </a:r>
            <a:r>
              <a:rPr lang="en-US" sz="750" dirty="0"/>
              <a:t>="blue" align="center"&gt;&lt;b&gt;</a:t>
            </a:r>
            <a:r>
              <a:rPr lang="ru-RU" sz="750" dirty="0"/>
              <a:t>ВТ&lt;/</a:t>
            </a:r>
            <a:r>
              <a:rPr lang="en-US" sz="750" dirty="0"/>
              <a:t>b&gt;&lt;/td&gt;</a:t>
            </a:r>
          </a:p>
          <a:p>
            <a:pPr marL="0">
              <a:spcBef>
                <a:spcPts val="0"/>
              </a:spcBef>
            </a:pPr>
            <a:r>
              <a:rPr lang="en-US" sz="750" dirty="0"/>
              <a:t>       &lt;td </a:t>
            </a:r>
            <a:r>
              <a:rPr lang="en-US" sz="750" dirty="0" err="1"/>
              <a:t>bgcolor</a:t>
            </a:r>
            <a:r>
              <a:rPr lang="en-US" sz="750" dirty="0"/>
              <a:t>="#E333FF" align="center"&gt;&lt;b&gt;</a:t>
            </a:r>
            <a:r>
              <a:rPr lang="ru-RU" sz="750" dirty="0"/>
              <a:t>СР&lt;/</a:t>
            </a:r>
            <a:r>
              <a:rPr lang="en-US" sz="750" dirty="0"/>
              <a:t>b&gt;&lt;/td&gt;</a:t>
            </a:r>
          </a:p>
          <a:p>
            <a:pPr marL="0">
              <a:spcBef>
                <a:spcPts val="0"/>
              </a:spcBef>
            </a:pPr>
            <a:r>
              <a:rPr lang="en-US" sz="750" dirty="0"/>
              <a:t>       &lt;td </a:t>
            </a:r>
            <a:r>
              <a:rPr lang="en-US" sz="750" dirty="0" err="1"/>
              <a:t>bgcolor</a:t>
            </a:r>
            <a:r>
              <a:rPr lang="en-US" sz="750" dirty="0"/>
              <a:t>="</a:t>
            </a:r>
            <a:r>
              <a:rPr lang="en-US" sz="750" dirty="0" err="1"/>
              <a:t>royalblue</a:t>
            </a:r>
            <a:r>
              <a:rPr lang="en-US" sz="750" dirty="0"/>
              <a:t>" align="center"&gt;&lt;b&gt;</a:t>
            </a:r>
            <a:r>
              <a:rPr lang="ru-RU" sz="750" dirty="0"/>
              <a:t>ЧТ&lt;/</a:t>
            </a:r>
            <a:r>
              <a:rPr lang="en-US" sz="750" dirty="0"/>
              <a:t>b&gt;&lt;/td&gt;</a:t>
            </a:r>
          </a:p>
          <a:p>
            <a:pPr marL="0">
              <a:spcBef>
                <a:spcPts val="0"/>
              </a:spcBef>
            </a:pPr>
            <a:r>
              <a:rPr lang="en-US" sz="750" dirty="0"/>
              <a:t>       &lt;td </a:t>
            </a:r>
            <a:r>
              <a:rPr lang="en-US" sz="750" dirty="0" err="1"/>
              <a:t>bgcolor</a:t>
            </a:r>
            <a:r>
              <a:rPr lang="en-US" sz="750" dirty="0"/>
              <a:t>="#33FFB5" align="center"&gt;&lt;b&gt;</a:t>
            </a:r>
            <a:r>
              <a:rPr lang="ru-RU" sz="750" dirty="0"/>
              <a:t>ПТ&lt;/</a:t>
            </a:r>
            <a:r>
              <a:rPr lang="en-US" sz="750" dirty="0"/>
              <a:t>b&gt;&lt;/td&gt;</a:t>
            </a:r>
          </a:p>
          <a:p>
            <a:pPr marL="0">
              <a:spcBef>
                <a:spcPts val="0"/>
              </a:spcBef>
            </a:pPr>
            <a:r>
              <a:rPr lang="en-US" sz="750" dirty="0"/>
              <a:t>       &lt;td </a:t>
            </a:r>
            <a:r>
              <a:rPr lang="en-US" sz="750" dirty="0" err="1"/>
              <a:t>bgcolor</a:t>
            </a:r>
            <a:r>
              <a:rPr lang="en-US" sz="750" dirty="0"/>
              <a:t>="#49FF33" align="center"&gt;&lt;b&gt;</a:t>
            </a:r>
            <a:r>
              <a:rPr lang="ru-RU" sz="750" dirty="0"/>
              <a:t>СБ&lt;/</a:t>
            </a:r>
            <a:r>
              <a:rPr lang="en-US" sz="750" dirty="0"/>
              <a:t>b&gt;&lt;/td&gt;</a:t>
            </a:r>
          </a:p>
          <a:p>
            <a:pPr marL="0">
              <a:spcBef>
                <a:spcPts val="0"/>
              </a:spcBef>
            </a:pPr>
            <a:r>
              <a:rPr lang="en-US" sz="750" dirty="0"/>
              <a:t>       &lt;td </a:t>
            </a:r>
            <a:r>
              <a:rPr lang="en-US" sz="750" dirty="0" err="1"/>
              <a:t>bgcolor</a:t>
            </a:r>
            <a:r>
              <a:rPr lang="en-US" sz="750" dirty="0"/>
              <a:t>="#A47217" align="center"&gt;&lt;b&gt;</a:t>
            </a:r>
            <a:r>
              <a:rPr lang="ru-RU" sz="750" dirty="0"/>
              <a:t>ВС&lt;/</a:t>
            </a:r>
            <a:r>
              <a:rPr lang="en-US" sz="750" dirty="0"/>
              <a:t>b&gt;&lt;/td&gt;</a:t>
            </a:r>
          </a:p>
          <a:p>
            <a:pPr marL="0">
              <a:spcBef>
                <a:spcPts val="0"/>
              </a:spcBef>
            </a:pPr>
            <a:r>
              <a:rPr lang="en-US" sz="750" dirty="0"/>
              <a:t>   &lt;tr align="left" </a:t>
            </a:r>
            <a:r>
              <a:rPr lang="en-US" sz="750" dirty="0" err="1"/>
              <a:t>valign</a:t>
            </a:r>
            <a:r>
              <a:rPr lang="en-US" sz="750" dirty="0"/>
              <a:t>="middle"&gt;</a:t>
            </a:r>
          </a:p>
          <a:p>
            <a:pPr marL="0">
              <a:spcBef>
                <a:spcPts val="0"/>
              </a:spcBef>
            </a:pPr>
            <a:r>
              <a:rPr lang="en-US" sz="750" dirty="0"/>
              <a:t>       &lt;td </a:t>
            </a:r>
            <a:r>
              <a:rPr lang="en-US" sz="750" dirty="0" err="1"/>
              <a:t>bgcolor</a:t>
            </a:r>
            <a:r>
              <a:rPr lang="en-US" sz="750" dirty="0"/>
              <a:t>="#33B5FF"&gt;8:00 - 9:30&lt;/td&gt;</a:t>
            </a:r>
          </a:p>
          <a:p>
            <a:pPr marL="0">
              <a:spcBef>
                <a:spcPts val="0"/>
              </a:spcBef>
            </a:pPr>
            <a:r>
              <a:rPr lang="en-US" sz="750" dirty="0"/>
              <a:t>       &lt;td </a:t>
            </a:r>
            <a:r>
              <a:rPr lang="en-US" sz="750" dirty="0" err="1"/>
              <a:t>bgcolor</a:t>
            </a:r>
            <a:r>
              <a:rPr lang="en-US" sz="750" dirty="0"/>
              <a:t>="#9333FF"&gt;&lt;b&gt;-&lt;/b&gt;&lt;/td&gt;</a:t>
            </a:r>
          </a:p>
          <a:p>
            <a:pPr marL="0">
              <a:spcBef>
                <a:spcPts val="0"/>
              </a:spcBef>
            </a:pPr>
            <a:r>
              <a:rPr lang="en-US" sz="750" dirty="0"/>
              <a:t>       &lt;td </a:t>
            </a:r>
            <a:r>
              <a:rPr lang="en-US" sz="750" dirty="0" err="1"/>
              <a:t>bgcolor</a:t>
            </a:r>
            <a:r>
              <a:rPr lang="en-US" sz="750" dirty="0"/>
              <a:t>="blue"&gt;&lt;b&gt;-&lt;/b&gt;&lt;/td&gt;</a:t>
            </a:r>
          </a:p>
          <a:p>
            <a:pPr marL="0">
              <a:spcBef>
                <a:spcPts val="0"/>
              </a:spcBef>
            </a:pPr>
            <a:r>
              <a:rPr lang="en-US" sz="750" dirty="0"/>
              <a:t>       &lt;td </a:t>
            </a:r>
            <a:r>
              <a:rPr lang="en-US" sz="750" dirty="0" err="1"/>
              <a:t>bgcolor</a:t>
            </a:r>
            <a:r>
              <a:rPr lang="en-US" sz="750" dirty="0"/>
              <a:t>="#E333FF"&gt;&lt;b&gt;-&lt;/b&gt;&lt;/td&gt;</a:t>
            </a:r>
          </a:p>
          <a:p>
            <a:pPr marL="0">
              <a:spcBef>
                <a:spcPts val="0"/>
              </a:spcBef>
            </a:pPr>
            <a:r>
              <a:rPr lang="en-US" sz="750" dirty="0"/>
              <a:t>       &lt;td </a:t>
            </a:r>
            <a:r>
              <a:rPr lang="en-US" sz="750" dirty="0" err="1"/>
              <a:t>bgcolor</a:t>
            </a:r>
            <a:r>
              <a:rPr lang="en-US" sz="750" dirty="0"/>
              <a:t>="</a:t>
            </a:r>
            <a:r>
              <a:rPr lang="en-US" sz="750" dirty="0" err="1"/>
              <a:t>royalblue</a:t>
            </a:r>
            <a:r>
              <a:rPr lang="en-US" sz="750" dirty="0"/>
              <a:t>"&gt;&lt;b&gt;-&lt;/b&gt;&lt;/td&gt;</a:t>
            </a:r>
          </a:p>
          <a:p>
            <a:pPr marL="0">
              <a:spcBef>
                <a:spcPts val="0"/>
              </a:spcBef>
            </a:pPr>
            <a:r>
              <a:rPr lang="en-US" sz="750" dirty="0"/>
              <a:t>       &lt;td </a:t>
            </a:r>
            <a:r>
              <a:rPr lang="en-US" sz="750" dirty="0" err="1"/>
              <a:t>bgcolor</a:t>
            </a:r>
            <a:r>
              <a:rPr lang="en-US" sz="750" dirty="0"/>
              <a:t>="#33FFB5"&gt;&lt;b&gt;-&lt;/b&gt;&lt;/td&gt;</a:t>
            </a:r>
          </a:p>
          <a:p>
            <a:pPr marL="0">
              <a:spcBef>
                <a:spcPts val="0"/>
              </a:spcBef>
            </a:pPr>
            <a:r>
              <a:rPr lang="en-US" sz="750" dirty="0"/>
              <a:t>       &lt;td </a:t>
            </a:r>
            <a:r>
              <a:rPr lang="en-US" sz="750" dirty="0" err="1"/>
              <a:t>bgcolor</a:t>
            </a:r>
            <a:r>
              <a:rPr lang="en-US" sz="750" dirty="0"/>
              <a:t>="#49FF33"&gt;&lt;b&gt;-&lt;/b&gt;&lt;/td&gt;</a:t>
            </a:r>
          </a:p>
          <a:p>
            <a:pPr marL="0">
              <a:spcBef>
                <a:spcPts val="0"/>
              </a:spcBef>
            </a:pPr>
            <a:r>
              <a:rPr lang="en-US" sz="750" dirty="0"/>
              <a:t>       &lt;td </a:t>
            </a:r>
            <a:r>
              <a:rPr lang="en-US" sz="750" dirty="0" err="1"/>
              <a:t>bgcolor</a:t>
            </a:r>
            <a:r>
              <a:rPr lang="en-US" sz="750" dirty="0"/>
              <a:t>="#A47217"&gt;&lt;b&gt;-&lt;/b&gt;&lt;/td&gt;</a:t>
            </a:r>
          </a:p>
          <a:p>
            <a:pPr marL="0">
              <a:spcBef>
                <a:spcPts val="0"/>
              </a:spcBef>
            </a:pPr>
            <a:r>
              <a:rPr lang="en-US" sz="750" dirty="0"/>
              <a:t>   &lt;tr align="left"&gt;</a:t>
            </a:r>
          </a:p>
          <a:p>
            <a:pPr marL="0">
              <a:spcBef>
                <a:spcPts val="0"/>
              </a:spcBef>
            </a:pPr>
            <a:r>
              <a:rPr lang="en-US" sz="750" dirty="0"/>
              <a:t>       &lt;td </a:t>
            </a:r>
            <a:r>
              <a:rPr lang="en-US" sz="750" dirty="0" err="1"/>
              <a:t>bgcolor</a:t>
            </a:r>
            <a:r>
              <a:rPr lang="en-US" sz="750" dirty="0"/>
              <a:t>="#33B5FF"&gt;9:40 - 11:10&lt;/td&gt;</a:t>
            </a:r>
          </a:p>
          <a:p>
            <a:pPr marL="0">
              <a:spcBef>
                <a:spcPts val="0"/>
              </a:spcBef>
            </a:pPr>
            <a:r>
              <a:rPr lang="en-US" sz="750" dirty="0"/>
              <a:t>       &lt;td </a:t>
            </a:r>
            <a:r>
              <a:rPr lang="en-US" sz="750" dirty="0" err="1"/>
              <a:t>bgcolor</a:t>
            </a:r>
            <a:r>
              <a:rPr lang="en-US" sz="750" dirty="0"/>
              <a:t>="#9333FF"&gt;&lt;b&gt;-&lt;/b&gt;&lt;/td&gt;</a:t>
            </a:r>
          </a:p>
          <a:p>
            <a:pPr marL="0">
              <a:spcBef>
                <a:spcPts val="0"/>
              </a:spcBef>
            </a:pPr>
            <a:r>
              <a:rPr lang="en-US" sz="750" dirty="0"/>
              <a:t>       &lt;td </a:t>
            </a:r>
            <a:r>
              <a:rPr lang="en-US" sz="750" dirty="0" err="1"/>
              <a:t>bgcolor</a:t>
            </a:r>
            <a:r>
              <a:rPr lang="en-US" sz="750" dirty="0"/>
              <a:t>="blue"&gt;&lt;b&gt;-&lt;/b&gt;&lt;/td&gt;</a:t>
            </a:r>
          </a:p>
          <a:p>
            <a:pPr marL="0">
              <a:spcBef>
                <a:spcPts val="0"/>
              </a:spcBef>
            </a:pPr>
            <a:r>
              <a:rPr lang="en-US" sz="750" dirty="0"/>
              <a:t>       &lt;td </a:t>
            </a:r>
            <a:r>
              <a:rPr lang="en-US" sz="750" dirty="0" err="1"/>
              <a:t>bgcolor</a:t>
            </a:r>
            <a:r>
              <a:rPr lang="en-US" sz="750" dirty="0"/>
              <a:t>="#E333FF"&gt;&lt;b&gt;-&lt;/b&gt;&lt;/td&gt;</a:t>
            </a:r>
          </a:p>
          <a:p>
            <a:pPr marL="0">
              <a:spcBef>
                <a:spcPts val="0"/>
              </a:spcBef>
            </a:pPr>
            <a:r>
              <a:rPr lang="en-US" sz="750" dirty="0"/>
              <a:t>       &lt;td </a:t>
            </a:r>
            <a:r>
              <a:rPr lang="en-US" sz="750" dirty="0" err="1"/>
              <a:t>bgcolor</a:t>
            </a:r>
            <a:r>
              <a:rPr lang="en-US" sz="750" dirty="0"/>
              <a:t>="</a:t>
            </a:r>
            <a:r>
              <a:rPr lang="en-US" sz="750" dirty="0" err="1"/>
              <a:t>royalblue</a:t>
            </a:r>
            <a:r>
              <a:rPr lang="en-US" sz="750" dirty="0"/>
              <a:t>"&gt;&lt;b&gt;-&lt;/b&gt;&lt;/td&gt;</a:t>
            </a:r>
          </a:p>
          <a:p>
            <a:pPr marL="0">
              <a:spcBef>
                <a:spcPts val="0"/>
              </a:spcBef>
            </a:pPr>
            <a:r>
              <a:rPr lang="en-US" sz="750" dirty="0"/>
              <a:t>       &lt;td </a:t>
            </a:r>
            <a:r>
              <a:rPr lang="en-US" sz="750" dirty="0" err="1"/>
              <a:t>bgcolor</a:t>
            </a:r>
            <a:r>
              <a:rPr lang="en-US" sz="750" dirty="0"/>
              <a:t>="#33FFB5"&gt;&lt;b&gt;-&lt;/b&gt;&lt;/td&gt;</a:t>
            </a:r>
          </a:p>
          <a:p>
            <a:pPr marL="0">
              <a:spcBef>
                <a:spcPts val="0"/>
              </a:spcBef>
            </a:pPr>
            <a:r>
              <a:rPr lang="en-US" sz="750" dirty="0"/>
              <a:t>       &lt;td </a:t>
            </a:r>
            <a:r>
              <a:rPr lang="en-US" sz="750" dirty="0" err="1"/>
              <a:t>bgcolor</a:t>
            </a:r>
            <a:r>
              <a:rPr lang="en-US" sz="750" dirty="0"/>
              <a:t>="#49FF33"&gt;&lt;b&gt;</a:t>
            </a:r>
            <a:r>
              <a:rPr lang="ru-RU" sz="750" dirty="0"/>
              <a:t>Проектирование информационных систем&lt;/</a:t>
            </a:r>
            <a:r>
              <a:rPr lang="en-US" sz="750" dirty="0"/>
              <a:t>b&gt;&lt;/td&gt;</a:t>
            </a:r>
          </a:p>
          <a:p>
            <a:pPr marL="0">
              <a:spcBef>
                <a:spcPts val="0"/>
              </a:spcBef>
            </a:pPr>
            <a:r>
              <a:rPr lang="en-US" sz="750" dirty="0"/>
              <a:t>       &lt;td </a:t>
            </a:r>
            <a:r>
              <a:rPr lang="en-US" sz="750" dirty="0" err="1"/>
              <a:t>bgcolor</a:t>
            </a:r>
            <a:r>
              <a:rPr lang="en-US" sz="750" dirty="0"/>
              <a:t>="#A47217"&gt;&lt;b&gt;-&lt;/b&gt;&lt;/td&gt;</a:t>
            </a:r>
          </a:p>
          <a:p>
            <a:pPr marL="0">
              <a:spcBef>
                <a:spcPts val="0"/>
              </a:spcBef>
            </a:pPr>
            <a:r>
              <a:rPr lang="en-US" sz="750" dirty="0"/>
              <a:t>   &lt;tr align="left"&gt;</a:t>
            </a:r>
          </a:p>
          <a:p>
            <a:pPr marL="0">
              <a:spcBef>
                <a:spcPts val="0"/>
              </a:spcBef>
            </a:pPr>
            <a:r>
              <a:rPr lang="en-US" sz="750" dirty="0"/>
              <a:t>       &lt;td </a:t>
            </a:r>
            <a:r>
              <a:rPr lang="en-US" sz="750" dirty="0" err="1"/>
              <a:t>bgcolor</a:t>
            </a:r>
            <a:r>
              <a:rPr lang="en-US" sz="750" dirty="0"/>
              <a:t>="#33B5FF"&gt;11:20 - 12:50&lt;/td&gt;</a:t>
            </a:r>
          </a:p>
          <a:p>
            <a:pPr marL="0">
              <a:spcBef>
                <a:spcPts val="0"/>
              </a:spcBef>
            </a:pPr>
            <a:r>
              <a:rPr lang="en-US" sz="750" dirty="0"/>
              <a:t>       &lt;td </a:t>
            </a:r>
            <a:r>
              <a:rPr lang="en-US" sz="750" dirty="0" err="1"/>
              <a:t>bgcolor</a:t>
            </a:r>
            <a:r>
              <a:rPr lang="en-US" sz="750" dirty="0"/>
              <a:t>="#9333FF"&gt;&lt;b&gt;-&lt;/b&gt;&lt;/td&gt;</a:t>
            </a:r>
          </a:p>
          <a:p>
            <a:pPr marL="0">
              <a:spcBef>
                <a:spcPts val="0"/>
              </a:spcBef>
            </a:pPr>
            <a:r>
              <a:rPr lang="en-US" sz="750" dirty="0"/>
              <a:t>       &lt;td </a:t>
            </a:r>
            <a:r>
              <a:rPr lang="en-US" sz="750" dirty="0" err="1"/>
              <a:t>bgcolor</a:t>
            </a:r>
            <a:r>
              <a:rPr lang="en-US" sz="750" dirty="0"/>
              <a:t>="blue"&gt;&lt;b&gt;-&lt;/b&gt;&lt;/td&gt;</a:t>
            </a:r>
          </a:p>
          <a:p>
            <a:pPr marL="0">
              <a:spcBef>
                <a:spcPts val="0"/>
              </a:spcBef>
            </a:pPr>
            <a:r>
              <a:rPr lang="en-US" sz="750" dirty="0"/>
              <a:t>       &lt;td </a:t>
            </a:r>
            <a:r>
              <a:rPr lang="en-US" sz="750" dirty="0" err="1"/>
              <a:t>bgcolor</a:t>
            </a:r>
            <a:r>
              <a:rPr lang="en-US" sz="750" dirty="0"/>
              <a:t>="#E333FF"&gt;&lt;b&gt;-&lt;/b&gt;&lt;/td&gt;</a:t>
            </a:r>
          </a:p>
          <a:p>
            <a:pPr marL="0">
              <a:spcBef>
                <a:spcPts val="0"/>
              </a:spcBef>
            </a:pPr>
            <a:r>
              <a:rPr lang="en-US" sz="750" dirty="0"/>
              <a:t>       &lt;td </a:t>
            </a:r>
            <a:r>
              <a:rPr lang="en-US" sz="750" dirty="0" err="1"/>
              <a:t>bgcolor</a:t>
            </a:r>
            <a:r>
              <a:rPr lang="en-US" sz="750" dirty="0"/>
              <a:t>="</a:t>
            </a:r>
            <a:r>
              <a:rPr lang="en-US" sz="750" dirty="0" err="1"/>
              <a:t>royalblue</a:t>
            </a:r>
            <a:r>
              <a:rPr lang="en-US" sz="750" dirty="0"/>
              <a:t>"&gt;&lt;b&gt;-&lt;/b&gt;&lt;/td&gt;</a:t>
            </a:r>
          </a:p>
          <a:p>
            <a:pPr marL="0">
              <a:spcBef>
                <a:spcPts val="0"/>
              </a:spcBef>
            </a:pPr>
            <a:r>
              <a:rPr lang="en-US" sz="750" dirty="0"/>
              <a:t>       &lt;td </a:t>
            </a:r>
            <a:r>
              <a:rPr lang="en-US" sz="750" dirty="0" err="1"/>
              <a:t>bgcolor</a:t>
            </a:r>
            <a:r>
              <a:rPr lang="en-US" sz="750" dirty="0"/>
              <a:t>="#33FFB5"&gt;&lt;b&gt;-&lt;/b&gt;&lt;/td&gt;</a:t>
            </a:r>
          </a:p>
          <a:p>
            <a:pPr marL="0">
              <a:spcBef>
                <a:spcPts val="0"/>
              </a:spcBef>
            </a:pPr>
            <a:r>
              <a:rPr lang="en-US" sz="750" dirty="0"/>
              <a:t>       &lt;td </a:t>
            </a:r>
            <a:r>
              <a:rPr lang="en-US" sz="750" dirty="0" err="1"/>
              <a:t>bgcolor</a:t>
            </a:r>
            <a:r>
              <a:rPr lang="en-US" sz="750" dirty="0"/>
              <a:t>="#49FF33"&gt;&lt;b&gt;</a:t>
            </a:r>
            <a:r>
              <a:rPr lang="ru-RU" sz="750" dirty="0"/>
              <a:t>Тестирование и отладка программного обеспечения&lt;/</a:t>
            </a:r>
            <a:r>
              <a:rPr lang="en-US" sz="750" dirty="0"/>
              <a:t>b&gt;&lt;/td&gt;</a:t>
            </a:r>
          </a:p>
          <a:p>
            <a:pPr marL="0">
              <a:spcBef>
                <a:spcPts val="0"/>
              </a:spcBef>
            </a:pPr>
            <a:r>
              <a:rPr lang="en-US" sz="750" dirty="0"/>
              <a:t>       &lt;td </a:t>
            </a:r>
            <a:r>
              <a:rPr lang="en-US" sz="750" dirty="0" err="1"/>
              <a:t>bgcolor</a:t>
            </a:r>
            <a:r>
              <a:rPr lang="en-US" sz="750" dirty="0"/>
              <a:t>="#A47217"&gt;&lt;b&gt;-&lt;/b&gt;&lt;/td&gt;</a:t>
            </a:r>
          </a:p>
        </p:txBody>
      </p:sp>
      <p:sp>
        <p:nvSpPr>
          <p:cNvPr id="12" name="TextBox 11">
            <a:extLst>
              <a:ext uri="{FF2B5EF4-FFF2-40B4-BE49-F238E27FC236}">
                <a16:creationId xmlns:a16="http://schemas.microsoft.com/office/drawing/2014/main" id="{FD5EEF1C-AC2B-D0E4-6AA7-C3AA99D63B83}"/>
              </a:ext>
            </a:extLst>
          </p:cNvPr>
          <p:cNvSpPr txBox="1"/>
          <p:nvPr/>
        </p:nvSpPr>
        <p:spPr>
          <a:xfrm>
            <a:off x="6506678" y="1015466"/>
            <a:ext cx="4321743" cy="5632311"/>
          </a:xfrm>
          <a:prstGeom prst="rect">
            <a:avLst/>
          </a:prstGeom>
          <a:noFill/>
        </p:spPr>
        <p:txBody>
          <a:bodyPr wrap="square">
            <a:spAutoFit/>
          </a:bodyPr>
          <a:lstStyle/>
          <a:p>
            <a:pPr marL="0">
              <a:spcBef>
                <a:spcPts val="0"/>
              </a:spcBef>
            </a:pPr>
            <a:r>
              <a:rPr lang="en-US" sz="750" dirty="0"/>
              <a:t> &lt;tr align="left" </a:t>
            </a:r>
            <a:r>
              <a:rPr lang="en-US" sz="750" dirty="0" err="1"/>
              <a:t>valign</a:t>
            </a:r>
            <a:r>
              <a:rPr lang="en-US" sz="750" dirty="0"/>
              <a:t>="middle"&gt;</a:t>
            </a:r>
          </a:p>
          <a:p>
            <a:pPr marL="0">
              <a:spcBef>
                <a:spcPts val="0"/>
              </a:spcBef>
            </a:pPr>
            <a:r>
              <a:rPr lang="en-US" sz="750" dirty="0"/>
              <a:t>       &lt;td </a:t>
            </a:r>
            <a:r>
              <a:rPr lang="en-US" sz="750" dirty="0" err="1"/>
              <a:t>bgcolor</a:t>
            </a:r>
            <a:r>
              <a:rPr lang="en-US" sz="750" dirty="0"/>
              <a:t>="#33B5FF"&gt;13:20 - 14:50&lt;/td&gt;</a:t>
            </a:r>
          </a:p>
          <a:p>
            <a:pPr marL="0">
              <a:spcBef>
                <a:spcPts val="0"/>
              </a:spcBef>
            </a:pPr>
            <a:r>
              <a:rPr lang="en-US" sz="750" dirty="0"/>
              <a:t>       &lt;td </a:t>
            </a:r>
            <a:r>
              <a:rPr lang="en-US" sz="750" dirty="0" err="1"/>
              <a:t>bgcolor</a:t>
            </a:r>
            <a:r>
              <a:rPr lang="en-US" sz="750" dirty="0"/>
              <a:t>="#9333FF"&gt;&lt;b&gt;-&lt;/b&gt;&lt;/td&gt;</a:t>
            </a:r>
          </a:p>
          <a:p>
            <a:pPr marL="0">
              <a:spcBef>
                <a:spcPts val="0"/>
              </a:spcBef>
            </a:pPr>
            <a:r>
              <a:rPr lang="en-US" sz="750" dirty="0"/>
              <a:t>       &lt;td </a:t>
            </a:r>
            <a:r>
              <a:rPr lang="en-US" sz="750" dirty="0" err="1"/>
              <a:t>bgcolor</a:t>
            </a:r>
            <a:r>
              <a:rPr lang="en-US" sz="750" dirty="0"/>
              <a:t>="blue"&gt;&lt;b&gt;-&lt;/b&gt;&lt;/td&gt;</a:t>
            </a:r>
          </a:p>
          <a:p>
            <a:pPr marL="0">
              <a:spcBef>
                <a:spcPts val="0"/>
              </a:spcBef>
            </a:pPr>
            <a:r>
              <a:rPr lang="en-US" sz="750" dirty="0"/>
              <a:t>       &lt;td </a:t>
            </a:r>
            <a:r>
              <a:rPr lang="en-US" sz="750" dirty="0" err="1"/>
              <a:t>bgcolor</a:t>
            </a:r>
            <a:r>
              <a:rPr lang="en-US" sz="750" dirty="0"/>
              <a:t>="#E333FF"&gt;&lt;b&gt;</a:t>
            </a:r>
            <a:r>
              <a:rPr lang="ru-RU" sz="750" dirty="0"/>
              <a:t>Экономика&lt;/</a:t>
            </a:r>
            <a:r>
              <a:rPr lang="en-US" sz="750" dirty="0"/>
              <a:t>b&gt;&lt;/td&gt;</a:t>
            </a:r>
          </a:p>
          <a:p>
            <a:pPr marL="0">
              <a:spcBef>
                <a:spcPts val="0"/>
              </a:spcBef>
            </a:pPr>
            <a:r>
              <a:rPr lang="en-US" sz="750" dirty="0"/>
              <a:t>       &lt;td </a:t>
            </a:r>
            <a:r>
              <a:rPr lang="en-US" sz="750" dirty="0" err="1"/>
              <a:t>bgcolor</a:t>
            </a:r>
            <a:r>
              <a:rPr lang="en-US" sz="750" dirty="0"/>
              <a:t>="</a:t>
            </a:r>
            <a:r>
              <a:rPr lang="en-US" sz="750" dirty="0" err="1"/>
              <a:t>royalblue</a:t>
            </a:r>
            <a:r>
              <a:rPr lang="en-US" sz="750" dirty="0"/>
              <a:t>"&gt;&lt;b&gt;</a:t>
            </a:r>
            <a:r>
              <a:rPr lang="ru-RU" sz="750" dirty="0"/>
              <a:t>Встраиваемые системы&lt;/</a:t>
            </a:r>
            <a:r>
              <a:rPr lang="en-US" sz="750" dirty="0"/>
              <a:t>b&gt;&lt;/td&gt;</a:t>
            </a:r>
          </a:p>
          <a:p>
            <a:pPr marL="0">
              <a:spcBef>
                <a:spcPts val="0"/>
              </a:spcBef>
            </a:pPr>
            <a:r>
              <a:rPr lang="en-US" sz="750" dirty="0"/>
              <a:t>       &lt;td </a:t>
            </a:r>
            <a:r>
              <a:rPr lang="en-US" sz="750" dirty="0" err="1"/>
              <a:t>bgcolor</a:t>
            </a:r>
            <a:r>
              <a:rPr lang="en-US" sz="750" dirty="0"/>
              <a:t>="#33FFB5"&gt;&lt;b&gt;-&lt;/b&gt;&lt;/td&gt;</a:t>
            </a:r>
          </a:p>
          <a:p>
            <a:pPr marL="0">
              <a:spcBef>
                <a:spcPts val="0"/>
              </a:spcBef>
            </a:pPr>
            <a:r>
              <a:rPr lang="en-US" sz="750" dirty="0"/>
              <a:t>       &lt;td </a:t>
            </a:r>
            <a:r>
              <a:rPr lang="en-US" sz="750" dirty="0" err="1"/>
              <a:t>bgcolor</a:t>
            </a:r>
            <a:r>
              <a:rPr lang="en-US" sz="750" dirty="0"/>
              <a:t>="#49FF33"&gt;&lt;b&gt;-&lt;/b&gt;&lt;/td&gt;</a:t>
            </a:r>
          </a:p>
          <a:p>
            <a:pPr marL="0">
              <a:spcBef>
                <a:spcPts val="0"/>
              </a:spcBef>
            </a:pPr>
            <a:r>
              <a:rPr lang="en-US" sz="750" dirty="0"/>
              <a:t>       &lt;td </a:t>
            </a:r>
            <a:r>
              <a:rPr lang="en-US" sz="750" dirty="0" err="1"/>
              <a:t>bgcolor</a:t>
            </a:r>
            <a:r>
              <a:rPr lang="en-US" sz="750" dirty="0"/>
              <a:t>="#A47217"&gt;&lt;b&gt;-&lt;/b&gt;&lt;/td&gt;</a:t>
            </a:r>
          </a:p>
          <a:p>
            <a:pPr marL="0">
              <a:spcBef>
                <a:spcPts val="0"/>
              </a:spcBef>
            </a:pPr>
            <a:r>
              <a:rPr lang="en-US" sz="750" dirty="0"/>
              <a:t>   &lt;tr align="left"&gt;</a:t>
            </a:r>
          </a:p>
          <a:p>
            <a:pPr marL="0">
              <a:spcBef>
                <a:spcPts val="0"/>
              </a:spcBef>
            </a:pPr>
            <a:r>
              <a:rPr lang="en-US" sz="750" dirty="0"/>
              <a:t>       &lt;td </a:t>
            </a:r>
            <a:r>
              <a:rPr lang="en-US" sz="750" dirty="0" err="1"/>
              <a:t>bgcolor</a:t>
            </a:r>
            <a:r>
              <a:rPr lang="en-US" sz="750" dirty="0"/>
              <a:t>="#33B5FF"&gt;15:00 - 16:30&lt;/td&gt;</a:t>
            </a:r>
          </a:p>
          <a:p>
            <a:pPr marL="0">
              <a:spcBef>
                <a:spcPts val="0"/>
              </a:spcBef>
            </a:pPr>
            <a:r>
              <a:rPr lang="en-US" sz="750" dirty="0"/>
              <a:t>       &lt;td </a:t>
            </a:r>
            <a:r>
              <a:rPr lang="en-US" sz="750" dirty="0" err="1"/>
              <a:t>bgcolor</a:t>
            </a:r>
            <a:r>
              <a:rPr lang="en-US" sz="750" dirty="0"/>
              <a:t>="#9333FF"&gt;&lt;b&gt;-&lt;/b&gt;&lt;/td&gt;</a:t>
            </a:r>
          </a:p>
          <a:p>
            <a:pPr marL="0">
              <a:spcBef>
                <a:spcPts val="0"/>
              </a:spcBef>
            </a:pPr>
            <a:r>
              <a:rPr lang="en-US" sz="750" dirty="0"/>
              <a:t>       &lt;td </a:t>
            </a:r>
            <a:r>
              <a:rPr lang="en-US" sz="750" dirty="0" err="1"/>
              <a:t>bgcolor</a:t>
            </a:r>
            <a:r>
              <a:rPr lang="en-US" sz="750" dirty="0"/>
              <a:t>="blue"&gt;&lt;b&gt;-&lt;/b&gt;&lt;/td&gt;</a:t>
            </a:r>
          </a:p>
          <a:p>
            <a:pPr marL="0">
              <a:spcBef>
                <a:spcPts val="0"/>
              </a:spcBef>
            </a:pPr>
            <a:r>
              <a:rPr lang="en-US" sz="750" dirty="0"/>
              <a:t>       &lt;td </a:t>
            </a:r>
            <a:r>
              <a:rPr lang="en-US" sz="750" dirty="0" err="1"/>
              <a:t>bgcolor</a:t>
            </a:r>
            <a:r>
              <a:rPr lang="en-US" sz="750" dirty="0"/>
              <a:t>="#E333FF"&gt;&lt;b&gt;</a:t>
            </a:r>
            <a:r>
              <a:rPr lang="ru-RU" sz="750" dirty="0"/>
              <a:t>Экономика&lt;/</a:t>
            </a:r>
            <a:r>
              <a:rPr lang="en-US" sz="750" dirty="0"/>
              <a:t>b&gt;&lt;/td&gt;</a:t>
            </a:r>
          </a:p>
          <a:p>
            <a:pPr marL="0">
              <a:spcBef>
                <a:spcPts val="0"/>
              </a:spcBef>
            </a:pPr>
            <a:r>
              <a:rPr lang="en-US" sz="750" dirty="0"/>
              <a:t>       &lt;td </a:t>
            </a:r>
            <a:r>
              <a:rPr lang="en-US" sz="750" dirty="0" err="1"/>
              <a:t>bgcolor</a:t>
            </a:r>
            <a:r>
              <a:rPr lang="en-US" sz="750" dirty="0"/>
              <a:t>="</a:t>
            </a:r>
            <a:r>
              <a:rPr lang="en-US" sz="750" dirty="0" err="1"/>
              <a:t>royalblue</a:t>
            </a:r>
            <a:r>
              <a:rPr lang="en-US" sz="750" dirty="0"/>
              <a:t>"&gt;&lt;b&gt;</a:t>
            </a:r>
            <a:r>
              <a:rPr lang="ru-RU" sz="750" dirty="0"/>
              <a:t>Встраиваемые системы&lt;/</a:t>
            </a:r>
            <a:r>
              <a:rPr lang="en-US" sz="750" dirty="0"/>
              <a:t>b&gt;&lt;/td&gt;</a:t>
            </a:r>
          </a:p>
          <a:p>
            <a:pPr marL="0">
              <a:spcBef>
                <a:spcPts val="0"/>
              </a:spcBef>
            </a:pPr>
            <a:r>
              <a:rPr lang="en-US" sz="750" dirty="0"/>
              <a:t>       &lt;td </a:t>
            </a:r>
            <a:r>
              <a:rPr lang="en-US" sz="750" dirty="0" err="1"/>
              <a:t>bgcolor</a:t>
            </a:r>
            <a:r>
              <a:rPr lang="en-US" sz="750" dirty="0"/>
              <a:t>="#33FFB5"&gt;&lt;b&gt;</a:t>
            </a:r>
            <a:r>
              <a:rPr lang="ru-RU" sz="750" dirty="0"/>
              <a:t>Разработка веб-приложений&lt;/</a:t>
            </a:r>
            <a:r>
              <a:rPr lang="en-US" sz="750" dirty="0"/>
              <a:t>b&gt;&lt;/td&gt;</a:t>
            </a:r>
          </a:p>
          <a:p>
            <a:pPr marL="0">
              <a:spcBef>
                <a:spcPts val="0"/>
              </a:spcBef>
            </a:pPr>
            <a:r>
              <a:rPr lang="en-US" sz="750" dirty="0"/>
              <a:t>       &lt;td </a:t>
            </a:r>
            <a:r>
              <a:rPr lang="en-US" sz="750" dirty="0" err="1"/>
              <a:t>bgcolor</a:t>
            </a:r>
            <a:r>
              <a:rPr lang="en-US" sz="750" dirty="0"/>
              <a:t>="#49FF33"&gt;&lt;b&gt;-&lt;/b&gt;&lt;/td&gt;</a:t>
            </a:r>
          </a:p>
          <a:p>
            <a:pPr marL="0">
              <a:spcBef>
                <a:spcPts val="0"/>
              </a:spcBef>
            </a:pPr>
            <a:r>
              <a:rPr lang="en-US" sz="750" dirty="0"/>
              <a:t>       &lt;td </a:t>
            </a:r>
            <a:r>
              <a:rPr lang="en-US" sz="750" dirty="0" err="1"/>
              <a:t>bgcolor</a:t>
            </a:r>
            <a:r>
              <a:rPr lang="en-US" sz="750" dirty="0"/>
              <a:t>="#A47217"&gt;&lt;b&gt;-&lt;/b&gt;&lt;/td&gt;</a:t>
            </a:r>
          </a:p>
          <a:p>
            <a:pPr marL="0">
              <a:spcBef>
                <a:spcPts val="0"/>
              </a:spcBef>
            </a:pPr>
            <a:r>
              <a:rPr lang="en-US" sz="750" dirty="0"/>
              <a:t>   &lt;tr align="left"&gt;</a:t>
            </a:r>
          </a:p>
          <a:p>
            <a:pPr marL="0">
              <a:spcBef>
                <a:spcPts val="0"/>
              </a:spcBef>
            </a:pPr>
            <a:r>
              <a:rPr lang="en-US" sz="750" dirty="0"/>
              <a:t>       &lt;td </a:t>
            </a:r>
            <a:r>
              <a:rPr lang="en-US" sz="750" dirty="0" err="1"/>
              <a:t>bgcolor</a:t>
            </a:r>
            <a:r>
              <a:rPr lang="en-US" sz="750" dirty="0"/>
              <a:t>="#33B5FF"&gt;16:40 - 18:10&lt;/td&gt;</a:t>
            </a:r>
          </a:p>
          <a:p>
            <a:pPr marL="0">
              <a:spcBef>
                <a:spcPts val="0"/>
              </a:spcBef>
            </a:pPr>
            <a:r>
              <a:rPr lang="en-US" sz="750" dirty="0"/>
              <a:t>       &lt;td </a:t>
            </a:r>
            <a:r>
              <a:rPr lang="en-US" sz="750" dirty="0" err="1"/>
              <a:t>bgcolor</a:t>
            </a:r>
            <a:r>
              <a:rPr lang="en-US" sz="750" dirty="0"/>
              <a:t>="#9333FF"&gt;&lt;b&gt;-&lt;/b&gt;&lt;/td&gt;</a:t>
            </a:r>
          </a:p>
          <a:p>
            <a:pPr marL="0">
              <a:spcBef>
                <a:spcPts val="0"/>
              </a:spcBef>
            </a:pPr>
            <a:r>
              <a:rPr lang="en-US" sz="750" dirty="0"/>
              <a:t>       &lt;td </a:t>
            </a:r>
            <a:r>
              <a:rPr lang="en-US" sz="750" dirty="0" err="1"/>
              <a:t>bgcolor</a:t>
            </a:r>
            <a:r>
              <a:rPr lang="en-US" sz="750" dirty="0"/>
              <a:t>="blue"&gt;&lt;b&gt;-&lt;/b&gt;&lt;/td&gt;</a:t>
            </a:r>
          </a:p>
          <a:p>
            <a:pPr marL="0">
              <a:spcBef>
                <a:spcPts val="0"/>
              </a:spcBef>
            </a:pPr>
            <a:r>
              <a:rPr lang="en-US" sz="750" dirty="0"/>
              <a:t>       &lt;td </a:t>
            </a:r>
            <a:r>
              <a:rPr lang="en-US" sz="750" dirty="0" err="1"/>
              <a:t>bgcolor</a:t>
            </a:r>
            <a:r>
              <a:rPr lang="en-US" sz="750" dirty="0"/>
              <a:t>="#E333FF"&gt;&lt;b&gt;-&lt;/b&gt;&lt;/td&gt;</a:t>
            </a:r>
          </a:p>
          <a:p>
            <a:pPr marL="0">
              <a:spcBef>
                <a:spcPts val="0"/>
              </a:spcBef>
            </a:pPr>
            <a:r>
              <a:rPr lang="en-US" sz="750" dirty="0"/>
              <a:t>       &lt;td </a:t>
            </a:r>
            <a:r>
              <a:rPr lang="en-US" sz="750" dirty="0" err="1"/>
              <a:t>bgcolor</a:t>
            </a:r>
            <a:r>
              <a:rPr lang="en-US" sz="750" dirty="0"/>
              <a:t>="</a:t>
            </a:r>
            <a:r>
              <a:rPr lang="en-US" sz="750" dirty="0" err="1"/>
              <a:t>royalblue</a:t>
            </a:r>
            <a:r>
              <a:rPr lang="en-US" sz="750" dirty="0"/>
              <a:t>"&gt;&lt;b&gt;</a:t>
            </a:r>
            <a:r>
              <a:rPr lang="ru-RU" sz="750" dirty="0"/>
              <a:t>Встраиваемые системы&lt;/</a:t>
            </a:r>
            <a:r>
              <a:rPr lang="en-US" sz="750" dirty="0"/>
              <a:t>b&gt;&lt;/td&gt;</a:t>
            </a:r>
          </a:p>
          <a:p>
            <a:pPr marL="0">
              <a:spcBef>
                <a:spcPts val="0"/>
              </a:spcBef>
            </a:pPr>
            <a:r>
              <a:rPr lang="en-US" sz="750" dirty="0"/>
              <a:t>       &lt;td </a:t>
            </a:r>
            <a:r>
              <a:rPr lang="en-US" sz="750" dirty="0" err="1"/>
              <a:t>bgcolor</a:t>
            </a:r>
            <a:r>
              <a:rPr lang="en-US" sz="750" dirty="0"/>
              <a:t>="#33FFB5"&gt;&lt;b&gt;</a:t>
            </a:r>
            <a:r>
              <a:rPr lang="ru-RU" sz="750" dirty="0"/>
              <a:t>Тестирование и отладка программного обеспечения&lt;/</a:t>
            </a:r>
            <a:r>
              <a:rPr lang="en-US" sz="750" dirty="0"/>
              <a:t>b&gt;&lt;/td&gt;</a:t>
            </a:r>
          </a:p>
          <a:p>
            <a:pPr marL="0">
              <a:spcBef>
                <a:spcPts val="0"/>
              </a:spcBef>
            </a:pPr>
            <a:r>
              <a:rPr lang="en-US" sz="750" dirty="0"/>
              <a:t>       &lt;td </a:t>
            </a:r>
            <a:r>
              <a:rPr lang="en-US" sz="750" dirty="0" err="1"/>
              <a:t>bgcolor</a:t>
            </a:r>
            <a:r>
              <a:rPr lang="en-US" sz="750" dirty="0"/>
              <a:t>="#49FF33"&gt;&lt;b&gt;-&lt;/b&gt;&lt;/td&gt;</a:t>
            </a:r>
          </a:p>
          <a:p>
            <a:pPr marL="0">
              <a:spcBef>
                <a:spcPts val="0"/>
              </a:spcBef>
            </a:pPr>
            <a:r>
              <a:rPr lang="en-US" sz="750" dirty="0"/>
              <a:t>       &lt;td </a:t>
            </a:r>
            <a:r>
              <a:rPr lang="en-US" sz="750" dirty="0" err="1"/>
              <a:t>bgcolor</a:t>
            </a:r>
            <a:r>
              <a:rPr lang="en-US" sz="750" dirty="0"/>
              <a:t>="#A47217"&gt;&lt;b&gt;-&lt;/b&gt;&lt;/td&gt;</a:t>
            </a:r>
          </a:p>
          <a:p>
            <a:pPr marL="0">
              <a:spcBef>
                <a:spcPts val="0"/>
              </a:spcBef>
            </a:pPr>
            <a:r>
              <a:rPr lang="en-US" sz="750" dirty="0"/>
              <a:t>   &lt;tr align="left" </a:t>
            </a:r>
            <a:r>
              <a:rPr lang="en-US" sz="750" dirty="0" err="1"/>
              <a:t>valign</a:t>
            </a:r>
            <a:r>
              <a:rPr lang="en-US" sz="750" dirty="0"/>
              <a:t>="middle"&gt;</a:t>
            </a:r>
          </a:p>
          <a:p>
            <a:pPr marL="0">
              <a:spcBef>
                <a:spcPts val="0"/>
              </a:spcBef>
            </a:pPr>
            <a:r>
              <a:rPr lang="en-US" sz="750" dirty="0"/>
              <a:t>       &lt;td </a:t>
            </a:r>
            <a:r>
              <a:rPr lang="en-US" sz="750" dirty="0" err="1"/>
              <a:t>bgcolor</a:t>
            </a:r>
            <a:r>
              <a:rPr lang="en-US" sz="750" dirty="0"/>
              <a:t>="#33B5FF"&gt;18:20 - 19:50&lt;/td&gt;</a:t>
            </a:r>
          </a:p>
          <a:p>
            <a:pPr marL="0">
              <a:spcBef>
                <a:spcPts val="0"/>
              </a:spcBef>
            </a:pPr>
            <a:r>
              <a:rPr lang="en-US" sz="750" dirty="0"/>
              <a:t>       &lt;td </a:t>
            </a:r>
            <a:r>
              <a:rPr lang="en-US" sz="750" dirty="0" err="1"/>
              <a:t>bgcolor</a:t>
            </a:r>
            <a:r>
              <a:rPr lang="en-US" sz="750" dirty="0"/>
              <a:t>="#9333FF"&gt;&lt;b&gt;-&lt;/b&gt;&lt;/td&gt;</a:t>
            </a:r>
          </a:p>
          <a:p>
            <a:pPr marL="0">
              <a:spcBef>
                <a:spcPts val="0"/>
              </a:spcBef>
            </a:pPr>
            <a:r>
              <a:rPr lang="en-US" sz="750" dirty="0"/>
              <a:t>       &lt;td </a:t>
            </a:r>
            <a:r>
              <a:rPr lang="en-US" sz="750" dirty="0" err="1"/>
              <a:t>bgcolor</a:t>
            </a:r>
            <a:r>
              <a:rPr lang="en-US" sz="750" dirty="0"/>
              <a:t>="blue"&gt;&lt;b&gt;-&lt;/b&gt;&lt;/td&gt;</a:t>
            </a:r>
          </a:p>
          <a:p>
            <a:pPr marL="0">
              <a:spcBef>
                <a:spcPts val="0"/>
              </a:spcBef>
            </a:pPr>
            <a:r>
              <a:rPr lang="en-US" sz="750" dirty="0"/>
              <a:t>       &lt;td </a:t>
            </a:r>
            <a:r>
              <a:rPr lang="en-US" sz="750" dirty="0" err="1"/>
              <a:t>bgcolor</a:t>
            </a:r>
            <a:r>
              <a:rPr lang="en-US" sz="750" dirty="0"/>
              <a:t>="#E333FF"&gt;&lt;b&gt;-&lt;/b&gt;&lt;/td&gt;</a:t>
            </a:r>
          </a:p>
          <a:p>
            <a:pPr marL="0">
              <a:spcBef>
                <a:spcPts val="0"/>
              </a:spcBef>
            </a:pPr>
            <a:r>
              <a:rPr lang="en-US" sz="750" dirty="0"/>
              <a:t>       &lt;td </a:t>
            </a:r>
            <a:r>
              <a:rPr lang="en-US" sz="750" dirty="0" err="1"/>
              <a:t>bgcolor</a:t>
            </a:r>
            <a:r>
              <a:rPr lang="en-US" sz="750" dirty="0"/>
              <a:t>="</a:t>
            </a:r>
            <a:r>
              <a:rPr lang="en-US" sz="750" dirty="0" err="1"/>
              <a:t>royalblue</a:t>
            </a:r>
            <a:r>
              <a:rPr lang="en-US" sz="750" dirty="0"/>
              <a:t>"&gt;&lt;b&gt;-&lt;/b&gt;&lt;/td&gt;</a:t>
            </a:r>
          </a:p>
          <a:p>
            <a:pPr marL="0">
              <a:spcBef>
                <a:spcPts val="0"/>
              </a:spcBef>
            </a:pPr>
            <a:r>
              <a:rPr lang="en-US" sz="750" dirty="0"/>
              <a:t>       &lt;td </a:t>
            </a:r>
            <a:r>
              <a:rPr lang="en-US" sz="750" dirty="0" err="1"/>
              <a:t>bgcolor</a:t>
            </a:r>
            <a:r>
              <a:rPr lang="en-US" sz="750" dirty="0"/>
              <a:t>="#33FFB5"&gt;&lt;b&gt;</a:t>
            </a:r>
            <a:r>
              <a:rPr lang="ru-RU" sz="750" dirty="0"/>
              <a:t>Тестирование и отладка программного обеспечения&lt;/</a:t>
            </a:r>
            <a:r>
              <a:rPr lang="en-US" sz="750" dirty="0"/>
              <a:t>b&gt;&lt;/td&gt;</a:t>
            </a:r>
          </a:p>
          <a:p>
            <a:pPr marL="0">
              <a:spcBef>
                <a:spcPts val="0"/>
              </a:spcBef>
            </a:pPr>
            <a:r>
              <a:rPr lang="en-US" sz="750" dirty="0"/>
              <a:t>       &lt;td </a:t>
            </a:r>
            <a:r>
              <a:rPr lang="en-US" sz="750" dirty="0" err="1"/>
              <a:t>bgcolor</a:t>
            </a:r>
            <a:r>
              <a:rPr lang="en-US" sz="750" dirty="0"/>
              <a:t>="#49FF33"&gt;&lt;b&gt;-&lt;/b&gt;&lt;/td&gt;</a:t>
            </a:r>
          </a:p>
          <a:p>
            <a:pPr marL="0">
              <a:spcBef>
                <a:spcPts val="0"/>
              </a:spcBef>
            </a:pPr>
            <a:r>
              <a:rPr lang="en-US" sz="750" dirty="0"/>
              <a:t>       &lt;td </a:t>
            </a:r>
            <a:r>
              <a:rPr lang="en-US" sz="750" dirty="0" err="1"/>
              <a:t>bgcolor</a:t>
            </a:r>
            <a:r>
              <a:rPr lang="en-US" sz="750" dirty="0"/>
              <a:t>="#A47217"&gt;&lt;b&gt;-&lt;/b&gt;&lt;/td&gt;</a:t>
            </a:r>
          </a:p>
          <a:p>
            <a:pPr marL="0">
              <a:spcBef>
                <a:spcPts val="0"/>
              </a:spcBef>
            </a:pPr>
            <a:r>
              <a:rPr lang="en-US" sz="750" dirty="0"/>
              <a:t>   &lt;tr align="left"&gt;</a:t>
            </a:r>
          </a:p>
          <a:p>
            <a:pPr marL="0">
              <a:spcBef>
                <a:spcPts val="0"/>
              </a:spcBef>
            </a:pPr>
            <a:r>
              <a:rPr lang="en-US" sz="750" dirty="0"/>
              <a:t>       &lt;td </a:t>
            </a:r>
            <a:r>
              <a:rPr lang="en-US" sz="750" dirty="0" err="1"/>
              <a:t>bgcolor</a:t>
            </a:r>
            <a:r>
              <a:rPr lang="en-US" sz="750" dirty="0"/>
              <a:t>="#33B5FF"&gt;20:00 - 21:30&lt;/td&gt;</a:t>
            </a:r>
          </a:p>
          <a:p>
            <a:pPr marL="0">
              <a:spcBef>
                <a:spcPts val="0"/>
              </a:spcBef>
            </a:pPr>
            <a:r>
              <a:rPr lang="en-US" sz="750" dirty="0"/>
              <a:t>       &lt;td </a:t>
            </a:r>
            <a:r>
              <a:rPr lang="en-US" sz="750" dirty="0" err="1"/>
              <a:t>bgcolor</a:t>
            </a:r>
            <a:r>
              <a:rPr lang="en-US" sz="750" dirty="0"/>
              <a:t>="#9333FF"&gt;&lt;b&gt;-&lt;/b&gt;&lt;/td&gt;</a:t>
            </a:r>
          </a:p>
          <a:p>
            <a:pPr marL="0">
              <a:spcBef>
                <a:spcPts val="0"/>
              </a:spcBef>
            </a:pPr>
            <a:r>
              <a:rPr lang="en-US" sz="750" dirty="0"/>
              <a:t>       &lt;td </a:t>
            </a:r>
            <a:r>
              <a:rPr lang="en-US" sz="750" dirty="0" err="1"/>
              <a:t>bgcolor</a:t>
            </a:r>
            <a:r>
              <a:rPr lang="en-US" sz="750" dirty="0"/>
              <a:t>="blue"&gt;&lt;b&gt;-&lt;/b&gt;&lt;/td&gt;</a:t>
            </a:r>
          </a:p>
          <a:p>
            <a:pPr marL="0">
              <a:spcBef>
                <a:spcPts val="0"/>
              </a:spcBef>
            </a:pPr>
            <a:r>
              <a:rPr lang="en-US" sz="750" dirty="0"/>
              <a:t>       &lt;td </a:t>
            </a:r>
            <a:r>
              <a:rPr lang="en-US" sz="750" dirty="0" err="1"/>
              <a:t>bgcolor</a:t>
            </a:r>
            <a:r>
              <a:rPr lang="en-US" sz="750" dirty="0"/>
              <a:t>="#E333FF"&gt;&lt;b&gt;-&lt;/b&gt;&lt;/td&gt;</a:t>
            </a:r>
          </a:p>
          <a:p>
            <a:pPr marL="0">
              <a:spcBef>
                <a:spcPts val="0"/>
              </a:spcBef>
            </a:pPr>
            <a:r>
              <a:rPr lang="en-US" sz="750" dirty="0"/>
              <a:t>       &lt;td </a:t>
            </a:r>
            <a:r>
              <a:rPr lang="en-US" sz="750" dirty="0" err="1"/>
              <a:t>bgcolor</a:t>
            </a:r>
            <a:r>
              <a:rPr lang="en-US" sz="750" dirty="0"/>
              <a:t>="</a:t>
            </a:r>
            <a:r>
              <a:rPr lang="en-US" sz="750" dirty="0" err="1"/>
              <a:t>royalblue</a:t>
            </a:r>
            <a:r>
              <a:rPr lang="en-US" sz="750" dirty="0"/>
              <a:t>"&gt;&lt;b&gt;-&lt;/b&gt;&lt;/td&gt;</a:t>
            </a:r>
          </a:p>
          <a:p>
            <a:pPr marL="0">
              <a:spcBef>
                <a:spcPts val="0"/>
              </a:spcBef>
            </a:pPr>
            <a:r>
              <a:rPr lang="en-US" sz="750" dirty="0"/>
              <a:t>       &lt;td </a:t>
            </a:r>
            <a:r>
              <a:rPr lang="en-US" sz="750" dirty="0" err="1"/>
              <a:t>bgcolor</a:t>
            </a:r>
            <a:r>
              <a:rPr lang="en-US" sz="750" dirty="0"/>
              <a:t>="#33FFB5"&gt;&lt;b&gt;-&lt;/b&gt;&lt;/td&gt;</a:t>
            </a:r>
          </a:p>
          <a:p>
            <a:pPr marL="0">
              <a:spcBef>
                <a:spcPts val="0"/>
              </a:spcBef>
            </a:pPr>
            <a:r>
              <a:rPr lang="en-US" sz="750" dirty="0"/>
              <a:t>       &lt;td </a:t>
            </a:r>
            <a:r>
              <a:rPr lang="en-US" sz="750" dirty="0" err="1"/>
              <a:t>bgcolor</a:t>
            </a:r>
            <a:r>
              <a:rPr lang="en-US" sz="750" dirty="0"/>
              <a:t>="#49FF33"&gt;&lt;b&gt;-&lt;/b&gt;&lt;/td&gt;</a:t>
            </a:r>
          </a:p>
          <a:p>
            <a:pPr marL="0">
              <a:spcBef>
                <a:spcPts val="0"/>
              </a:spcBef>
            </a:pPr>
            <a:r>
              <a:rPr lang="en-US" sz="750" dirty="0"/>
              <a:t>       &lt;td </a:t>
            </a:r>
            <a:r>
              <a:rPr lang="en-US" sz="750" dirty="0" err="1"/>
              <a:t>bgcolor</a:t>
            </a:r>
            <a:r>
              <a:rPr lang="en-US" sz="750" dirty="0"/>
              <a:t>="#A47217"&gt;&lt;b&gt;-&lt;/b&gt;&lt;/td&gt;</a:t>
            </a:r>
          </a:p>
          <a:p>
            <a:pPr marL="0">
              <a:spcBef>
                <a:spcPts val="0"/>
              </a:spcBef>
            </a:pPr>
            <a:r>
              <a:rPr lang="en-US" sz="750" dirty="0"/>
              <a:t>   &lt;/table&gt;    </a:t>
            </a:r>
          </a:p>
          <a:p>
            <a:pPr marL="0">
              <a:spcBef>
                <a:spcPts val="0"/>
              </a:spcBef>
            </a:pPr>
            <a:r>
              <a:rPr lang="en-US" sz="750" dirty="0"/>
              <a:t>&lt;/body&gt;</a:t>
            </a:r>
          </a:p>
          <a:p>
            <a:pPr marL="0">
              <a:spcBef>
                <a:spcPts val="0"/>
              </a:spcBef>
            </a:pPr>
            <a:r>
              <a:rPr lang="en-US" sz="750" dirty="0"/>
              <a:t>&lt;/html&gt;</a:t>
            </a:r>
            <a:endParaRPr lang="ru-RU" sz="750" dirty="0"/>
          </a:p>
        </p:txBody>
      </p:sp>
    </p:spTree>
    <p:extLst>
      <p:ext uri="{BB962C8B-B14F-4D97-AF65-F5344CB8AC3E}">
        <p14:creationId xmlns:p14="http://schemas.microsoft.com/office/powerpoint/2010/main" val="1308461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87DDD-9025-BD0F-615A-D4CF83DB616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3F5F31-7D5D-9B3C-F244-73C7BA1D7793}"/>
              </a:ext>
            </a:extLst>
          </p:cNvPr>
          <p:cNvSpPr>
            <a:spLocks noGrp="1"/>
          </p:cNvSpPr>
          <p:nvPr>
            <p:ph type="title"/>
          </p:nvPr>
        </p:nvSpPr>
        <p:spPr>
          <a:xfrm>
            <a:off x="409074" y="93600"/>
            <a:ext cx="9365241" cy="1113763"/>
          </a:xfrm>
        </p:spPr>
        <p:txBody>
          <a:bodyPr/>
          <a:lstStyle/>
          <a:p>
            <a:r>
              <a:rPr lang="ru-RU" dirty="0"/>
              <a:t>Ход работы. Задание 6</a:t>
            </a:r>
          </a:p>
        </p:txBody>
      </p:sp>
      <p:sp>
        <p:nvSpPr>
          <p:cNvPr id="3" name="Объект 2">
            <a:extLst>
              <a:ext uri="{FF2B5EF4-FFF2-40B4-BE49-F238E27FC236}">
                <a16:creationId xmlns:a16="http://schemas.microsoft.com/office/drawing/2014/main" id="{36BD7FE9-7F92-5AAE-8BDD-5487D2E28C11}"/>
              </a:ext>
            </a:extLst>
          </p:cNvPr>
          <p:cNvSpPr>
            <a:spLocks noGrp="1"/>
          </p:cNvSpPr>
          <p:nvPr>
            <p:ph idx="1"/>
          </p:nvPr>
        </p:nvSpPr>
        <p:spPr>
          <a:xfrm>
            <a:off x="7546205" y="1207363"/>
            <a:ext cx="4535913" cy="5557037"/>
          </a:xfrm>
        </p:spPr>
        <p:txBody>
          <a:bodyPr>
            <a:normAutofit fontScale="55000" lnSpcReduction="20000"/>
          </a:bodyPr>
          <a:lstStyle/>
          <a:p>
            <a:pPr marL="0">
              <a:spcBef>
                <a:spcPts val="0"/>
              </a:spcBef>
            </a:pPr>
            <a:r>
              <a:rPr lang="en-US" dirty="0"/>
              <a:t>&lt;!DOCTYPE html&gt;</a:t>
            </a:r>
          </a:p>
          <a:p>
            <a:pPr marL="0">
              <a:spcBef>
                <a:spcPts val="0"/>
              </a:spcBef>
            </a:pPr>
            <a:r>
              <a:rPr lang="en-US" dirty="0"/>
              <a:t>&lt;html lang="</a:t>
            </a:r>
            <a:r>
              <a:rPr lang="en-US" dirty="0" err="1"/>
              <a:t>ru</a:t>
            </a:r>
            <a:r>
              <a:rPr lang="en-US" dirty="0"/>
              <a:t>"&gt;</a:t>
            </a:r>
          </a:p>
          <a:p>
            <a:pPr marL="0">
              <a:spcBef>
                <a:spcPts val="0"/>
              </a:spcBef>
            </a:pPr>
            <a:r>
              <a:rPr lang="en-US" dirty="0"/>
              <a:t>&lt;head&gt;</a:t>
            </a:r>
          </a:p>
          <a:p>
            <a:pPr marL="0">
              <a:spcBef>
                <a:spcPts val="0"/>
              </a:spcBef>
            </a:pPr>
            <a:r>
              <a:rPr lang="en-US" dirty="0"/>
              <a:t>    &lt;meta charset="UTF-8"&gt;</a:t>
            </a:r>
          </a:p>
          <a:p>
            <a:pPr marL="0">
              <a:spcBef>
                <a:spcPts val="0"/>
              </a:spcBef>
            </a:pPr>
            <a:r>
              <a:rPr lang="en-US" dirty="0"/>
              <a:t>    &lt;title&gt;</a:t>
            </a:r>
            <a:r>
              <a:rPr lang="ru-RU" dirty="0"/>
              <a:t>Задание 6. Цветовая гамма </a:t>
            </a:r>
            <a:r>
              <a:rPr lang="en-US" dirty="0"/>
              <a:t>HTML-</a:t>
            </a:r>
            <a:r>
              <a:rPr lang="ru-RU" dirty="0"/>
              <a:t>документа&lt;/</a:t>
            </a:r>
            <a:r>
              <a:rPr lang="en-US" dirty="0"/>
              <a:t>title&gt;</a:t>
            </a:r>
          </a:p>
          <a:p>
            <a:pPr marL="0">
              <a:spcBef>
                <a:spcPts val="0"/>
              </a:spcBef>
            </a:pPr>
            <a:r>
              <a:rPr lang="en-US" dirty="0"/>
              <a:t>&lt;/head&gt;</a:t>
            </a:r>
          </a:p>
          <a:p>
            <a:pPr marL="0">
              <a:spcBef>
                <a:spcPts val="0"/>
              </a:spcBef>
            </a:pPr>
            <a:r>
              <a:rPr lang="en-US" dirty="0"/>
              <a:t>&lt;body&gt;</a:t>
            </a:r>
          </a:p>
          <a:p>
            <a:pPr marL="0">
              <a:spcBef>
                <a:spcPts val="0"/>
              </a:spcBef>
            </a:pPr>
            <a:r>
              <a:rPr lang="en-US" dirty="0"/>
              <a:t>    &lt;p&gt;&lt;b&gt;&lt;big&gt;</a:t>
            </a:r>
            <a:r>
              <a:rPr lang="ru-RU" dirty="0"/>
              <a:t>Цвета </a:t>
            </a:r>
            <a:r>
              <a:rPr lang="en-US" dirty="0"/>
              <a:t>HTML&lt;/big&gt;&lt;/b&gt;&lt;/p&gt; </a:t>
            </a:r>
          </a:p>
          <a:p>
            <a:pPr marL="0">
              <a:spcBef>
                <a:spcPts val="0"/>
              </a:spcBef>
            </a:pPr>
            <a:r>
              <a:rPr lang="en-US" dirty="0"/>
              <a:t>    &lt;table border="3" width="400px" height="120px"&gt;</a:t>
            </a:r>
          </a:p>
          <a:p>
            <a:pPr marL="0">
              <a:spcBef>
                <a:spcPts val="0"/>
              </a:spcBef>
            </a:pPr>
            <a:r>
              <a:rPr lang="en-US" dirty="0"/>
              <a:t>    &lt;tr align="center"&gt;</a:t>
            </a:r>
          </a:p>
          <a:p>
            <a:pPr marL="0">
              <a:spcBef>
                <a:spcPts val="0"/>
              </a:spcBef>
            </a:pPr>
            <a:r>
              <a:rPr lang="en-US" dirty="0"/>
              <a:t>        &lt;td&gt;&lt;b&gt;</a:t>
            </a:r>
            <a:r>
              <a:rPr lang="ru-RU" dirty="0"/>
              <a:t>Красный&lt;/</a:t>
            </a:r>
            <a:r>
              <a:rPr lang="en-US" dirty="0"/>
              <a:t>b&gt;&lt;/td&gt;</a:t>
            </a:r>
          </a:p>
          <a:p>
            <a:pPr marL="0">
              <a:spcBef>
                <a:spcPts val="0"/>
              </a:spcBef>
            </a:pPr>
            <a:r>
              <a:rPr lang="en-US" dirty="0"/>
              <a:t>        &lt;td </a:t>
            </a:r>
            <a:r>
              <a:rPr lang="en-US" dirty="0" err="1"/>
              <a:t>bgcolor</a:t>
            </a:r>
            <a:r>
              <a:rPr lang="en-US" dirty="0"/>
              <a:t>="#F50505"&gt;#F50505&lt;/td&gt;</a:t>
            </a:r>
          </a:p>
          <a:p>
            <a:pPr marL="0">
              <a:spcBef>
                <a:spcPts val="0"/>
              </a:spcBef>
            </a:pPr>
            <a:r>
              <a:rPr lang="en-US" dirty="0"/>
              <a:t>        &lt;td </a:t>
            </a:r>
            <a:r>
              <a:rPr lang="en-US" dirty="0" err="1"/>
              <a:t>bgcolor</a:t>
            </a:r>
            <a:r>
              <a:rPr lang="en-US" dirty="0"/>
              <a:t>="#FC2424"&gt;#FC2424&lt;/td&gt;</a:t>
            </a:r>
          </a:p>
          <a:p>
            <a:pPr marL="0">
              <a:spcBef>
                <a:spcPts val="0"/>
              </a:spcBef>
            </a:pPr>
            <a:r>
              <a:rPr lang="en-US" dirty="0"/>
              <a:t>        &lt;td </a:t>
            </a:r>
            <a:r>
              <a:rPr lang="en-US" dirty="0" err="1"/>
              <a:t>bgcolor</a:t>
            </a:r>
            <a:r>
              <a:rPr lang="en-US" dirty="0"/>
              <a:t>="#BD0505"&gt;#BD0505&lt;/td&gt;</a:t>
            </a:r>
          </a:p>
          <a:p>
            <a:pPr marL="0">
              <a:spcBef>
                <a:spcPts val="0"/>
              </a:spcBef>
            </a:pPr>
            <a:r>
              <a:rPr lang="en-US" dirty="0"/>
              <a:t>        &lt;td </a:t>
            </a:r>
            <a:r>
              <a:rPr lang="en-US" dirty="0" err="1"/>
              <a:t>bgcolor</a:t>
            </a:r>
            <a:r>
              <a:rPr lang="en-US" dirty="0"/>
              <a:t>="#F55353"&gt;#F55353&lt;/td&gt;</a:t>
            </a:r>
          </a:p>
          <a:p>
            <a:pPr marL="0">
              <a:spcBef>
                <a:spcPts val="0"/>
              </a:spcBef>
            </a:pPr>
            <a:r>
              <a:rPr lang="en-US" dirty="0"/>
              <a:t>    &lt;tr&gt;</a:t>
            </a:r>
          </a:p>
          <a:p>
            <a:pPr marL="0">
              <a:spcBef>
                <a:spcPts val="0"/>
              </a:spcBef>
            </a:pPr>
            <a:r>
              <a:rPr lang="en-US" dirty="0"/>
              <a:t>        &lt;td&gt;&lt;b&gt;</a:t>
            </a:r>
            <a:r>
              <a:rPr lang="ru-RU" dirty="0"/>
              <a:t>Зелёный&lt;/</a:t>
            </a:r>
            <a:r>
              <a:rPr lang="en-US" dirty="0"/>
              <a:t>b&gt;&lt;/td&gt;</a:t>
            </a:r>
          </a:p>
          <a:p>
            <a:pPr marL="0">
              <a:spcBef>
                <a:spcPts val="0"/>
              </a:spcBef>
            </a:pPr>
            <a:r>
              <a:rPr lang="en-US" dirty="0"/>
              <a:t>        &lt;td </a:t>
            </a:r>
            <a:r>
              <a:rPr lang="en-US" dirty="0" err="1"/>
              <a:t>bgcolor</a:t>
            </a:r>
            <a:r>
              <a:rPr lang="en-US" dirty="0"/>
              <a:t>="#57DC10"&gt;#57DC10&lt;/td&gt;</a:t>
            </a:r>
          </a:p>
          <a:p>
            <a:pPr marL="0">
              <a:spcBef>
                <a:spcPts val="0"/>
              </a:spcBef>
            </a:pPr>
            <a:r>
              <a:rPr lang="en-US" dirty="0"/>
              <a:t>        &lt;td </a:t>
            </a:r>
            <a:r>
              <a:rPr lang="en-US" dirty="0" err="1"/>
              <a:t>bgcolor</a:t>
            </a:r>
            <a:r>
              <a:rPr lang="en-US" dirty="0"/>
              <a:t>="#3F990E"&gt;#3F990E&lt;/td&gt;</a:t>
            </a:r>
          </a:p>
          <a:p>
            <a:pPr marL="0">
              <a:spcBef>
                <a:spcPts val="0"/>
              </a:spcBef>
            </a:pPr>
            <a:r>
              <a:rPr lang="en-US" dirty="0"/>
              <a:t>        &lt;td </a:t>
            </a:r>
            <a:r>
              <a:rPr lang="en-US" dirty="0" err="1"/>
              <a:t>bgcolor</a:t>
            </a:r>
            <a:r>
              <a:rPr lang="en-US" dirty="0"/>
              <a:t>="#2C6E08"&gt;#2C6E08&lt;/td&gt;</a:t>
            </a:r>
          </a:p>
          <a:p>
            <a:pPr marL="0">
              <a:spcBef>
                <a:spcPts val="0"/>
              </a:spcBef>
            </a:pPr>
            <a:r>
              <a:rPr lang="en-US" dirty="0"/>
              <a:t>        &lt;td </a:t>
            </a:r>
            <a:r>
              <a:rPr lang="en-US" dirty="0" err="1"/>
              <a:t>bgcolor</a:t>
            </a:r>
            <a:r>
              <a:rPr lang="en-US" dirty="0"/>
              <a:t>="#00EA07"&gt;#00EA07&lt;/td&gt;</a:t>
            </a:r>
          </a:p>
          <a:p>
            <a:pPr marL="0">
              <a:spcBef>
                <a:spcPts val="0"/>
              </a:spcBef>
            </a:pPr>
            <a:r>
              <a:rPr lang="en-US" dirty="0"/>
              <a:t>    &lt;tr&gt;</a:t>
            </a:r>
          </a:p>
          <a:p>
            <a:pPr marL="0">
              <a:spcBef>
                <a:spcPts val="0"/>
              </a:spcBef>
            </a:pPr>
            <a:r>
              <a:rPr lang="en-US" dirty="0"/>
              <a:t>        &lt;td&gt;&lt;b&gt;</a:t>
            </a:r>
            <a:r>
              <a:rPr lang="ru-RU" dirty="0"/>
              <a:t>Синий&lt;/</a:t>
            </a:r>
            <a:r>
              <a:rPr lang="en-US" dirty="0"/>
              <a:t>b&gt;&lt;/td&gt;</a:t>
            </a:r>
          </a:p>
          <a:p>
            <a:pPr marL="0">
              <a:spcBef>
                <a:spcPts val="0"/>
              </a:spcBef>
            </a:pPr>
            <a:r>
              <a:rPr lang="en-US" dirty="0"/>
              <a:t>        &lt;td </a:t>
            </a:r>
            <a:r>
              <a:rPr lang="en-US" dirty="0" err="1"/>
              <a:t>bgcolor</a:t>
            </a:r>
            <a:r>
              <a:rPr lang="en-US" dirty="0"/>
              <a:t>="#0040EA"&gt;#0040EA&lt;/td&gt;</a:t>
            </a:r>
          </a:p>
          <a:p>
            <a:pPr marL="0">
              <a:spcBef>
                <a:spcPts val="0"/>
              </a:spcBef>
            </a:pPr>
            <a:r>
              <a:rPr lang="en-US" dirty="0"/>
              <a:t>        &lt;td </a:t>
            </a:r>
            <a:r>
              <a:rPr lang="en-US" dirty="0" err="1"/>
              <a:t>bgcolor</a:t>
            </a:r>
            <a:r>
              <a:rPr lang="en-US" dirty="0"/>
              <a:t>="#173FAB"&gt;#173FAB&lt;/td&gt;</a:t>
            </a:r>
          </a:p>
          <a:p>
            <a:pPr marL="0">
              <a:spcBef>
                <a:spcPts val="0"/>
              </a:spcBef>
            </a:pPr>
            <a:r>
              <a:rPr lang="en-US" dirty="0"/>
              <a:t>        &lt;td </a:t>
            </a:r>
            <a:r>
              <a:rPr lang="en-US" dirty="0" err="1"/>
              <a:t>bgcolor</a:t>
            </a:r>
            <a:r>
              <a:rPr lang="en-US" dirty="0"/>
              <a:t>="#3B61C6"&gt;#3B61C6&lt;/td&gt;</a:t>
            </a:r>
          </a:p>
          <a:p>
            <a:pPr marL="0">
              <a:spcBef>
                <a:spcPts val="0"/>
              </a:spcBef>
            </a:pPr>
            <a:r>
              <a:rPr lang="en-US" dirty="0"/>
              <a:t>        &lt;td </a:t>
            </a:r>
            <a:r>
              <a:rPr lang="en-US" dirty="0" err="1"/>
              <a:t>bgcolor</a:t>
            </a:r>
            <a:r>
              <a:rPr lang="en-US" dirty="0"/>
              <a:t>="#95A8D8"&gt;#95A8D8&lt;/td&gt;</a:t>
            </a:r>
          </a:p>
          <a:p>
            <a:pPr marL="0">
              <a:spcBef>
                <a:spcPts val="0"/>
              </a:spcBef>
            </a:pPr>
            <a:r>
              <a:rPr lang="en-US" dirty="0"/>
              <a:t>    &lt;/table&gt;    </a:t>
            </a:r>
          </a:p>
          <a:p>
            <a:pPr marL="0">
              <a:spcBef>
                <a:spcPts val="0"/>
              </a:spcBef>
            </a:pPr>
            <a:r>
              <a:rPr lang="en-US" dirty="0"/>
              <a:t>&lt;/body&gt;</a:t>
            </a:r>
          </a:p>
          <a:p>
            <a:pPr marL="0">
              <a:spcBef>
                <a:spcPts val="0"/>
              </a:spcBef>
            </a:pPr>
            <a:r>
              <a:rPr lang="en-US" dirty="0"/>
              <a:t>&lt;/html&gt;</a:t>
            </a:r>
          </a:p>
        </p:txBody>
      </p:sp>
      <p:pic>
        <p:nvPicPr>
          <p:cNvPr id="5" name="Рисунок 4">
            <a:extLst>
              <a:ext uri="{FF2B5EF4-FFF2-40B4-BE49-F238E27FC236}">
                <a16:creationId xmlns:a16="http://schemas.microsoft.com/office/drawing/2014/main" id="{713A8503-98B5-D3EF-5FD7-5B82F1716F13}"/>
              </a:ext>
            </a:extLst>
          </p:cNvPr>
          <p:cNvPicPr>
            <a:picLocks noChangeAspect="1"/>
          </p:cNvPicPr>
          <p:nvPr/>
        </p:nvPicPr>
        <p:blipFill>
          <a:blip r:embed="rId2"/>
          <a:stretch>
            <a:fillRect/>
          </a:stretch>
        </p:blipFill>
        <p:spPr>
          <a:xfrm>
            <a:off x="409074" y="2420754"/>
            <a:ext cx="6647141" cy="2699024"/>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153978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1EF3-F7E5-B646-B50E-3AB24892311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5761FD-E0EB-CF69-4CA0-5224410BDCF7}"/>
              </a:ext>
            </a:extLst>
          </p:cNvPr>
          <p:cNvSpPr>
            <a:spLocks noGrp="1"/>
          </p:cNvSpPr>
          <p:nvPr>
            <p:ph type="title"/>
          </p:nvPr>
        </p:nvSpPr>
        <p:spPr>
          <a:xfrm>
            <a:off x="409074" y="93600"/>
            <a:ext cx="9365241" cy="1113763"/>
          </a:xfrm>
        </p:spPr>
        <p:txBody>
          <a:bodyPr/>
          <a:lstStyle/>
          <a:p>
            <a:r>
              <a:rPr lang="ru-RU" dirty="0"/>
              <a:t>Ход работы. Задание 7</a:t>
            </a:r>
          </a:p>
        </p:txBody>
      </p:sp>
      <p:sp>
        <p:nvSpPr>
          <p:cNvPr id="3" name="Объект 2">
            <a:extLst>
              <a:ext uri="{FF2B5EF4-FFF2-40B4-BE49-F238E27FC236}">
                <a16:creationId xmlns:a16="http://schemas.microsoft.com/office/drawing/2014/main" id="{D3610AE5-3257-8B54-EE77-D7834E2CDD34}"/>
              </a:ext>
            </a:extLst>
          </p:cNvPr>
          <p:cNvSpPr>
            <a:spLocks noGrp="1"/>
          </p:cNvSpPr>
          <p:nvPr>
            <p:ph idx="1"/>
          </p:nvPr>
        </p:nvSpPr>
        <p:spPr>
          <a:xfrm>
            <a:off x="204513" y="3428999"/>
            <a:ext cx="8231564" cy="3296265"/>
          </a:xfrm>
        </p:spPr>
        <p:txBody>
          <a:bodyPr>
            <a:normAutofit fontScale="55000" lnSpcReduction="20000"/>
          </a:bodyPr>
          <a:lstStyle/>
          <a:p>
            <a:pPr marL="0">
              <a:spcBef>
                <a:spcPts val="0"/>
              </a:spcBef>
            </a:pPr>
            <a:r>
              <a:rPr lang="en-US" dirty="0"/>
              <a:t>&lt;!DOCTYPE html&gt;</a:t>
            </a:r>
          </a:p>
          <a:p>
            <a:pPr marL="0">
              <a:spcBef>
                <a:spcPts val="0"/>
              </a:spcBef>
            </a:pPr>
            <a:r>
              <a:rPr lang="en-US" dirty="0"/>
              <a:t>&lt;html lang="</a:t>
            </a:r>
            <a:r>
              <a:rPr lang="en-US" dirty="0" err="1"/>
              <a:t>ru</a:t>
            </a:r>
            <a:r>
              <a:rPr lang="en-US" dirty="0"/>
              <a:t>"&gt;</a:t>
            </a:r>
          </a:p>
          <a:p>
            <a:pPr marL="0">
              <a:spcBef>
                <a:spcPts val="0"/>
              </a:spcBef>
            </a:pPr>
            <a:r>
              <a:rPr lang="en-US" dirty="0"/>
              <a:t>&lt;head&gt;</a:t>
            </a:r>
          </a:p>
          <a:p>
            <a:pPr marL="0">
              <a:spcBef>
                <a:spcPts val="0"/>
              </a:spcBef>
            </a:pPr>
            <a:r>
              <a:rPr lang="en-US" dirty="0"/>
              <a:t>    &lt;meta charset="UTF-8"&gt;</a:t>
            </a:r>
          </a:p>
          <a:p>
            <a:pPr marL="0">
              <a:spcBef>
                <a:spcPts val="0"/>
              </a:spcBef>
            </a:pPr>
            <a:r>
              <a:rPr lang="en-US" dirty="0"/>
              <a:t>    &lt;title&gt;</a:t>
            </a:r>
            <a:r>
              <a:rPr lang="ru-RU" dirty="0"/>
              <a:t>Задание 7. Радуга&lt;/</a:t>
            </a:r>
            <a:r>
              <a:rPr lang="en-US" dirty="0"/>
              <a:t>title&gt;</a:t>
            </a:r>
          </a:p>
          <a:p>
            <a:pPr marL="0">
              <a:spcBef>
                <a:spcPts val="0"/>
              </a:spcBef>
            </a:pPr>
            <a:r>
              <a:rPr lang="en-US" dirty="0"/>
              <a:t>&lt;/head&gt;</a:t>
            </a:r>
          </a:p>
          <a:p>
            <a:pPr marL="0">
              <a:spcBef>
                <a:spcPts val="0"/>
              </a:spcBef>
            </a:pPr>
            <a:r>
              <a:rPr lang="en-US" dirty="0"/>
              <a:t>&lt;body&gt;</a:t>
            </a:r>
          </a:p>
          <a:p>
            <a:pPr marL="0">
              <a:spcBef>
                <a:spcPts val="0"/>
              </a:spcBef>
            </a:pPr>
            <a:r>
              <a:rPr lang="en-US" dirty="0"/>
              <a:t>    &lt;table align="center" width="800" height="200"&gt;</a:t>
            </a:r>
          </a:p>
          <a:p>
            <a:pPr marL="0">
              <a:spcBef>
                <a:spcPts val="0"/>
              </a:spcBef>
            </a:pPr>
            <a:r>
              <a:rPr lang="en-US" dirty="0"/>
              <a:t>        &lt;tr </a:t>
            </a:r>
            <a:r>
              <a:rPr lang="en-US" dirty="0" err="1"/>
              <a:t>bgcolor</a:t>
            </a:r>
            <a:r>
              <a:rPr lang="en-US" dirty="0"/>
              <a:t>="red"&gt;&lt;td&gt;</a:t>
            </a:r>
            <a:r>
              <a:rPr lang="ru-RU" dirty="0"/>
              <a:t>Красный&lt;/</a:t>
            </a:r>
            <a:r>
              <a:rPr lang="en-US" dirty="0"/>
              <a:t>td&gt;</a:t>
            </a:r>
          </a:p>
          <a:p>
            <a:pPr marL="0">
              <a:spcBef>
                <a:spcPts val="0"/>
              </a:spcBef>
            </a:pPr>
            <a:r>
              <a:rPr lang="en-US" dirty="0"/>
              <a:t>        &lt;tr </a:t>
            </a:r>
            <a:r>
              <a:rPr lang="en-US" dirty="0" err="1"/>
              <a:t>bgcolor</a:t>
            </a:r>
            <a:r>
              <a:rPr lang="en-US" dirty="0"/>
              <a:t>="orange"&gt;&lt;td&gt;</a:t>
            </a:r>
            <a:r>
              <a:rPr lang="ru-RU" dirty="0"/>
              <a:t>Оранжевый&lt;/</a:t>
            </a:r>
            <a:r>
              <a:rPr lang="en-US" dirty="0"/>
              <a:t>td&gt;</a:t>
            </a:r>
          </a:p>
          <a:p>
            <a:pPr marL="0">
              <a:spcBef>
                <a:spcPts val="0"/>
              </a:spcBef>
            </a:pPr>
            <a:r>
              <a:rPr lang="en-US" dirty="0"/>
              <a:t>        &lt;tr </a:t>
            </a:r>
            <a:r>
              <a:rPr lang="en-US" dirty="0" err="1"/>
              <a:t>bgcolor</a:t>
            </a:r>
            <a:r>
              <a:rPr lang="en-US" dirty="0"/>
              <a:t>="yellow"&gt;&lt;td&gt;</a:t>
            </a:r>
            <a:r>
              <a:rPr lang="ru-RU" dirty="0"/>
              <a:t>Желтый&lt;/</a:t>
            </a:r>
            <a:r>
              <a:rPr lang="en-US" dirty="0"/>
              <a:t>td&gt;</a:t>
            </a:r>
          </a:p>
          <a:p>
            <a:pPr marL="0">
              <a:spcBef>
                <a:spcPts val="0"/>
              </a:spcBef>
            </a:pPr>
            <a:r>
              <a:rPr lang="en-US" dirty="0"/>
              <a:t>        &lt;tr </a:t>
            </a:r>
            <a:r>
              <a:rPr lang="en-US" dirty="0" err="1"/>
              <a:t>bgcolor</a:t>
            </a:r>
            <a:r>
              <a:rPr lang="en-US" dirty="0"/>
              <a:t>="green"&gt;&lt;td&gt;</a:t>
            </a:r>
            <a:r>
              <a:rPr lang="ru-RU" dirty="0"/>
              <a:t>Зеленый&lt;/</a:t>
            </a:r>
            <a:r>
              <a:rPr lang="en-US" dirty="0"/>
              <a:t>td&gt;</a:t>
            </a:r>
          </a:p>
          <a:p>
            <a:pPr marL="0">
              <a:spcBef>
                <a:spcPts val="0"/>
              </a:spcBef>
            </a:pPr>
            <a:r>
              <a:rPr lang="en-US" dirty="0"/>
              <a:t>        &lt;tr </a:t>
            </a:r>
            <a:r>
              <a:rPr lang="en-US" dirty="0" err="1"/>
              <a:t>bgcolor</a:t>
            </a:r>
            <a:r>
              <a:rPr lang="en-US" dirty="0"/>
              <a:t>="</a:t>
            </a:r>
            <a:r>
              <a:rPr lang="en-US" dirty="0" err="1"/>
              <a:t>royalblue</a:t>
            </a:r>
            <a:r>
              <a:rPr lang="en-US" dirty="0"/>
              <a:t>"&gt;&lt;td&gt;</a:t>
            </a:r>
            <a:r>
              <a:rPr lang="ru-RU" dirty="0"/>
              <a:t>Голубой&lt;/</a:t>
            </a:r>
            <a:r>
              <a:rPr lang="en-US" dirty="0"/>
              <a:t>td&gt;</a:t>
            </a:r>
          </a:p>
          <a:p>
            <a:pPr marL="0">
              <a:spcBef>
                <a:spcPts val="0"/>
              </a:spcBef>
            </a:pPr>
            <a:r>
              <a:rPr lang="en-US" dirty="0"/>
              <a:t>        &lt;tr </a:t>
            </a:r>
            <a:r>
              <a:rPr lang="en-US" dirty="0" err="1"/>
              <a:t>bgcolor</a:t>
            </a:r>
            <a:r>
              <a:rPr lang="en-US" dirty="0"/>
              <a:t>="blue"&gt;&lt;td&gt;</a:t>
            </a:r>
            <a:r>
              <a:rPr lang="ru-RU" dirty="0"/>
              <a:t>Синий&lt;/</a:t>
            </a:r>
            <a:r>
              <a:rPr lang="en-US" dirty="0"/>
              <a:t>td&gt;</a:t>
            </a:r>
          </a:p>
          <a:p>
            <a:pPr marL="0">
              <a:spcBef>
                <a:spcPts val="0"/>
              </a:spcBef>
            </a:pPr>
            <a:r>
              <a:rPr lang="en-US" dirty="0"/>
              <a:t>        &lt;tr </a:t>
            </a:r>
            <a:r>
              <a:rPr lang="en-US" dirty="0" err="1"/>
              <a:t>bgcolor</a:t>
            </a:r>
            <a:r>
              <a:rPr lang="en-US" dirty="0"/>
              <a:t>="purple"&gt;&lt;td&gt;</a:t>
            </a:r>
            <a:r>
              <a:rPr lang="ru-RU" dirty="0"/>
              <a:t>Фиолетовый&lt;/</a:t>
            </a:r>
            <a:r>
              <a:rPr lang="en-US" dirty="0"/>
              <a:t>td&gt;</a:t>
            </a:r>
          </a:p>
          <a:p>
            <a:pPr marL="0">
              <a:spcBef>
                <a:spcPts val="0"/>
              </a:spcBef>
            </a:pPr>
            <a:r>
              <a:rPr lang="en-US" dirty="0"/>
              <a:t>        &lt;/table&gt;    </a:t>
            </a:r>
          </a:p>
          <a:p>
            <a:pPr marL="0">
              <a:spcBef>
                <a:spcPts val="0"/>
              </a:spcBef>
            </a:pPr>
            <a:r>
              <a:rPr lang="en-US" dirty="0"/>
              <a:t>&lt;/body&gt;</a:t>
            </a:r>
          </a:p>
          <a:p>
            <a:pPr marL="0">
              <a:spcBef>
                <a:spcPts val="0"/>
              </a:spcBef>
            </a:pPr>
            <a:r>
              <a:rPr lang="en-US" dirty="0"/>
              <a:t>&lt;/html&gt;</a:t>
            </a:r>
          </a:p>
        </p:txBody>
      </p:sp>
      <p:pic>
        <p:nvPicPr>
          <p:cNvPr id="6" name="Рисунок 5">
            <a:extLst>
              <a:ext uri="{FF2B5EF4-FFF2-40B4-BE49-F238E27FC236}">
                <a16:creationId xmlns:a16="http://schemas.microsoft.com/office/drawing/2014/main" id="{B5D4A5E6-86D0-E2DB-6A43-1B36EA71D025}"/>
              </a:ext>
            </a:extLst>
          </p:cNvPr>
          <p:cNvPicPr>
            <a:picLocks noChangeAspect="1"/>
          </p:cNvPicPr>
          <p:nvPr/>
        </p:nvPicPr>
        <p:blipFill>
          <a:blip r:embed="rId2"/>
          <a:stretch>
            <a:fillRect/>
          </a:stretch>
        </p:blipFill>
        <p:spPr>
          <a:xfrm>
            <a:off x="339195" y="1132808"/>
            <a:ext cx="11375939" cy="1916139"/>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97942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253E8-74A3-260A-71D4-68472ADB725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654219-789F-9BB2-D00B-1D00FB48484A}"/>
              </a:ext>
            </a:extLst>
          </p:cNvPr>
          <p:cNvSpPr>
            <a:spLocks noGrp="1"/>
          </p:cNvSpPr>
          <p:nvPr>
            <p:ph type="title"/>
          </p:nvPr>
        </p:nvSpPr>
        <p:spPr>
          <a:xfrm>
            <a:off x="409074" y="93600"/>
            <a:ext cx="9365241" cy="1113763"/>
          </a:xfrm>
        </p:spPr>
        <p:txBody>
          <a:bodyPr/>
          <a:lstStyle/>
          <a:p>
            <a:r>
              <a:rPr lang="ru-RU" dirty="0"/>
              <a:t>Ход работы. Задание 8</a:t>
            </a:r>
          </a:p>
        </p:txBody>
      </p:sp>
      <p:sp>
        <p:nvSpPr>
          <p:cNvPr id="3" name="Объект 2">
            <a:extLst>
              <a:ext uri="{FF2B5EF4-FFF2-40B4-BE49-F238E27FC236}">
                <a16:creationId xmlns:a16="http://schemas.microsoft.com/office/drawing/2014/main" id="{40F2D0EC-C283-E5BC-A14D-58CCE1F2BCB6}"/>
              </a:ext>
            </a:extLst>
          </p:cNvPr>
          <p:cNvSpPr>
            <a:spLocks noGrp="1"/>
          </p:cNvSpPr>
          <p:nvPr>
            <p:ph idx="1"/>
          </p:nvPr>
        </p:nvSpPr>
        <p:spPr>
          <a:xfrm>
            <a:off x="7143134" y="693174"/>
            <a:ext cx="5614219" cy="6223819"/>
          </a:xfrm>
        </p:spPr>
        <p:txBody>
          <a:bodyPr>
            <a:normAutofit fontScale="32500" lnSpcReduction="20000"/>
          </a:bodyPr>
          <a:lstStyle/>
          <a:p>
            <a:pPr marL="0">
              <a:spcBef>
                <a:spcPts val="0"/>
              </a:spcBef>
            </a:pPr>
            <a:r>
              <a:rPr lang="en-US" dirty="0"/>
              <a:t>&lt;!DOCTYPE html&gt;</a:t>
            </a:r>
          </a:p>
          <a:p>
            <a:pPr marL="0">
              <a:spcBef>
                <a:spcPts val="0"/>
              </a:spcBef>
            </a:pPr>
            <a:r>
              <a:rPr lang="en-US" dirty="0"/>
              <a:t>&lt;html lang="</a:t>
            </a:r>
            <a:r>
              <a:rPr lang="en-US" dirty="0" err="1"/>
              <a:t>ru</a:t>
            </a:r>
            <a:r>
              <a:rPr lang="en-US" dirty="0"/>
              <a:t>"&gt;</a:t>
            </a:r>
          </a:p>
          <a:p>
            <a:pPr marL="0">
              <a:spcBef>
                <a:spcPts val="0"/>
              </a:spcBef>
            </a:pPr>
            <a:r>
              <a:rPr lang="en-US" dirty="0"/>
              <a:t>&lt;head&gt;</a:t>
            </a:r>
          </a:p>
          <a:p>
            <a:pPr marL="0">
              <a:spcBef>
                <a:spcPts val="0"/>
              </a:spcBef>
            </a:pPr>
            <a:r>
              <a:rPr lang="en-US" dirty="0"/>
              <a:t>    &lt;meta charset="UTF-8"&gt;</a:t>
            </a:r>
          </a:p>
          <a:p>
            <a:pPr marL="0">
              <a:spcBef>
                <a:spcPts val="0"/>
              </a:spcBef>
            </a:pPr>
            <a:r>
              <a:rPr lang="en-US" dirty="0"/>
              <a:t>    &lt;title&gt;</a:t>
            </a:r>
            <a:r>
              <a:rPr lang="ru-RU" dirty="0"/>
              <a:t>Задание 8. Зачётная книжка&lt;/</a:t>
            </a:r>
            <a:r>
              <a:rPr lang="en-US" dirty="0"/>
              <a:t>title&gt;</a:t>
            </a:r>
          </a:p>
          <a:p>
            <a:pPr marL="0">
              <a:spcBef>
                <a:spcPts val="0"/>
              </a:spcBef>
            </a:pPr>
            <a:r>
              <a:rPr lang="en-US" dirty="0"/>
              <a:t>&lt;/head&gt;</a:t>
            </a:r>
          </a:p>
          <a:p>
            <a:pPr marL="0">
              <a:spcBef>
                <a:spcPts val="0"/>
              </a:spcBef>
            </a:pPr>
            <a:r>
              <a:rPr lang="en-US" dirty="0"/>
              <a:t>&lt;body&gt;</a:t>
            </a:r>
          </a:p>
          <a:p>
            <a:pPr marL="0">
              <a:spcBef>
                <a:spcPts val="0"/>
              </a:spcBef>
            </a:pPr>
            <a:r>
              <a:rPr lang="en-US" dirty="0"/>
              <a:t>    &lt;p&gt;&lt;b&gt;</a:t>
            </a:r>
            <a:r>
              <a:rPr lang="ru-RU" dirty="0"/>
              <a:t>Зачётная книжка 23-КБ-ПР245к&lt;/</a:t>
            </a:r>
            <a:r>
              <a:rPr lang="en-US" dirty="0"/>
              <a:t>b&gt;&lt;/p&gt;</a:t>
            </a:r>
          </a:p>
          <a:p>
            <a:pPr marL="0">
              <a:spcBef>
                <a:spcPts val="0"/>
              </a:spcBef>
            </a:pPr>
            <a:r>
              <a:rPr lang="en-US" dirty="0"/>
              <a:t>    &lt;</a:t>
            </a:r>
            <a:r>
              <a:rPr lang="en-US" dirty="0" err="1"/>
              <a:t>hr</a:t>
            </a:r>
            <a:r>
              <a:rPr lang="en-US" dirty="0"/>
              <a:t> size="3" color="black"&gt;</a:t>
            </a:r>
          </a:p>
          <a:p>
            <a:pPr marL="0">
              <a:spcBef>
                <a:spcPts val="0"/>
              </a:spcBef>
            </a:pPr>
            <a:r>
              <a:rPr lang="en-US" dirty="0"/>
              <a:t>    </a:t>
            </a:r>
            <a:r>
              <a:rPr lang="ru-RU" dirty="0"/>
              <a:t>Результаты летней сессии 2 КУРС Лыков Артем Валерьевич</a:t>
            </a:r>
          </a:p>
          <a:p>
            <a:pPr marL="0">
              <a:spcBef>
                <a:spcPts val="0"/>
              </a:spcBef>
            </a:pPr>
            <a:r>
              <a:rPr lang="ru-RU" dirty="0"/>
              <a:t>    &lt;</a:t>
            </a:r>
            <a:r>
              <a:rPr lang="en-US" dirty="0"/>
              <a:t>table border="2" width="600" height="100"&gt;</a:t>
            </a:r>
          </a:p>
          <a:p>
            <a:pPr marL="0">
              <a:spcBef>
                <a:spcPts val="0"/>
              </a:spcBef>
            </a:pPr>
            <a:r>
              <a:rPr lang="en-US" dirty="0"/>
              <a:t>    &lt;tr align="center"&gt;</a:t>
            </a:r>
          </a:p>
          <a:p>
            <a:pPr marL="0">
              <a:spcBef>
                <a:spcPts val="0"/>
              </a:spcBef>
            </a:pPr>
            <a:r>
              <a:rPr lang="en-US" dirty="0"/>
              <a:t>        &lt;td&gt;№</a:t>
            </a:r>
            <a:r>
              <a:rPr lang="ru-RU" dirty="0"/>
              <a:t>п/п&lt;/</a:t>
            </a:r>
            <a:r>
              <a:rPr lang="en-US" dirty="0"/>
              <a:t>td&gt;</a:t>
            </a:r>
          </a:p>
          <a:p>
            <a:pPr marL="0">
              <a:spcBef>
                <a:spcPts val="0"/>
              </a:spcBef>
            </a:pPr>
            <a:r>
              <a:rPr lang="en-US" dirty="0"/>
              <a:t>        &lt;td&gt;</a:t>
            </a:r>
            <a:r>
              <a:rPr lang="ru-RU" dirty="0"/>
              <a:t>Наименование дисциплины&lt;/</a:t>
            </a:r>
            <a:r>
              <a:rPr lang="en-US" dirty="0"/>
              <a:t>td&gt;</a:t>
            </a:r>
          </a:p>
          <a:p>
            <a:pPr marL="0">
              <a:spcBef>
                <a:spcPts val="0"/>
              </a:spcBef>
            </a:pPr>
            <a:r>
              <a:rPr lang="en-US" dirty="0"/>
              <a:t>        &lt;td&gt;</a:t>
            </a:r>
            <a:r>
              <a:rPr lang="ru-RU" dirty="0"/>
              <a:t>Общее кол. часов&lt;/</a:t>
            </a:r>
            <a:r>
              <a:rPr lang="en-US" dirty="0"/>
              <a:t>td&gt;</a:t>
            </a:r>
          </a:p>
          <a:p>
            <a:pPr marL="0">
              <a:spcBef>
                <a:spcPts val="0"/>
              </a:spcBef>
            </a:pPr>
            <a:r>
              <a:rPr lang="en-US" dirty="0"/>
              <a:t>        &lt;td&gt;</a:t>
            </a:r>
            <a:r>
              <a:rPr lang="ru-RU" dirty="0"/>
              <a:t>Оценка&lt;/</a:t>
            </a:r>
            <a:r>
              <a:rPr lang="en-US" dirty="0"/>
              <a:t>td&gt;</a:t>
            </a:r>
          </a:p>
          <a:p>
            <a:pPr marL="0">
              <a:spcBef>
                <a:spcPts val="0"/>
              </a:spcBef>
            </a:pPr>
            <a:r>
              <a:rPr lang="en-US" dirty="0"/>
              <a:t>        &lt;td&gt;</a:t>
            </a:r>
            <a:r>
              <a:rPr lang="ru-RU" dirty="0"/>
              <a:t>Дата сдачи экзамена&lt;/</a:t>
            </a:r>
            <a:r>
              <a:rPr lang="en-US" dirty="0"/>
              <a:t>td&gt;</a:t>
            </a:r>
          </a:p>
          <a:p>
            <a:pPr marL="0">
              <a:spcBef>
                <a:spcPts val="0"/>
              </a:spcBef>
            </a:pPr>
            <a:r>
              <a:rPr lang="en-US" dirty="0"/>
              <a:t>        &lt;td&gt;</a:t>
            </a:r>
            <a:r>
              <a:rPr lang="ru-RU" dirty="0"/>
              <a:t>Подпись преподавателя&lt;/</a:t>
            </a:r>
            <a:r>
              <a:rPr lang="en-US" dirty="0"/>
              <a:t>td&gt;	</a:t>
            </a:r>
          </a:p>
          <a:p>
            <a:pPr marL="0">
              <a:spcBef>
                <a:spcPts val="0"/>
              </a:spcBef>
            </a:pPr>
            <a:r>
              <a:rPr lang="en-US" dirty="0"/>
              <a:t>        &lt;td&gt;</a:t>
            </a:r>
            <a:r>
              <a:rPr lang="ru-RU" dirty="0"/>
              <a:t>Фамилия преподавателя&lt;/</a:t>
            </a:r>
            <a:r>
              <a:rPr lang="en-US" dirty="0"/>
              <a:t>td&gt;</a:t>
            </a:r>
          </a:p>
          <a:p>
            <a:pPr marL="0">
              <a:spcBef>
                <a:spcPts val="0"/>
              </a:spcBef>
            </a:pPr>
            <a:r>
              <a:rPr lang="en-US" dirty="0"/>
              <a:t>    &lt;tr&gt;</a:t>
            </a:r>
          </a:p>
          <a:p>
            <a:pPr marL="0">
              <a:spcBef>
                <a:spcPts val="0"/>
              </a:spcBef>
            </a:pPr>
            <a:r>
              <a:rPr lang="en-US" dirty="0"/>
              <a:t>        &lt;td&gt;1&lt;/td&gt;</a:t>
            </a:r>
          </a:p>
          <a:p>
            <a:pPr marL="0">
              <a:spcBef>
                <a:spcPts val="0"/>
              </a:spcBef>
            </a:pPr>
            <a:r>
              <a:rPr lang="en-US" dirty="0"/>
              <a:t>        &lt;td&gt;</a:t>
            </a:r>
            <a:r>
              <a:rPr lang="ru-RU" dirty="0"/>
              <a:t>Философия&lt;/</a:t>
            </a:r>
            <a:r>
              <a:rPr lang="en-US" dirty="0"/>
              <a:t>td&gt;</a:t>
            </a:r>
          </a:p>
          <a:p>
            <a:pPr marL="0">
              <a:spcBef>
                <a:spcPts val="0"/>
              </a:spcBef>
            </a:pPr>
            <a:r>
              <a:rPr lang="en-US" dirty="0"/>
              <a:t>        &lt;td&gt;-&lt;/td&gt;</a:t>
            </a:r>
          </a:p>
          <a:p>
            <a:pPr marL="0">
              <a:spcBef>
                <a:spcPts val="0"/>
              </a:spcBef>
            </a:pPr>
            <a:r>
              <a:rPr lang="en-US" dirty="0"/>
              <a:t>        &lt;td&gt;</a:t>
            </a:r>
            <a:r>
              <a:rPr lang="ru-RU" dirty="0"/>
              <a:t>отлично&lt;/</a:t>
            </a:r>
            <a:r>
              <a:rPr lang="en-US" dirty="0"/>
              <a:t>td&gt;</a:t>
            </a:r>
          </a:p>
          <a:p>
            <a:pPr marL="0">
              <a:spcBef>
                <a:spcPts val="0"/>
              </a:spcBef>
            </a:pPr>
            <a:r>
              <a:rPr lang="en-US" dirty="0"/>
              <a:t>        &lt;td&gt;10.06.2025&lt;/td&gt;</a:t>
            </a:r>
          </a:p>
          <a:p>
            <a:pPr marL="0">
              <a:spcBef>
                <a:spcPts val="0"/>
              </a:spcBef>
            </a:pPr>
            <a:r>
              <a:rPr lang="en-US" dirty="0"/>
              <a:t>        &lt;td&gt;-&lt;/td&gt;</a:t>
            </a:r>
          </a:p>
          <a:p>
            <a:pPr marL="0">
              <a:spcBef>
                <a:spcPts val="0"/>
              </a:spcBef>
            </a:pPr>
            <a:r>
              <a:rPr lang="en-US" dirty="0"/>
              <a:t>        &lt;td&gt;</a:t>
            </a:r>
            <a:r>
              <a:rPr lang="ru-RU" dirty="0"/>
              <a:t>Пашкова&lt;/</a:t>
            </a:r>
            <a:r>
              <a:rPr lang="en-US" dirty="0"/>
              <a:t>td&gt;</a:t>
            </a:r>
          </a:p>
          <a:p>
            <a:pPr marL="0">
              <a:spcBef>
                <a:spcPts val="0"/>
              </a:spcBef>
            </a:pPr>
            <a:r>
              <a:rPr lang="en-US" dirty="0"/>
              <a:t>    &lt;tr&gt;</a:t>
            </a:r>
          </a:p>
          <a:p>
            <a:pPr marL="0">
              <a:spcBef>
                <a:spcPts val="0"/>
              </a:spcBef>
            </a:pPr>
            <a:r>
              <a:rPr lang="en-US" dirty="0"/>
              <a:t>        &lt;td&gt;2&lt;/td&gt;</a:t>
            </a:r>
          </a:p>
          <a:p>
            <a:pPr marL="0">
              <a:spcBef>
                <a:spcPts val="0"/>
              </a:spcBef>
            </a:pPr>
            <a:r>
              <a:rPr lang="en-US" dirty="0"/>
              <a:t>        &lt;td&gt;</a:t>
            </a:r>
            <a:r>
              <a:rPr lang="ru-RU" dirty="0"/>
              <a:t>Базы данных&lt;/</a:t>
            </a:r>
            <a:r>
              <a:rPr lang="en-US" dirty="0"/>
              <a:t>td&gt;</a:t>
            </a:r>
          </a:p>
          <a:p>
            <a:pPr marL="0">
              <a:spcBef>
                <a:spcPts val="0"/>
              </a:spcBef>
            </a:pPr>
            <a:r>
              <a:rPr lang="en-US" dirty="0"/>
              <a:t>        &lt;td&gt;-&lt;/td&gt;</a:t>
            </a:r>
          </a:p>
          <a:p>
            <a:pPr marL="0">
              <a:spcBef>
                <a:spcPts val="0"/>
              </a:spcBef>
            </a:pPr>
            <a:r>
              <a:rPr lang="en-US" dirty="0"/>
              <a:t>        &lt;td&gt;</a:t>
            </a:r>
            <a:r>
              <a:rPr lang="ru-RU" dirty="0"/>
              <a:t>отлично&lt;/</a:t>
            </a:r>
            <a:r>
              <a:rPr lang="en-US" dirty="0"/>
              <a:t>td&gt;</a:t>
            </a:r>
          </a:p>
          <a:p>
            <a:pPr marL="0">
              <a:spcBef>
                <a:spcPts val="0"/>
              </a:spcBef>
            </a:pPr>
            <a:r>
              <a:rPr lang="en-US" dirty="0"/>
              <a:t>        &lt;td&gt;13.06.2025&lt;/td&gt;</a:t>
            </a:r>
          </a:p>
          <a:p>
            <a:pPr marL="0">
              <a:spcBef>
                <a:spcPts val="0"/>
              </a:spcBef>
            </a:pPr>
            <a:r>
              <a:rPr lang="en-US" dirty="0"/>
              <a:t>        &lt;td&gt;-&lt;/td&gt;</a:t>
            </a:r>
          </a:p>
          <a:p>
            <a:pPr marL="0">
              <a:spcBef>
                <a:spcPts val="0"/>
              </a:spcBef>
            </a:pPr>
            <a:r>
              <a:rPr lang="en-US" dirty="0"/>
              <a:t>        &lt;td&gt;</a:t>
            </a:r>
            <a:r>
              <a:rPr lang="ru-RU" dirty="0"/>
              <a:t>Янаева&lt;/</a:t>
            </a:r>
            <a:r>
              <a:rPr lang="en-US" dirty="0"/>
              <a:t>td&gt;</a:t>
            </a:r>
          </a:p>
          <a:p>
            <a:pPr marL="0">
              <a:spcBef>
                <a:spcPts val="0"/>
              </a:spcBef>
            </a:pPr>
            <a:r>
              <a:rPr lang="en-US" dirty="0"/>
              <a:t>    &lt;tr&gt;</a:t>
            </a:r>
          </a:p>
          <a:p>
            <a:pPr marL="0">
              <a:spcBef>
                <a:spcPts val="0"/>
              </a:spcBef>
            </a:pPr>
            <a:r>
              <a:rPr lang="en-US" dirty="0"/>
              <a:t>        &lt;td&gt;3&lt;/td&gt;</a:t>
            </a:r>
          </a:p>
          <a:p>
            <a:pPr marL="0">
              <a:spcBef>
                <a:spcPts val="0"/>
              </a:spcBef>
            </a:pPr>
            <a:r>
              <a:rPr lang="en-US" dirty="0"/>
              <a:t>        &lt;td&gt;</a:t>
            </a:r>
            <a:r>
              <a:rPr lang="ru-RU" dirty="0"/>
              <a:t>Теория вероятностей и математическая статистика&lt;/</a:t>
            </a:r>
            <a:r>
              <a:rPr lang="en-US" dirty="0"/>
              <a:t>td&gt;</a:t>
            </a:r>
          </a:p>
          <a:p>
            <a:pPr marL="0">
              <a:spcBef>
                <a:spcPts val="0"/>
              </a:spcBef>
            </a:pPr>
            <a:r>
              <a:rPr lang="en-US" dirty="0"/>
              <a:t>        &lt;td&gt;-&lt;/td&gt;</a:t>
            </a:r>
          </a:p>
          <a:p>
            <a:pPr marL="0">
              <a:spcBef>
                <a:spcPts val="0"/>
              </a:spcBef>
            </a:pPr>
            <a:r>
              <a:rPr lang="en-US" dirty="0"/>
              <a:t>        &lt;td&gt;</a:t>
            </a:r>
            <a:r>
              <a:rPr lang="ru-RU" dirty="0"/>
              <a:t>хорошо&lt;/</a:t>
            </a:r>
            <a:r>
              <a:rPr lang="en-US" dirty="0"/>
              <a:t>td&gt;</a:t>
            </a:r>
          </a:p>
          <a:p>
            <a:pPr marL="0">
              <a:spcBef>
                <a:spcPts val="0"/>
              </a:spcBef>
            </a:pPr>
            <a:r>
              <a:rPr lang="en-US" dirty="0"/>
              <a:t>        &lt;td&gt;16.06.2025&lt;/td&gt;</a:t>
            </a:r>
          </a:p>
          <a:p>
            <a:pPr marL="0">
              <a:spcBef>
                <a:spcPts val="0"/>
              </a:spcBef>
            </a:pPr>
            <a:r>
              <a:rPr lang="en-US" dirty="0"/>
              <a:t>        &lt;td&gt;-&lt;/td&gt;</a:t>
            </a:r>
          </a:p>
          <a:p>
            <a:pPr marL="0">
              <a:spcBef>
                <a:spcPts val="0"/>
              </a:spcBef>
            </a:pPr>
            <a:r>
              <a:rPr lang="en-US" dirty="0"/>
              <a:t>        &lt;td&gt;</a:t>
            </a:r>
            <a:r>
              <a:rPr lang="ru-RU" dirty="0" err="1"/>
              <a:t>Хить</a:t>
            </a:r>
            <a:r>
              <a:rPr lang="ru-RU" dirty="0"/>
              <a:t>&lt;/</a:t>
            </a:r>
            <a:r>
              <a:rPr lang="en-US" dirty="0"/>
              <a:t>td&gt;</a:t>
            </a:r>
          </a:p>
          <a:p>
            <a:pPr marL="0">
              <a:spcBef>
                <a:spcPts val="0"/>
              </a:spcBef>
            </a:pPr>
            <a:r>
              <a:rPr lang="en-US" dirty="0"/>
              <a:t>    &lt;tr&gt;</a:t>
            </a:r>
          </a:p>
          <a:p>
            <a:pPr marL="0">
              <a:spcBef>
                <a:spcPts val="0"/>
              </a:spcBef>
            </a:pPr>
            <a:r>
              <a:rPr lang="en-US" dirty="0"/>
              <a:t>        &lt;td&gt;3&lt;/td&gt;</a:t>
            </a:r>
          </a:p>
          <a:p>
            <a:pPr marL="0">
              <a:spcBef>
                <a:spcPts val="0"/>
              </a:spcBef>
            </a:pPr>
            <a:r>
              <a:rPr lang="en-US" dirty="0"/>
              <a:t>        &lt;td&gt;</a:t>
            </a:r>
            <a:r>
              <a:rPr lang="ru-RU" dirty="0"/>
              <a:t>Объектно-ориентированный анализ и дизайн&lt;/</a:t>
            </a:r>
            <a:r>
              <a:rPr lang="en-US" dirty="0"/>
              <a:t>td&gt;</a:t>
            </a:r>
          </a:p>
          <a:p>
            <a:pPr marL="0">
              <a:spcBef>
                <a:spcPts val="0"/>
              </a:spcBef>
            </a:pPr>
            <a:r>
              <a:rPr lang="en-US" dirty="0"/>
              <a:t>        &lt;td&gt;-&lt;/td&gt;</a:t>
            </a:r>
          </a:p>
          <a:p>
            <a:pPr marL="0">
              <a:spcBef>
                <a:spcPts val="0"/>
              </a:spcBef>
            </a:pPr>
            <a:r>
              <a:rPr lang="en-US" dirty="0"/>
              <a:t>        &lt;td&gt;</a:t>
            </a:r>
            <a:r>
              <a:rPr lang="ru-RU" dirty="0"/>
              <a:t>отлично&lt;/</a:t>
            </a:r>
            <a:r>
              <a:rPr lang="en-US" dirty="0"/>
              <a:t>td&gt;</a:t>
            </a:r>
          </a:p>
          <a:p>
            <a:pPr marL="0">
              <a:spcBef>
                <a:spcPts val="0"/>
              </a:spcBef>
            </a:pPr>
            <a:r>
              <a:rPr lang="en-US" dirty="0"/>
              <a:t>        &lt;td&gt;21.06.2025&lt;/td&gt;</a:t>
            </a:r>
          </a:p>
          <a:p>
            <a:pPr marL="0">
              <a:spcBef>
                <a:spcPts val="0"/>
              </a:spcBef>
            </a:pPr>
            <a:r>
              <a:rPr lang="en-US" dirty="0"/>
              <a:t>        &lt;td&gt;-&lt;/td&gt;</a:t>
            </a:r>
          </a:p>
          <a:p>
            <a:pPr marL="0">
              <a:spcBef>
                <a:spcPts val="0"/>
              </a:spcBef>
            </a:pPr>
            <a:r>
              <a:rPr lang="en-US" dirty="0"/>
              <a:t>        &lt;td&gt;</a:t>
            </a:r>
            <a:r>
              <a:rPr lang="ru-RU" dirty="0"/>
              <a:t>Волик&lt;/</a:t>
            </a:r>
            <a:r>
              <a:rPr lang="en-US" dirty="0"/>
              <a:t>td&gt;</a:t>
            </a:r>
          </a:p>
          <a:p>
            <a:pPr marL="0">
              <a:spcBef>
                <a:spcPts val="0"/>
              </a:spcBef>
            </a:pPr>
            <a:r>
              <a:rPr lang="en-US" dirty="0"/>
              <a:t>    &lt;/table&gt;</a:t>
            </a:r>
          </a:p>
          <a:p>
            <a:pPr marL="0">
              <a:spcBef>
                <a:spcPts val="0"/>
              </a:spcBef>
            </a:pPr>
            <a:r>
              <a:rPr lang="en-US" dirty="0"/>
              <a:t>&lt;/body&gt;</a:t>
            </a:r>
          </a:p>
          <a:p>
            <a:pPr marL="0">
              <a:spcBef>
                <a:spcPts val="0"/>
              </a:spcBef>
            </a:pPr>
            <a:r>
              <a:rPr lang="en-US" dirty="0"/>
              <a:t>&lt;/html&gt;</a:t>
            </a:r>
          </a:p>
        </p:txBody>
      </p:sp>
      <p:pic>
        <p:nvPicPr>
          <p:cNvPr id="5" name="Рисунок 4">
            <a:extLst>
              <a:ext uri="{FF2B5EF4-FFF2-40B4-BE49-F238E27FC236}">
                <a16:creationId xmlns:a16="http://schemas.microsoft.com/office/drawing/2014/main" id="{6396CD33-22CC-C16B-A3DC-697092CD5F87}"/>
              </a:ext>
            </a:extLst>
          </p:cNvPr>
          <p:cNvPicPr>
            <a:picLocks noChangeAspect="1"/>
          </p:cNvPicPr>
          <p:nvPr/>
        </p:nvPicPr>
        <p:blipFill>
          <a:blip r:embed="rId2"/>
          <a:stretch>
            <a:fillRect/>
          </a:stretch>
        </p:blipFill>
        <p:spPr>
          <a:xfrm>
            <a:off x="463151" y="1506794"/>
            <a:ext cx="5964296" cy="3620728"/>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504775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249FA-31A5-E348-84A6-5C61E347646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DBEB83-F354-63BA-5DCF-CC0CE0C645C5}"/>
              </a:ext>
            </a:extLst>
          </p:cNvPr>
          <p:cNvSpPr>
            <a:spLocks noGrp="1"/>
          </p:cNvSpPr>
          <p:nvPr>
            <p:ph type="title"/>
          </p:nvPr>
        </p:nvSpPr>
        <p:spPr>
          <a:xfrm>
            <a:off x="409074" y="93600"/>
            <a:ext cx="9365241" cy="1113763"/>
          </a:xfrm>
        </p:spPr>
        <p:txBody>
          <a:bodyPr/>
          <a:lstStyle/>
          <a:p>
            <a:r>
              <a:rPr lang="ru-RU" dirty="0"/>
              <a:t>Ход работы. Задание 9</a:t>
            </a:r>
          </a:p>
        </p:txBody>
      </p:sp>
      <p:sp>
        <p:nvSpPr>
          <p:cNvPr id="3" name="Объект 2">
            <a:extLst>
              <a:ext uri="{FF2B5EF4-FFF2-40B4-BE49-F238E27FC236}">
                <a16:creationId xmlns:a16="http://schemas.microsoft.com/office/drawing/2014/main" id="{CC1B4D39-2E5F-D4FE-EFB5-FEA44696A825}"/>
              </a:ext>
            </a:extLst>
          </p:cNvPr>
          <p:cNvSpPr>
            <a:spLocks noGrp="1"/>
          </p:cNvSpPr>
          <p:nvPr>
            <p:ph idx="1"/>
          </p:nvPr>
        </p:nvSpPr>
        <p:spPr>
          <a:xfrm>
            <a:off x="298384" y="3753853"/>
            <a:ext cx="12006582" cy="2911642"/>
          </a:xfrm>
        </p:spPr>
        <p:txBody>
          <a:bodyPr>
            <a:normAutofit fontScale="40000" lnSpcReduction="20000"/>
          </a:bodyPr>
          <a:lstStyle/>
          <a:p>
            <a:pPr marL="0">
              <a:spcBef>
                <a:spcPts val="0"/>
              </a:spcBef>
            </a:pPr>
            <a:r>
              <a:rPr lang="en-US" dirty="0"/>
              <a:t>&lt;!DOCTYPE html&gt;</a:t>
            </a:r>
          </a:p>
          <a:p>
            <a:pPr marL="0">
              <a:spcBef>
                <a:spcPts val="0"/>
              </a:spcBef>
            </a:pPr>
            <a:r>
              <a:rPr lang="en-US" dirty="0"/>
              <a:t>&lt;html lang="</a:t>
            </a:r>
            <a:r>
              <a:rPr lang="en-US" dirty="0" err="1"/>
              <a:t>ru</a:t>
            </a:r>
            <a:r>
              <a:rPr lang="en-US" dirty="0"/>
              <a:t>"&gt;</a:t>
            </a:r>
          </a:p>
          <a:p>
            <a:pPr marL="0">
              <a:spcBef>
                <a:spcPts val="0"/>
              </a:spcBef>
            </a:pPr>
            <a:r>
              <a:rPr lang="en-US" dirty="0"/>
              <a:t>&lt;head&gt;</a:t>
            </a:r>
          </a:p>
          <a:p>
            <a:pPr marL="0">
              <a:spcBef>
                <a:spcPts val="0"/>
              </a:spcBef>
            </a:pPr>
            <a:r>
              <a:rPr lang="en-US" dirty="0"/>
              <a:t>    &lt;meta charset="UTF-8"&gt;</a:t>
            </a:r>
          </a:p>
          <a:p>
            <a:pPr marL="0">
              <a:spcBef>
                <a:spcPts val="0"/>
              </a:spcBef>
            </a:pPr>
            <a:r>
              <a:rPr lang="en-US" dirty="0"/>
              <a:t>    &lt;title&gt;</a:t>
            </a:r>
            <a:r>
              <a:rPr lang="ru-RU" dirty="0"/>
              <a:t>Задание 9. Наиболее популярные модели струйных принтеров&lt;/</a:t>
            </a:r>
            <a:r>
              <a:rPr lang="en-US" dirty="0"/>
              <a:t>title&gt;</a:t>
            </a:r>
          </a:p>
          <a:p>
            <a:pPr marL="0">
              <a:spcBef>
                <a:spcPts val="0"/>
              </a:spcBef>
            </a:pPr>
            <a:r>
              <a:rPr lang="en-US" dirty="0"/>
              <a:t>&lt;/head&gt;</a:t>
            </a:r>
          </a:p>
          <a:p>
            <a:pPr marL="0">
              <a:spcBef>
                <a:spcPts val="0"/>
              </a:spcBef>
            </a:pPr>
            <a:r>
              <a:rPr lang="en-US" dirty="0"/>
              <a:t>&lt;body&gt;</a:t>
            </a:r>
          </a:p>
          <a:p>
            <a:pPr marL="0">
              <a:spcBef>
                <a:spcPts val="0"/>
              </a:spcBef>
            </a:pPr>
            <a:r>
              <a:rPr lang="en-US" dirty="0"/>
              <a:t>    &lt;center&gt;</a:t>
            </a:r>
          </a:p>
          <a:p>
            <a:pPr marL="0">
              <a:spcBef>
                <a:spcPts val="0"/>
              </a:spcBef>
            </a:pPr>
            <a:r>
              <a:rPr lang="en-US" dirty="0"/>
              <a:t>        &lt;table border="2" width="90%" height="90px"&gt;</a:t>
            </a:r>
          </a:p>
          <a:p>
            <a:pPr marL="0">
              <a:spcBef>
                <a:spcPts val="0"/>
              </a:spcBef>
            </a:pPr>
            <a:r>
              <a:rPr lang="en-US" dirty="0"/>
              <a:t>            &lt;tr </a:t>
            </a:r>
            <a:r>
              <a:rPr lang="en-US" dirty="0" err="1"/>
              <a:t>bgcolor</a:t>
            </a:r>
            <a:r>
              <a:rPr lang="en-US" dirty="0"/>
              <a:t>="#cccc99" align="center"&gt;</a:t>
            </a:r>
          </a:p>
          <a:p>
            <a:pPr marL="0">
              <a:spcBef>
                <a:spcPts val="0"/>
              </a:spcBef>
            </a:pPr>
            <a:r>
              <a:rPr lang="en-US" dirty="0"/>
              <a:t>            &lt;td </a:t>
            </a:r>
            <a:r>
              <a:rPr lang="en-US" dirty="0" err="1"/>
              <a:t>colspan</a:t>
            </a:r>
            <a:r>
              <a:rPr lang="en-US" dirty="0"/>
              <a:t>="5"&gt;&lt;b&gt;</a:t>
            </a:r>
            <a:r>
              <a:rPr lang="ru-RU" dirty="0"/>
              <a:t>Наиболее популярные </a:t>
            </a:r>
            <a:r>
              <a:rPr lang="ru-RU" dirty="0" err="1"/>
              <a:t>модли</a:t>
            </a:r>
            <a:r>
              <a:rPr lang="ru-RU" dirty="0"/>
              <a:t> струйных принтеров&lt;/</a:t>
            </a:r>
            <a:r>
              <a:rPr lang="en-US" dirty="0"/>
              <a:t>td&gt;&lt;/b&gt;</a:t>
            </a:r>
          </a:p>
          <a:p>
            <a:pPr marL="0">
              <a:spcBef>
                <a:spcPts val="0"/>
              </a:spcBef>
            </a:pPr>
            <a:r>
              <a:rPr lang="en-US" dirty="0"/>
              <a:t>        &lt;tr </a:t>
            </a:r>
            <a:r>
              <a:rPr lang="en-US" dirty="0" err="1"/>
              <a:t>bgcolor</a:t>
            </a:r>
            <a:r>
              <a:rPr lang="en-US" dirty="0"/>
              <a:t>="#ffcc99"  align="center"&gt;</a:t>
            </a:r>
          </a:p>
          <a:p>
            <a:pPr marL="0">
              <a:spcBef>
                <a:spcPts val="0"/>
              </a:spcBef>
            </a:pPr>
            <a:r>
              <a:rPr lang="en-US" dirty="0"/>
              <a:t>            &lt;td&gt;&lt;b&gt;</a:t>
            </a:r>
            <a:r>
              <a:rPr lang="ru-RU" dirty="0"/>
              <a:t>Изготовитель,&lt;</a:t>
            </a:r>
            <a:r>
              <a:rPr lang="en-US" dirty="0" err="1"/>
              <a:t>br</a:t>
            </a:r>
            <a:r>
              <a:rPr lang="en-US" dirty="0"/>
              <a:t>&gt;</a:t>
            </a:r>
            <a:r>
              <a:rPr lang="ru-RU" dirty="0"/>
              <a:t>название модели&lt;/</a:t>
            </a:r>
            <a:r>
              <a:rPr lang="en-US" dirty="0"/>
              <a:t>b&gt;&lt;/td&gt;</a:t>
            </a:r>
          </a:p>
          <a:p>
            <a:pPr marL="0">
              <a:spcBef>
                <a:spcPts val="0"/>
              </a:spcBef>
            </a:pPr>
            <a:r>
              <a:rPr lang="en-US" dirty="0"/>
              <a:t>             &lt;td&gt;&lt;b&gt;</a:t>
            </a:r>
            <a:r>
              <a:rPr lang="ru-RU" dirty="0"/>
              <a:t>Формат&lt;</a:t>
            </a:r>
            <a:r>
              <a:rPr lang="en-US" dirty="0" err="1"/>
              <a:t>br</a:t>
            </a:r>
            <a:r>
              <a:rPr lang="en-US" dirty="0"/>
              <a:t>&gt;</a:t>
            </a:r>
            <a:r>
              <a:rPr lang="ru-RU" dirty="0"/>
              <a:t>печати&lt;/</a:t>
            </a:r>
            <a:r>
              <a:rPr lang="en-US" dirty="0"/>
              <a:t>td&gt;&lt;/b&gt;</a:t>
            </a:r>
          </a:p>
          <a:p>
            <a:pPr marL="0">
              <a:spcBef>
                <a:spcPts val="0"/>
              </a:spcBef>
            </a:pPr>
            <a:r>
              <a:rPr lang="en-US" dirty="0"/>
              <a:t>              &lt;td&gt;&lt;b&gt;</a:t>
            </a:r>
            <a:r>
              <a:rPr lang="ru-RU" dirty="0"/>
              <a:t>Количество&lt;</a:t>
            </a:r>
            <a:r>
              <a:rPr lang="en-US" dirty="0" err="1"/>
              <a:t>br</a:t>
            </a:r>
            <a:r>
              <a:rPr lang="en-US" dirty="0"/>
              <a:t>&gt;</a:t>
            </a:r>
            <a:r>
              <a:rPr lang="ru-RU" dirty="0"/>
              <a:t>цветов&lt;/</a:t>
            </a:r>
            <a:r>
              <a:rPr lang="en-US" dirty="0"/>
              <a:t>td&gt;&lt;/b&gt;</a:t>
            </a:r>
          </a:p>
          <a:p>
            <a:pPr marL="0">
              <a:spcBef>
                <a:spcPts val="0"/>
              </a:spcBef>
            </a:pPr>
            <a:r>
              <a:rPr lang="en-US" dirty="0"/>
              <a:t>               &lt;td&gt;&lt;b&gt;</a:t>
            </a:r>
            <a:r>
              <a:rPr lang="ru-RU" dirty="0"/>
              <a:t>Макс.&lt;</a:t>
            </a:r>
            <a:r>
              <a:rPr lang="en-US" dirty="0" err="1"/>
              <a:t>br</a:t>
            </a:r>
            <a:r>
              <a:rPr lang="en-US" dirty="0"/>
              <a:t>&gt;</a:t>
            </a:r>
            <a:r>
              <a:rPr lang="ru-RU" dirty="0"/>
              <a:t>разрешение&lt;</a:t>
            </a:r>
            <a:r>
              <a:rPr lang="en-US" dirty="0" err="1"/>
              <a:t>br</a:t>
            </a:r>
            <a:r>
              <a:rPr lang="en-US" dirty="0"/>
              <a:t>&gt;(dpi)&lt;/td&gt;&lt;/b&gt;</a:t>
            </a:r>
          </a:p>
          <a:p>
            <a:pPr marL="0">
              <a:spcBef>
                <a:spcPts val="0"/>
              </a:spcBef>
            </a:pPr>
            <a:r>
              <a:rPr lang="en-US" dirty="0"/>
              <a:t>                &lt;td&gt;&lt;b&gt;</a:t>
            </a:r>
            <a:r>
              <a:rPr lang="ru-RU" dirty="0"/>
              <a:t>Макс.&lt;</a:t>
            </a:r>
            <a:r>
              <a:rPr lang="en-US" dirty="0" err="1"/>
              <a:t>br</a:t>
            </a:r>
            <a:r>
              <a:rPr lang="en-US" dirty="0"/>
              <a:t>&gt;</a:t>
            </a:r>
            <a:r>
              <a:rPr lang="ru-RU" dirty="0"/>
              <a:t>скорость&lt;</a:t>
            </a:r>
            <a:r>
              <a:rPr lang="en-US" dirty="0" err="1"/>
              <a:t>br</a:t>
            </a:r>
            <a:r>
              <a:rPr lang="en-US" dirty="0"/>
              <a:t>&gt;</a:t>
            </a:r>
            <a:r>
              <a:rPr lang="ru-RU" dirty="0"/>
              <a:t>печати&lt;</a:t>
            </a:r>
            <a:r>
              <a:rPr lang="en-US" dirty="0" err="1"/>
              <a:t>br</a:t>
            </a:r>
            <a:r>
              <a:rPr lang="en-US" dirty="0"/>
              <a:t>&gt;(</a:t>
            </a:r>
            <a:r>
              <a:rPr lang="ru-RU" dirty="0"/>
              <a:t>стр./мин.)&lt;/</a:t>
            </a:r>
            <a:r>
              <a:rPr lang="en-US" dirty="0"/>
              <a:t>td&gt;</a:t>
            </a:r>
          </a:p>
          <a:p>
            <a:pPr marL="0">
              <a:spcBef>
                <a:spcPts val="0"/>
              </a:spcBef>
            </a:pPr>
            <a:r>
              <a:rPr lang="en-US" dirty="0"/>
              <a:t>        &lt;tr </a:t>
            </a:r>
            <a:r>
              <a:rPr lang="en-US" dirty="0" err="1"/>
              <a:t>bgcolor</a:t>
            </a:r>
            <a:r>
              <a:rPr lang="en-US" dirty="0"/>
              <a:t>="#000000" style="</a:t>
            </a:r>
            <a:r>
              <a:rPr lang="en-US" dirty="0" err="1"/>
              <a:t>color:white</a:t>
            </a:r>
            <a:r>
              <a:rPr lang="en-US" dirty="0"/>
              <a:t>"&gt;</a:t>
            </a:r>
          </a:p>
          <a:p>
            <a:pPr marL="0">
              <a:spcBef>
                <a:spcPts val="0"/>
              </a:spcBef>
            </a:pPr>
            <a:r>
              <a:rPr lang="en-US" dirty="0"/>
              <a:t>            &lt;td </a:t>
            </a:r>
            <a:r>
              <a:rPr lang="en-US" dirty="0" err="1"/>
              <a:t>colspan</a:t>
            </a:r>
            <a:r>
              <a:rPr lang="en-US" dirty="0"/>
              <a:t>="5"&gt;&lt;u&gt;Hewlett Packard&lt;/u&gt;&lt;/td&gt;</a:t>
            </a:r>
          </a:p>
          <a:p>
            <a:pPr marL="0">
              <a:spcBef>
                <a:spcPts val="0"/>
              </a:spcBef>
            </a:pPr>
            <a:r>
              <a:rPr lang="en-US" dirty="0"/>
              <a:t>        &lt;tr </a:t>
            </a:r>
            <a:r>
              <a:rPr lang="en-US" dirty="0" err="1"/>
              <a:t>bgcolor</a:t>
            </a:r>
            <a:r>
              <a:rPr lang="en-US" dirty="0"/>
              <a:t>="#</a:t>
            </a:r>
            <a:r>
              <a:rPr lang="en-US" dirty="0" err="1"/>
              <a:t>ccccff</a:t>
            </a:r>
            <a:r>
              <a:rPr lang="en-US" dirty="0"/>
              <a:t>" align="center"&gt;</a:t>
            </a:r>
          </a:p>
          <a:p>
            <a:pPr marL="0">
              <a:spcBef>
                <a:spcPts val="0"/>
              </a:spcBef>
            </a:pPr>
            <a:r>
              <a:rPr lang="en-US" dirty="0"/>
              <a:t>            &lt;td&gt;HP </a:t>
            </a:r>
            <a:r>
              <a:rPr lang="en-US" dirty="0" err="1"/>
              <a:t>DeskJet</a:t>
            </a:r>
            <a:r>
              <a:rPr lang="en-US" dirty="0"/>
              <a:t> 690C+&lt;/td&gt;</a:t>
            </a:r>
          </a:p>
        </p:txBody>
      </p:sp>
      <p:pic>
        <p:nvPicPr>
          <p:cNvPr id="6" name="Рисунок 5">
            <a:extLst>
              <a:ext uri="{FF2B5EF4-FFF2-40B4-BE49-F238E27FC236}">
                <a16:creationId xmlns:a16="http://schemas.microsoft.com/office/drawing/2014/main" id="{ACF0F55D-CD8A-9A42-9AB2-331D7EC476F1}"/>
              </a:ext>
            </a:extLst>
          </p:cNvPr>
          <p:cNvPicPr>
            <a:picLocks noChangeAspect="1"/>
          </p:cNvPicPr>
          <p:nvPr/>
        </p:nvPicPr>
        <p:blipFill>
          <a:blip r:embed="rId2"/>
          <a:stretch>
            <a:fillRect/>
          </a:stretch>
        </p:blipFill>
        <p:spPr>
          <a:xfrm>
            <a:off x="409074" y="1168861"/>
            <a:ext cx="11352857" cy="2362655"/>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4187857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B2263B-F862-902F-65D9-DD90D2EFF933}"/>
              </a:ext>
            </a:extLst>
          </p:cNvPr>
          <p:cNvSpPr>
            <a:spLocks noGrp="1"/>
          </p:cNvSpPr>
          <p:nvPr>
            <p:ph type="title"/>
          </p:nvPr>
        </p:nvSpPr>
        <p:spPr>
          <a:xfrm>
            <a:off x="180773" y="-158817"/>
            <a:ext cx="10772775" cy="1658198"/>
          </a:xfrm>
        </p:spPr>
        <p:txBody>
          <a:bodyPr/>
          <a:lstStyle/>
          <a:p>
            <a:r>
              <a:rPr lang="ru-RU" dirty="0"/>
              <a:t>Контрольные вопросы</a:t>
            </a:r>
          </a:p>
        </p:txBody>
      </p:sp>
      <p:sp>
        <p:nvSpPr>
          <p:cNvPr id="3" name="Объект 2">
            <a:extLst>
              <a:ext uri="{FF2B5EF4-FFF2-40B4-BE49-F238E27FC236}">
                <a16:creationId xmlns:a16="http://schemas.microsoft.com/office/drawing/2014/main" id="{DEECDB54-B198-92E1-FBB2-D49312D5B50D}"/>
              </a:ext>
            </a:extLst>
          </p:cNvPr>
          <p:cNvSpPr>
            <a:spLocks noGrp="1"/>
          </p:cNvSpPr>
          <p:nvPr>
            <p:ph idx="1"/>
          </p:nvPr>
        </p:nvSpPr>
        <p:spPr>
          <a:xfrm>
            <a:off x="199823" y="1203158"/>
            <a:ext cx="11754754" cy="5654842"/>
          </a:xfrm>
        </p:spPr>
        <p:txBody>
          <a:bodyPr>
            <a:normAutofit fontScale="55000" lnSpcReduction="20000"/>
          </a:bodyPr>
          <a:lstStyle/>
          <a:p>
            <a:pPr marL="342900" indent="-342900">
              <a:buFont typeface="+mj-lt"/>
              <a:buAutoNum type="arabicPeriod"/>
            </a:pPr>
            <a:r>
              <a:rPr lang="ru-RU" dirty="0">
                <a:cs typeface="Times New Roman" panose="02020603050405020304" pitchFamily="18" charset="0"/>
              </a:rPr>
              <a:t>Основные методы создания таблиц: чтобы создать простую таблицу HTML достаточно 3 тега: &lt;</a:t>
            </a:r>
            <a:r>
              <a:rPr lang="ru-RU" dirty="0" err="1">
                <a:cs typeface="Times New Roman" panose="02020603050405020304" pitchFamily="18" charset="0"/>
              </a:rPr>
              <a:t>table</a:t>
            </a:r>
            <a:r>
              <a:rPr lang="ru-RU" dirty="0">
                <a:cs typeface="Times New Roman" panose="02020603050405020304" pitchFamily="18" charset="0"/>
              </a:rPr>
              <a:t>&gt;, &lt;</a:t>
            </a:r>
            <a:r>
              <a:rPr lang="ru-RU" dirty="0" err="1">
                <a:cs typeface="Times New Roman" panose="02020603050405020304" pitchFamily="18" charset="0"/>
              </a:rPr>
              <a:t>tr</a:t>
            </a:r>
            <a:r>
              <a:rPr lang="ru-RU" dirty="0">
                <a:cs typeface="Times New Roman" panose="02020603050405020304" pitchFamily="18" charset="0"/>
              </a:rPr>
              <a:t>&gt; и &lt;</a:t>
            </a:r>
            <a:r>
              <a:rPr lang="ru-RU" dirty="0" err="1">
                <a:cs typeface="Times New Roman" panose="02020603050405020304" pitchFamily="18" charset="0"/>
              </a:rPr>
              <a:t>td</a:t>
            </a:r>
            <a:r>
              <a:rPr lang="ru-RU" dirty="0">
                <a:cs typeface="Times New Roman" panose="02020603050405020304" pitchFamily="18" charset="0"/>
              </a:rPr>
              <a:t>&gt;. Тег &lt;</a:t>
            </a:r>
            <a:r>
              <a:rPr lang="ru-RU" dirty="0" err="1">
                <a:cs typeface="Times New Roman" panose="02020603050405020304" pitchFamily="18" charset="0"/>
              </a:rPr>
              <a:t>table</a:t>
            </a:r>
            <a:r>
              <a:rPr lang="ru-RU" dirty="0">
                <a:cs typeface="Times New Roman" panose="02020603050405020304" pitchFamily="18" charset="0"/>
              </a:rPr>
              <a:t>&gt; является корневым контейнером таблицы. Все содержимое таблицы должно находится внутри него.</a:t>
            </a:r>
          </a:p>
          <a:p>
            <a:pPr marL="342900" indent="-342900">
              <a:buFont typeface="+mj-lt"/>
              <a:buAutoNum type="arabicPeriod"/>
            </a:pPr>
            <a:r>
              <a:rPr lang="ru-RU" dirty="0">
                <a:cs typeface="Times New Roman" panose="02020603050405020304" pitchFamily="18" charset="0"/>
              </a:rPr>
              <a:t>Параметры, которые используются при создании таблиц в HTML-документах: в HTML для создания таблиц используются теги группы </a:t>
            </a:r>
            <a:r>
              <a:rPr lang="ru-RU" dirty="0" err="1">
                <a:cs typeface="Times New Roman" panose="02020603050405020304" pitchFamily="18" charset="0"/>
              </a:rPr>
              <a:t>table</a:t>
            </a:r>
            <a:r>
              <a:rPr lang="ru-RU" dirty="0">
                <a:cs typeface="Times New Roman" panose="02020603050405020304" pitchFamily="18" charset="0"/>
              </a:rPr>
              <a:t>. К ним относятся: &lt;</a:t>
            </a:r>
            <a:r>
              <a:rPr lang="ru-RU" dirty="0" err="1">
                <a:cs typeface="Times New Roman" panose="02020603050405020304" pitchFamily="18" charset="0"/>
              </a:rPr>
              <a:t>table</a:t>
            </a:r>
            <a:r>
              <a:rPr lang="ru-RU" dirty="0">
                <a:cs typeface="Times New Roman" panose="02020603050405020304" pitchFamily="18" charset="0"/>
              </a:rPr>
              <a:t>&gt; - тег обвертка таблицы; &lt;</a:t>
            </a:r>
            <a:r>
              <a:rPr lang="ru-RU" dirty="0" err="1">
                <a:cs typeface="Times New Roman" panose="02020603050405020304" pitchFamily="18" charset="0"/>
              </a:rPr>
              <a:t>tr</a:t>
            </a:r>
            <a:r>
              <a:rPr lang="ru-RU" dirty="0">
                <a:cs typeface="Times New Roman" panose="02020603050405020304" pitchFamily="18" charset="0"/>
              </a:rPr>
              <a:t>&gt; - тег строки (ряда) таблицы; &lt;</a:t>
            </a:r>
            <a:r>
              <a:rPr lang="ru-RU" dirty="0" err="1">
                <a:cs typeface="Times New Roman" panose="02020603050405020304" pitchFamily="18" charset="0"/>
              </a:rPr>
              <a:t>td</a:t>
            </a:r>
            <a:r>
              <a:rPr lang="ru-RU" dirty="0">
                <a:cs typeface="Times New Roman" panose="02020603050405020304" pitchFamily="18" charset="0"/>
              </a:rPr>
              <a:t>&gt; - тег обычной ячейки таблицы; &lt;</a:t>
            </a:r>
            <a:r>
              <a:rPr lang="ru-RU" dirty="0" err="1">
                <a:cs typeface="Times New Roman" panose="02020603050405020304" pitchFamily="18" charset="0"/>
              </a:rPr>
              <a:t>th</a:t>
            </a:r>
            <a:r>
              <a:rPr lang="ru-RU" dirty="0">
                <a:cs typeface="Times New Roman" panose="02020603050405020304" pitchFamily="18" charset="0"/>
              </a:rPr>
              <a:t>&gt; - тег ячейки-заголовка таблицы; &lt;</a:t>
            </a:r>
            <a:r>
              <a:rPr lang="ru-RU" dirty="0" err="1">
                <a:cs typeface="Times New Roman" panose="02020603050405020304" pitchFamily="18" charset="0"/>
              </a:rPr>
              <a:t>col</a:t>
            </a:r>
            <a:r>
              <a:rPr lang="ru-RU" dirty="0">
                <a:cs typeface="Times New Roman" panose="02020603050405020304" pitchFamily="18" charset="0"/>
              </a:rPr>
              <a:t>&gt; - тег колонки таблицы; &lt;</a:t>
            </a:r>
            <a:r>
              <a:rPr lang="ru-RU" dirty="0" err="1">
                <a:cs typeface="Times New Roman" panose="02020603050405020304" pitchFamily="18" charset="0"/>
              </a:rPr>
              <a:t>colgroup</a:t>
            </a:r>
            <a:r>
              <a:rPr lang="ru-RU" dirty="0">
                <a:cs typeface="Times New Roman" panose="02020603050405020304" pitchFamily="18" charset="0"/>
              </a:rPr>
              <a:t>&gt; - тег группы колонок таблицы; &lt;</a:t>
            </a:r>
            <a:r>
              <a:rPr lang="ru-RU" dirty="0" err="1">
                <a:cs typeface="Times New Roman" panose="02020603050405020304" pitchFamily="18" charset="0"/>
              </a:rPr>
              <a:t>thead</a:t>
            </a:r>
            <a:r>
              <a:rPr lang="ru-RU" dirty="0">
                <a:cs typeface="Times New Roman" panose="02020603050405020304" pitchFamily="18" charset="0"/>
              </a:rPr>
              <a:t>&gt; - тег верхнего колонтитула таблицы; &lt;</a:t>
            </a:r>
            <a:r>
              <a:rPr lang="ru-RU" dirty="0" err="1">
                <a:cs typeface="Times New Roman" panose="02020603050405020304" pitchFamily="18" charset="0"/>
              </a:rPr>
              <a:t>tbody</a:t>
            </a:r>
            <a:r>
              <a:rPr lang="ru-RU" dirty="0">
                <a:cs typeface="Times New Roman" panose="02020603050405020304" pitchFamily="18" charset="0"/>
              </a:rPr>
              <a:t>&gt; - тег основной части таблицы; &lt;</a:t>
            </a:r>
            <a:r>
              <a:rPr lang="ru-RU" dirty="0" err="1">
                <a:cs typeface="Times New Roman" panose="02020603050405020304" pitchFamily="18" charset="0"/>
              </a:rPr>
              <a:t>tfoot</a:t>
            </a:r>
            <a:r>
              <a:rPr lang="ru-RU" dirty="0">
                <a:cs typeface="Times New Roman" panose="02020603050405020304" pitchFamily="18" charset="0"/>
              </a:rPr>
              <a:t>&gt; - тег нижнего колонтитула таблицы; &lt;</a:t>
            </a:r>
            <a:r>
              <a:rPr lang="ru-RU" dirty="0" err="1">
                <a:cs typeface="Times New Roman" panose="02020603050405020304" pitchFamily="18" charset="0"/>
              </a:rPr>
              <a:t>caption</a:t>
            </a:r>
            <a:r>
              <a:rPr lang="ru-RU" dirty="0">
                <a:cs typeface="Times New Roman" panose="02020603050405020304" pitchFamily="18" charset="0"/>
              </a:rPr>
              <a:t>&gt; - тег подписи таблицы.</a:t>
            </a:r>
          </a:p>
          <a:p>
            <a:pPr marL="342900" indent="-342900">
              <a:buFont typeface="+mj-lt"/>
              <a:buAutoNum type="arabicPeriod"/>
            </a:pPr>
            <a:r>
              <a:rPr lang="ru-RU" dirty="0">
                <a:cs typeface="Times New Roman" panose="02020603050405020304" pitchFamily="18" charset="0"/>
              </a:rPr>
              <a:t>Группировка данных: столбцы объединяются с помощью атрибута </a:t>
            </a:r>
            <a:r>
              <a:rPr lang="ru-RU" dirty="0" err="1">
                <a:cs typeface="Times New Roman" panose="02020603050405020304" pitchFamily="18" charset="0"/>
              </a:rPr>
              <a:t>colspan</a:t>
            </a:r>
            <a:r>
              <a:rPr lang="ru-RU" dirty="0">
                <a:cs typeface="Times New Roman" panose="02020603050405020304" pitchFamily="18" charset="0"/>
              </a:rPr>
              <a:t>. При этом на самом деле этот атрибут не объединяет столбцы, а расширяет ячейку по горизонтали. К примеру, запись </a:t>
            </a:r>
            <a:r>
              <a:rPr lang="ru-RU" dirty="0" err="1">
                <a:cs typeface="Times New Roman" panose="02020603050405020304" pitchFamily="18" charset="0"/>
              </a:rPr>
              <a:t>colspan</a:t>
            </a:r>
            <a:r>
              <a:rPr lang="ru-RU" dirty="0">
                <a:cs typeface="Times New Roman" panose="02020603050405020304" pitchFamily="18" charset="0"/>
              </a:rPr>
              <a:t>="2" заставит ячейку стать такого же размера по ширине как две ячейки, а </a:t>
            </a:r>
            <a:r>
              <a:rPr lang="ru-RU" dirty="0" err="1">
                <a:cs typeface="Times New Roman" panose="02020603050405020304" pitchFamily="18" charset="0"/>
              </a:rPr>
              <a:t>colspan</a:t>
            </a:r>
            <a:r>
              <a:rPr lang="ru-RU" dirty="0">
                <a:cs typeface="Times New Roman" panose="02020603050405020304" pitchFamily="18" charset="0"/>
              </a:rPr>
              <a:t>="3" - как три. Кроме атрибута </a:t>
            </a:r>
            <a:r>
              <a:rPr lang="ru-RU" dirty="0" err="1">
                <a:cs typeface="Times New Roman" panose="02020603050405020304" pitchFamily="18" charset="0"/>
              </a:rPr>
              <a:t>colspan</a:t>
            </a:r>
            <a:r>
              <a:rPr lang="ru-RU" dirty="0">
                <a:cs typeface="Times New Roman" panose="02020603050405020304" pitchFamily="18" charset="0"/>
              </a:rPr>
              <a:t> существует также аналогичный атрибут </a:t>
            </a:r>
            <a:r>
              <a:rPr lang="ru-RU" dirty="0" err="1">
                <a:cs typeface="Times New Roman" panose="02020603050405020304" pitchFamily="18" charset="0"/>
              </a:rPr>
              <a:t>rowspan</a:t>
            </a:r>
            <a:r>
              <a:rPr lang="ru-RU" dirty="0">
                <a:cs typeface="Times New Roman" panose="02020603050405020304" pitchFamily="18" charset="0"/>
              </a:rPr>
              <a:t>, который расширяет ячейки по вертикали. </a:t>
            </a:r>
          </a:p>
          <a:p>
            <a:pPr marL="342900" indent="-342900">
              <a:buFont typeface="+mj-lt"/>
              <a:buAutoNum type="arabicPeriod"/>
            </a:pPr>
            <a:r>
              <a:rPr lang="ru-RU" dirty="0">
                <a:cs typeface="Times New Roman" panose="02020603050405020304" pitchFamily="18" charset="0"/>
              </a:rPr>
              <a:t>Колонтитулы таблицы: тег &lt;</a:t>
            </a:r>
            <a:r>
              <a:rPr lang="ru-RU" dirty="0" err="1">
                <a:cs typeface="Times New Roman" panose="02020603050405020304" pitchFamily="18" charset="0"/>
              </a:rPr>
              <a:t>thead</a:t>
            </a:r>
            <a:r>
              <a:rPr lang="ru-RU" dirty="0">
                <a:cs typeface="Times New Roman" panose="02020603050405020304" pitchFamily="18" charset="0"/>
              </a:rPr>
              <a:t>&gt; определяет границы верхнего колонтитула таблицы HTML. Используется в HTML таблицах определенных тегом &lt;</a:t>
            </a:r>
            <a:r>
              <a:rPr lang="ru-RU" dirty="0" err="1">
                <a:cs typeface="Times New Roman" panose="02020603050405020304" pitchFamily="18" charset="0"/>
              </a:rPr>
              <a:t>table</a:t>
            </a:r>
            <a:r>
              <a:rPr lang="ru-RU" dirty="0">
                <a:cs typeface="Times New Roman" panose="02020603050405020304" pitchFamily="18" charset="0"/>
              </a:rPr>
              <a:t>&gt;. К группе тегов отвечающих за различные части HTML таблиц относятся: тег &lt;</a:t>
            </a:r>
            <a:r>
              <a:rPr lang="ru-RU" dirty="0" err="1">
                <a:cs typeface="Times New Roman" panose="02020603050405020304" pitchFamily="18" charset="0"/>
              </a:rPr>
              <a:t>thead</a:t>
            </a:r>
            <a:r>
              <a:rPr lang="ru-RU" dirty="0">
                <a:cs typeface="Times New Roman" panose="02020603050405020304" pitchFamily="18" charset="0"/>
              </a:rPr>
              <a:t>&gt; - верхний колонтитул, &lt;</a:t>
            </a:r>
            <a:r>
              <a:rPr lang="ru-RU" dirty="0" err="1">
                <a:cs typeface="Times New Roman" panose="02020603050405020304" pitchFamily="18" charset="0"/>
              </a:rPr>
              <a:t>tbody</a:t>
            </a:r>
            <a:r>
              <a:rPr lang="ru-RU" dirty="0">
                <a:cs typeface="Times New Roman" panose="02020603050405020304" pitchFamily="18" charset="0"/>
              </a:rPr>
              <a:t>&gt; - основная часть, &lt;</a:t>
            </a:r>
            <a:r>
              <a:rPr lang="ru-RU" dirty="0" err="1">
                <a:cs typeface="Times New Roman" panose="02020603050405020304" pitchFamily="18" charset="0"/>
              </a:rPr>
              <a:t>tfoot</a:t>
            </a:r>
            <a:r>
              <a:rPr lang="ru-RU" dirty="0">
                <a:cs typeface="Times New Roman" panose="02020603050405020304" pitchFamily="18" charset="0"/>
              </a:rPr>
              <a:t>&gt; - нижний колонтитул.</a:t>
            </a:r>
          </a:p>
          <a:p>
            <a:pPr marL="342900" indent="-342900">
              <a:buFont typeface="+mj-lt"/>
              <a:buAutoNum type="arabicPeriod"/>
            </a:pPr>
            <a:r>
              <a:rPr lang="ru-RU" dirty="0">
                <a:cs typeface="Times New Roman" panose="02020603050405020304" pitchFamily="18" charset="0"/>
              </a:rPr>
              <a:t>Прорисовка структуры таблицы: еще одной возможностью нестандартного представления таблиц, работающей только в браузере Internet Explorer, является прорисов­ка внутренней структуры таблицы – рамок и линеек. Оформить таблицу можно таким образом, что от рамки останут­ся только верхняя и нижняя границы, а между ячейками останется только вертикальная линейка. За изменение свойств рамки отвечает параметр </a:t>
            </a:r>
            <a:r>
              <a:rPr lang="ru-RU" dirty="0" err="1">
                <a:cs typeface="Times New Roman" panose="02020603050405020304" pitchFamily="18" charset="0"/>
              </a:rPr>
              <a:t>frame</a:t>
            </a:r>
            <a:r>
              <a:rPr lang="ru-RU" dirty="0">
                <a:cs typeface="Times New Roman" panose="02020603050405020304" pitchFamily="18" charset="0"/>
              </a:rPr>
              <a:t>, а с помощью пара­метра </a:t>
            </a:r>
            <a:r>
              <a:rPr lang="ru-RU" dirty="0" err="1">
                <a:cs typeface="Times New Roman" panose="02020603050405020304" pitchFamily="18" charset="0"/>
              </a:rPr>
              <a:t>rules</a:t>
            </a:r>
            <a:r>
              <a:rPr lang="ru-RU" dirty="0">
                <a:cs typeface="Times New Roman" panose="02020603050405020304" pitchFamily="18" charset="0"/>
              </a:rPr>
              <a:t> варьируется внешний вид линеек таблицы (оба параметра при­менимы внутри тега &lt;</a:t>
            </a:r>
            <a:r>
              <a:rPr lang="ru-RU" dirty="0" err="1">
                <a:cs typeface="Times New Roman" panose="02020603050405020304" pitchFamily="18" charset="0"/>
              </a:rPr>
              <a:t>table</a:t>
            </a:r>
            <a:r>
              <a:rPr lang="ru-RU" dirty="0">
                <a:cs typeface="Times New Roman" panose="02020603050405020304" pitchFamily="18" charset="0"/>
              </a:rPr>
              <a:t>&gt;).</a:t>
            </a:r>
          </a:p>
          <a:p>
            <a:pPr marL="342900" indent="-342900">
              <a:buFont typeface="+mj-lt"/>
              <a:buAutoNum type="arabicPeriod"/>
            </a:pPr>
            <a:r>
              <a:rPr lang="ru-RU" dirty="0">
                <a:cs typeface="Times New Roman" panose="02020603050405020304" pitchFamily="18" charset="0"/>
              </a:rPr>
              <a:t>Вложенные таблицы: В одну таблицу вкладывать другую таблицу возможно, если вы используете полную структуру включая элемент &lt;</a:t>
            </a:r>
            <a:r>
              <a:rPr lang="ru-RU" dirty="0" err="1">
                <a:cs typeface="Times New Roman" panose="02020603050405020304" pitchFamily="18" charset="0"/>
              </a:rPr>
              <a:t>table</a:t>
            </a:r>
            <a:r>
              <a:rPr lang="ru-RU" dirty="0">
                <a:cs typeface="Times New Roman" panose="02020603050405020304" pitchFamily="18" charset="0"/>
              </a:rPr>
              <a:t>&gt;. Это как правило не рекомендуется, так как делает разметку более запутанной и менее доступной для пользователей </a:t>
            </a:r>
            <a:r>
              <a:rPr lang="ru-RU" dirty="0" err="1">
                <a:cs typeface="Times New Roman" panose="02020603050405020304" pitchFamily="18" charset="0"/>
              </a:rPr>
              <a:t>скринридеров</a:t>
            </a:r>
            <a:r>
              <a:rPr lang="ru-RU" dirty="0">
                <a:cs typeface="Times New Roman" panose="02020603050405020304" pitchFamily="18" charset="0"/>
              </a:rPr>
              <a:t>, так в большинстве случаев вы можете просто вставить дополнительные ячейки/строки/столбцы в существующую таблицу. Однако, иногда это необходимо, например, если вы хотите легко импортировать контент из других источников.</a:t>
            </a:r>
          </a:p>
        </p:txBody>
      </p:sp>
    </p:spTree>
    <p:extLst>
      <p:ext uri="{BB962C8B-B14F-4D97-AF65-F5344CB8AC3E}">
        <p14:creationId xmlns:p14="http://schemas.microsoft.com/office/powerpoint/2010/main" val="786660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69A3E-1E05-B511-5EA2-D49859C85D1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7041BD-6F41-65D7-659B-6BB186A757D5}"/>
              </a:ext>
            </a:extLst>
          </p:cNvPr>
          <p:cNvSpPr>
            <a:spLocks noGrp="1"/>
          </p:cNvSpPr>
          <p:nvPr>
            <p:ph type="title"/>
          </p:nvPr>
        </p:nvSpPr>
        <p:spPr>
          <a:xfrm>
            <a:off x="180773" y="-158817"/>
            <a:ext cx="10772775" cy="1658198"/>
          </a:xfrm>
        </p:spPr>
        <p:txBody>
          <a:bodyPr/>
          <a:lstStyle/>
          <a:p>
            <a:r>
              <a:rPr lang="ru-RU" dirty="0"/>
              <a:t>Контрольные вопросы</a:t>
            </a:r>
          </a:p>
        </p:txBody>
      </p:sp>
      <p:sp>
        <p:nvSpPr>
          <p:cNvPr id="3" name="Объект 2">
            <a:extLst>
              <a:ext uri="{FF2B5EF4-FFF2-40B4-BE49-F238E27FC236}">
                <a16:creationId xmlns:a16="http://schemas.microsoft.com/office/drawing/2014/main" id="{CBFF4DE3-CB40-5EC2-5E38-76CF2B93E77C}"/>
              </a:ext>
            </a:extLst>
          </p:cNvPr>
          <p:cNvSpPr>
            <a:spLocks noGrp="1"/>
          </p:cNvSpPr>
          <p:nvPr>
            <p:ph idx="1"/>
          </p:nvPr>
        </p:nvSpPr>
        <p:spPr>
          <a:xfrm>
            <a:off x="199823" y="1203158"/>
            <a:ext cx="11754754" cy="5654842"/>
          </a:xfrm>
        </p:spPr>
        <p:txBody>
          <a:bodyPr>
            <a:normAutofit/>
          </a:bodyPr>
          <a:lstStyle/>
          <a:p>
            <a:pPr marL="457200" indent="-457200">
              <a:buFont typeface="+mj-lt"/>
              <a:buAutoNum type="arabicPeriod" startAt="7"/>
            </a:pPr>
            <a:r>
              <a:rPr lang="ru-RU" dirty="0">
                <a:cs typeface="Times New Roman" panose="02020603050405020304" pitchFamily="18" charset="0"/>
              </a:rPr>
              <a:t>Создание цветных таблиц: при помощи атрибута BGCOLOR можно изменять цвет содержимого ячейки, строки, группы столбцов, крупы строк, таблицы целиком. Цвет можно задать как наименованием цвета, так и шестнадцатеричным значением кода цвета со знаком #. При помощи атрибута BACKGROUND можно задать графический фон ячейки или таблицы целиком. Если размеры изображения превышают габариты ячейки или таблицы, для которых оно предназначено, браузер обрезает изображение таким образом, чтобы оно уместилось в пределах соответствующего объекта.</a:t>
            </a:r>
          </a:p>
        </p:txBody>
      </p:sp>
    </p:spTree>
    <p:extLst>
      <p:ext uri="{BB962C8B-B14F-4D97-AF65-F5344CB8AC3E}">
        <p14:creationId xmlns:p14="http://schemas.microsoft.com/office/powerpoint/2010/main" val="12308431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106</TotalTime>
  <Words>5021</Words>
  <Application>Microsoft Office PowerPoint</Application>
  <PresentationFormat>Широкоэкранный</PresentationFormat>
  <Paragraphs>451</Paragraphs>
  <Slides>16</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16</vt:i4>
      </vt:variant>
    </vt:vector>
  </HeadingPairs>
  <TitlesOfParts>
    <vt:vector size="22" baseType="lpstr">
      <vt:lpstr>Aptos</vt:lpstr>
      <vt:lpstr>Aptos Display</vt:lpstr>
      <vt:lpstr>Arial</vt:lpstr>
      <vt:lpstr>DejaVu Sans</vt:lpstr>
      <vt:lpstr>Times New Roman</vt:lpstr>
      <vt:lpstr>Тема Office</vt:lpstr>
      <vt:lpstr>ФГБОУ ВО «Кубанский государственный технологический университет» (ФГБОУ ВО «КубГТУ») Факультет: Информационных технологий и кибербезопасности Кафедра: Информационных систем и программирования  РАЗРАБОТКА ВЕБ-ПРИЛОЖЕНИЙ  ЛАБОРАТОРНАЯ РАБОТА №7 Таблицы HTML-документов.</vt:lpstr>
      <vt:lpstr>Цель работы и задания</vt:lpstr>
      <vt:lpstr>Цель работы и задания</vt:lpstr>
      <vt:lpstr>Цель работы и задания</vt:lpstr>
      <vt:lpstr>Ход работы. Задание 1</vt:lpstr>
      <vt:lpstr>Ход работы. Задание 2</vt:lpstr>
      <vt:lpstr>Ход работы. Задание 3</vt:lpstr>
      <vt:lpstr>Ход работы. Задание 4</vt:lpstr>
      <vt:lpstr>Ход работы. Задание 5</vt:lpstr>
      <vt:lpstr>Ход работы. Задание 5</vt:lpstr>
      <vt:lpstr>Ход работы. Задание 6</vt:lpstr>
      <vt:lpstr>Ход работы. Задание 7</vt:lpstr>
      <vt:lpstr>Ход работы. Задание 8</vt:lpstr>
      <vt:lpstr>Ход работы. Задание 9</vt:lpstr>
      <vt:lpstr>Контрольные вопросы</vt:lpstr>
      <vt:lpstr>Контрольные вопросы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ФГБОУ ВО «Кубанский государственный технологический университет» (ФГБОУ ВО «КубГТУ») Факультет: Информационных технологий и кибербезопасности Кафедра: Информационных систем и программирования  РАЗРАБОТКА ВЕБ-ПРИЛОЖЕНИЙ  ЛАБОРАТОРНАЯ РАБОТА №2 Форматирование текста.</dc:title>
  <dc:creator>Артём Лыков</dc:creator>
  <cp:lastModifiedBy>Ярослав Давков</cp:lastModifiedBy>
  <cp:revision>63</cp:revision>
  <dcterms:created xsi:type="dcterms:W3CDTF">2025-09-05T14:29:14Z</dcterms:created>
  <dcterms:modified xsi:type="dcterms:W3CDTF">2025-12-11T17:46:56Z</dcterms:modified>
</cp:coreProperties>
</file>